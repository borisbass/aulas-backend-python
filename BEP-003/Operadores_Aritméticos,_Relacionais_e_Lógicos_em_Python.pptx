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3" y="300038"/>
            <a:ext cx="2143125" cy="21431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7313" y="2728913"/>
            <a:ext cx="642937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Operadores Aritméticos, Relacionais e Lógicos em Python</a:t>
            </a:r>
            <a:endParaRPr lang="en-US" sz="2700" dirty="0"/>
          </a:p>
        </p:txBody>
      </p:sp>
      <p:sp>
        <p:nvSpPr>
          <p:cNvPr id="5" name="Text 1"/>
          <p:cNvSpPr/>
          <p:nvPr/>
        </p:nvSpPr>
        <p:spPr>
          <a:xfrm>
            <a:off x="1357313" y="3971925"/>
            <a:ext cx="64293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2D374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Aprenda a realizar cálculos, comparações e construir expressões lógicas em Python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Objetivos da Aula</a:t>
            </a:r>
            <a:endParaRPr lang="en-US" sz="2025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107281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4356" y="957263"/>
            <a:ext cx="3864769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Compreender e utilizar operadores aritméticos para realizar cálculos matemáticos</a:t>
            </a:r>
            <a:endParaRPr lang="en-US" sz="1238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757363"/>
            <a:ext cx="171450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64356" y="1607344"/>
            <a:ext cx="3864769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Aplicar operadores relacionais para fazer comparações entre valores</a:t>
            </a:r>
            <a:endParaRPr lang="en-US" sz="1238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2407444"/>
            <a:ext cx="171450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64356" y="2257425"/>
            <a:ext cx="3864769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Usar operadores lógicos para construir expressões booleanas complexas</a:t>
            </a:r>
            <a:endParaRPr lang="en-US" sz="1238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2939653"/>
            <a:ext cx="171450" cy="17145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64356" y="2907506"/>
            <a:ext cx="382662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Entender a precedência e associação de operadores</a:t>
            </a:r>
            <a:endParaRPr lang="en-US" sz="1238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" y="3471863"/>
            <a:ext cx="171450" cy="17145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64356" y="3321844"/>
            <a:ext cx="3864769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Aplicar os conhecimentos em exercícios práticos no Google Colab</a:t>
            </a:r>
            <a:endParaRPr lang="en-US" sz="1238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57813" y="1393031"/>
            <a:ext cx="2857500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650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Operadores Aritméticos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9322" y="960834"/>
            <a:ext cx="902122" cy="392906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89322" y="960834"/>
            <a:ext cx="902122" cy="392906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Operador</a:t>
            </a:r>
            <a:endParaRPr lang="en-US" sz="1046" dirty="0"/>
          </a:p>
        </p:txBody>
      </p:sp>
      <p:sp>
        <p:nvSpPr>
          <p:cNvPr id="6" name="Shape 3"/>
          <p:cNvSpPr/>
          <p:nvPr/>
        </p:nvSpPr>
        <p:spPr>
          <a:xfrm>
            <a:off x="1187872" y="960834"/>
            <a:ext cx="1228725" cy="392906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7872" y="960834"/>
            <a:ext cx="1228725" cy="392906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Nome</a:t>
            </a:r>
            <a:endParaRPr lang="en-US" sz="1046" dirty="0"/>
          </a:p>
        </p:txBody>
      </p:sp>
      <p:sp>
        <p:nvSpPr>
          <p:cNvPr id="8" name="Shape 5"/>
          <p:cNvSpPr/>
          <p:nvPr/>
        </p:nvSpPr>
        <p:spPr>
          <a:xfrm>
            <a:off x="2413025" y="960834"/>
            <a:ext cx="1912823" cy="392906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13025" y="960834"/>
            <a:ext cx="1912823" cy="392906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Descrição</a:t>
            </a:r>
            <a:endParaRPr lang="en-US" sz="1046" dirty="0"/>
          </a:p>
        </p:txBody>
      </p:sp>
      <p:sp>
        <p:nvSpPr>
          <p:cNvPr id="10" name="Shape 7"/>
          <p:cNvSpPr/>
          <p:nvPr/>
        </p:nvSpPr>
        <p:spPr>
          <a:xfrm>
            <a:off x="4325569" y="960834"/>
            <a:ext cx="974368" cy="392906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25569" y="960834"/>
            <a:ext cx="974368" cy="392906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Exemplo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289322" y="1346597"/>
            <a:ext cx="894978" cy="43576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184300" y="1346597"/>
            <a:ext cx="1228725" cy="43576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Adição</a:t>
            </a:r>
            <a:endParaRPr lang="en-US" sz="1046" dirty="0"/>
          </a:p>
        </p:txBody>
      </p:sp>
      <p:sp>
        <p:nvSpPr>
          <p:cNvPr id="14" name="Text 11"/>
          <p:cNvSpPr/>
          <p:nvPr/>
        </p:nvSpPr>
        <p:spPr>
          <a:xfrm>
            <a:off x="2413025" y="1346597"/>
            <a:ext cx="1916199" cy="43576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Soma dois valores</a:t>
            </a: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4329224" y="1346597"/>
            <a:ext cx="970713" cy="43576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+ 3 = 8</a:t>
            </a:r>
            <a:endParaRPr lang="en-US" sz="1046" dirty="0"/>
          </a:p>
        </p:txBody>
      </p:sp>
      <p:sp>
        <p:nvSpPr>
          <p:cNvPr id="16" name="Shape 13"/>
          <p:cNvSpPr/>
          <p:nvPr/>
        </p:nvSpPr>
        <p:spPr>
          <a:xfrm>
            <a:off x="289322" y="1782366"/>
            <a:ext cx="5010615" cy="60721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7" name="Text 14"/>
          <p:cNvSpPr/>
          <p:nvPr/>
        </p:nvSpPr>
        <p:spPr>
          <a:xfrm>
            <a:off x="289322" y="1782366"/>
            <a:ext cx="894978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-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184300" y="1782366"/>
            <a:ext cx="1228725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Subtração</a:t>
            </a:r>
            <a:endParaRPr lang="en-US" sz="1046" dirty="0"/>
          </a:p>
        </p:txBody>
      </p:sp>
      <p:sp>
        <p:nvSpPr>
          <p:cNvPr id="19" name="Text 16"/>
          <p:cNvSpPr/>
          <p:nvPr/>
        </p:nvSpPr>
        <p:spPr>
          <a:xfrm>
            <a:off x="2413025" y="1782366"/>
            <a:ext cx="1916199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Subtrai o segundo valor do primeiro</a:t>
            </a:r>
            <a:endParaRPr lang="en-US" sz="1046" dirty="0"/>
          </a:p>
        </p:txBody>
      </p:sp>
      <p:sp>
        <p:nvSpPr>
          <p:cNvPr id="20" name="Text 17"/>
          <p:cNvSpPr/>
          <p:nvPr/>
        </p:nvSpPr>
        <p:spPr>
          <a:xfrm>
            <a:off x="4329224" y="1782366"/>
            <a:ext cx="970713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5 - 3 = 2</a:t>
            </a:r>
            <a:endParaRPr lang="en-US" sz="1046" dirty="0"/>
          </a:p>
        </p:txBody>
      </p:sp>
      <p:sp>
        <p:nvSpPr>
          <p:cNvPr id="21" name="Text 18"/>
          <p:cNvSpPr/>
          <p:nvPr/>
        </p:nvSpPr>
        <p:spPr>
          <a:xfrm>
            <a:off x="289322" y="2389584"/>
            <a:ext cx="894978" cy="43576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*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184300" y="2389584"/>
            <a:ext cx="1228725" cy="43576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Multiplicação</a:t>
            </a:r>
            <a:endParaRPr lang="en-US" sz="1046" dirty="0"/>
          </a:p>
        </p:txBody>
      </p:sp>
      <p:sp>
        <p:nvSpPr>
          <p:cNvPr id="23" name="Text 20"/>
          <p:cNvSpPr/>
          <p:nvPr/>
        </p:nvSpPr>
        <p:spPr>
          <a:xfrm>
            <a:off x="2413025" y="2389584"/>
            <a:ext cx="1916199" cy="43576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Multiplica dois valores</a:t>
            </a:r>
            <a:endParaRPr lang="en-US" sz="1046" dirty="0"/>
          </a:p>
        </p:txBody>
      </p:sp>
      <p:sp>
        <p:nvSpPr>
          <p:cNvPr id="24" name="Text 21"/>
          <p:cNvSpPr/>
          <p:nvPr/>
        </p:nvSpPr>
        <p:spPr>
          <a:xfrm>
            <a:off x="4329224" y="2389584"/>
            <a:ext cx="970713" cy="43576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* 3 = 15</a:t>
            </a:r>
            <a:endParaRPr lang="en-US" sz="1046" dirty="0"/>
          </a:p>
        </p:txBody>
      </p:sp>
      <p:sp>
        <p:nvSpPr>
          <p:cNvPr id="25" name="Shape 22"/>
          <p:cNvSpPr/>
          <p:nvPr/>
        </p:nvSpPr>
        <p:spPr>
          <a:xfrm>
            <a:off x="289322" y="2825353"/>
            <a:ext cx="5010615" cy="821531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6" name="Text 23"/>
          <p:cNvSpPr/>
          <p:nvPr/>
        </p:nvSpPr>
        <p:spPr>
          <a:xfrm>
            <a:off x="289322" y="2825353"/>
            <a:ext cx="894978" cy="82153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184300" y="2825353"/>
            <a:ext cx="1228725" cy="82153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Divisão</a:t>
            </a:r>
            <a:endParaRPr lang="en-US" sz="1046" dirty="0"/>
          </a:p>
        </p:txBody>
      </p:sp>
      <p:sp>
        <p:nvSpPr>
          <p:cNvPr id="28" name="Text 25"/>
          <p:cNvSpPr/>
          <p:nvPr/>
        </p:nvSpPr>
        <p:spPr>
          <a:xfrm>
            <a:off x="2413025" y="2825353"/>
            <a:ext cx="1916199" cy="82153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Divide o primeiro valor pelo segundo (retorna float)</a:t>
            </a:r>
            <a:endParaRPr lang="en-US" sz="1046" dirty="0"/>
          </a:p>
        </p:txBody>
      </p:sp>
      <p:sp>
        <p:nvSpPr>
          <p:cNvPr id="29" name="Text 26"/>
          <p:cNvSpPr/>
          <p:nvPr/>
        </p:nvSpPr>
        <p:spPr>
          <a:xfrm>
            <a:off x="4329224" y="2825353"/>
            <a:ext cx="970713" cy="82153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3 = 1.6666...</a:t>
            </a:r>
            <a:endParaRPr lang="en-US" sz="1046" dirty="0"/>
          </a:p>
        </p:txBody>
      </p:sp>
      <p:sp>
        <p:nvSpPr>
          <p:cNvPr id="30" name="Text 27"/>
          <p:cNvSpPr/>
          <p:nvPr/>
        </p:nvSpPr>
        <p:spPr>
          <a:xfrm>
            <a:off x="289322" y="3646884"/>
            <a:ext cx="894978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//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1184300" y="3646884"/>
            <a:ext cx="1228725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Divisão inteira</a:t>
            </a:r>
            <a:endParaRPr lang="en-US" sz="1046" dirty="0"/>
          </a:p>
        </p:txBody>
      </p:sp>
      <p:sp>
        <p:nvSpPr>
          <p:cNvPr id="32" name="Text 29"/>
          <p:cNvSpPr/>
          <p:nvPr/>
        </p:nvSpPr>
        <p:spPr>
          <a:xfrm>
            <a:off x="2413025" y="3646884"/>
            <a:ext cx="1916199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Divide e retorna apenas a parte inteira</a:t>
            </a:r>
            <a:endParaRPr lang="en-US" sz="1046" dirty="0"/>
          </a:p>
        </p:txBody>
      </p:sp>
      <p:sp>
        <p:nvSpPr>
          <p:cNvPr id="33" name="Text 30"/>
          <p:cNvSpPr/>
          <p:nvPr/>
        </p:nvSpPr>
        <p:spPr>
          <a:xfrm>
            <a:off x="4329224" y="3646884"/>
            <a:ext cx="970713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// 3 = 1</a:t>
            </a:r>
            <a:endParaRPr lang="en-US" sz="1046" dirty="0"/>
          </a:p>
        </p:txBody>
      </p:sp>
      <p:sp>
        <p:nvSpPr>
          <p:cNvPr id="34" name="Shape 31"/>
          <p:cNvSpPr/>
          <p:nvPr/>
        </p:nvSpPr>
        <p:spPr>
          <a:xfrm>
            <a:off x="289322" y="4254103"/>
            <a:ext cx="5010615" cy="60721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5" name="Text 32"/>
          <p:cNvSpPr/>
          <p:nvPr/>
        </p:nvSpPr>
        <p:spPr>
          <a:xfrm>
            <a:off x="289322" y="4254103"/>
            <a:ext cx="894978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%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1184300" y="4254103"/>
            <a:ext cx="1228725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Módulo</a:t>
            </a:r>
            <a:endParaRPr lang="en-US" sz="1046" dirty="0"/>
          </a:p>
        </p:txBody>
      </p:sp>
      <p:sp>
        <p:nvSpPr>
          <p:cNvPr id="37" name="Text 34"/>
          <p:cNvSpPr/>
          <p:nvPr/>
        </p:nvSpPr>
        <p:spPr>
          <a:xfrm>
            <a:off x="2413025" y="4254103"/>
            <a:ext cx="1916199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Retorna o resto da divisão</a:t>
            </a:r>
            <a:endParaRPr lang="en-US" sz="1046" dirty="0"/>
          </a:p>
        </p:txBody>
      </p:sp>
      <p:sp>
        <p:nvSpPr>
          <p:cNvPr id="38" name="Text 35"/>
          <p:cNvSpPr/>
          <p:nvPr/>
        </p:nvSpPr>
        <p:spPr>
          <a:xfrm>
            <a:off x="4329224" y="4254103"/>
            <a:ext cx="970713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5 % 3 = 2</a:t>
            </a:r>
            <a:endParaRPr lang="en-US" sz="1046" dirty="0"/>
          </a:p>
        </p:txBody>
      </p:sp>
      <p:sp>
        <p:nvSpPr>
          <p:cNvPr id="39" name="Text 36"/>
          <p:cNvSpPr/>
          <p:nvPr/>
        </p:nvSpPr>
        <p:spPr>
          <a:xfrm>
            <a:off x="289322" y="4861322"/>
            <a:ext cx="894978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**</a:t>
            </a:r>
            <a:endParaRPr lang="en-US" sz="1350" dirty="0"/>
          </a:p>
        </p:txBody>
      </p:sp>
      <p:sp>
        <p:nvSpPr>
          <p:cNvPr id="40" name="Text 37"/>
          <p:cNvSpPr/>
          <p:nvPr/>
        </p:nvSpPr>
        <p:spPr>
          <a:xfrm>
            <a:off x="1184300" y="4861322"/>
            <a:ext cx="1228725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Exponenciação</a:t>
            </a:r>
            <a:endParaRPr lang="en-US" sz="1046" dirty="0"/>
          </a:p>
        </p:txBody>
      </p:sp>
      <p:sp>
        <p:nvSpPr>
          <p:cNvPr id="41" name="Text 38"/>
          <p:cNvSpPr/>
          <p:nvPr/>
        </p:nvSpPr>
        <p:spPr>
          <a:xfrm>
            <a:off x="2413025" y="4861322"/>
            <a:ext cx="1916199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Eleva o primeiro valor à potência do segundo</a:t>
            </a:r>
            <a:endParaRPr lang="en-US" sz="1046" dirty="0"/>
          </a:p>
        </p:txBody>
      </p:sp>
      <p:sp>
        <p:nvSpPr>
          <p:cNvPr id="42" name="Text 39"/>
          <p:cNvSpPr/>
          <p:nvPr/>
        </p:nvSpPr>
        <p:spPr>
          <a:xfrm>
            <a:off x="4329224" y="4861322"/>
            <a:ext cx="970713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** 3 = 125</a:t>
            </a:r>
            <a:endParaRPr lang="en-US" sz="1046" dirty="0"/>
          </a:p>
        </p:txBody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286" y="2143125"/>
            <a:ext cx="2857500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Exemplos de Operadores Aritméticos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5750" y="923218"/>
            <a:ext cx="5014913" cy="2251397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5" name="Text 2"/>
          <p:cNvSpPr/>
          <p:nvPr/>
        </p:nvSpPr>
        <p:spPr>
          <a:xfrm>
            <a:off x="371475" y="1005371"/>
            <a:ext cx="112996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Definindo variáveis</a:t>
            </a:r>
            <a:endParaRPr lang="en-US" sz="837" dirty="0"/>
          </a:p>
        </p:txBody>
      </p:sp>
      <p:sp>
        <p:nvSpPr>
          <p:cNvPr id="6" name="Text 3"/>
          <p:cNvSpPr/>
          <p:nvPr/>
        </p:nvSpPr>
        <p:spPr>
          <a:xfrm>
            <a:off x="371475" y="1153939"/>
            <a:ext cx="31971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= 10</a:t>
            </a:r>
            <a:endParaRPr lang="en-US" sz="837" dirty="0"/>
          </a:p>
        </p:txBody>
      </p:sp>
      <p:sp>
        <p:nvSpPr>
          <p:cNvPr id="7" name="Text 4"/>
          <p:cNvSpPr/>
          <p:nvPr/>
        </p:nvSpPr>
        <p:spPr>
          <a:xfrm>
            <a:off x="371475" y="1302507"/>
            <a:ext cx="2604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 = 3</a:t>
            </a:r>
            <a:endParaRPr lang="en-US" sz="837" dirty="0"/>
          </a:p>
        </p:txBody>
      </p:sp>
      <p:sp>
        <p:nvSpPr>
          <p:cNvPr id="8" name="Text 5"/>
          <p:cNvSpPr/>
          <p:nvPr/>
        </p:nvSpPr>
        <p:spPr>
          <a:xfrm>
            <a:off x="371475" y="1599642"/>
            <a:ext cx="110197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Operações básicas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371475" y="1748210"/>
            <a:ext cx="6789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soma = a + b</a:t>
            </a:r>
            <a:endParaRPr lang="en-US" sz="837" dirty="0"/>
          </a:p>
        </p:txBody>
      </p:sp>
      <p:sp>
        <p:nvSpPr>
          <p:cNvPr id="10" name="Text 7"/>
          <p:cNvSpPr/>
          <p:nvPr/>
        </p:nvSpPr>
        <p:spPr>
          <a:xfrm>
            <a:off x="371475" y="1896777"/>
            <a:ext cx="8896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subtracao = a - b</a:t>
            </a:r>
            <a:endParaRPr lang="en-US" sz="837" dirty="0"/>
          </a:p>
        </p:txBody>
      </p:sp>
      <p:sp>
        <p:nvSpPr>
          <p:cNvPr id="11" name="Text 8"/>
          <p:cNvSpPr/>
          <p:nvPr/>
        </p:nvSpPr>
        <p:spPr>
          <a:xfrm>
            <a:off x="371475" y="2045345"/>
            <a:ext cx="109581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multiplicacao = a * b</a:t>
            </a:r>
            <a:endParaRPr lang="en-US" sz="837" dirty="0"/>
          </a:p>
        </p:txBody>
      </p:sp>
      <p:sp>
        <p:nvSpPr>
          <p:cNvPr id="12" name="Text 9"/>
          <p:cNvSpPr/>
          <p:nvPr/>
        </p:nvSpPr>
        <p:spPr>
          <a:xfrm>
            <a:off x="371475" y="2193913"/>
            <a:ext cx="73656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divisao = a / b</a:t>
            </a:r>
            <a:endParaRPr lang="en-US" sz="837" dirty="0"/>
          </a:p>
        </p:txBody>
      </p:sp>
      <p:sp>
        <p:nvSpPr>
          <p:cNvPr id="13" name="Text 10"/>
          <p:cNvSpPr/>
          <p:nvPr/>
        </p:nvSpPr>
        <p:spPr>
          <a:xfrm>
            <a:off x="371475" y="2491048"/>
            <a:ext cx="14759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print(f"Soma: {soma}") # 13</a:t>
            </a:r>
            <a:endParaRPr lang="en-US" sz="837" dirty="0"/>
          </a:p>
        </p:txBody>
      </p:sp>
      <p:sp>
        <p:nvSpPr>
          <p:cNvPr id="14" name="Text 11"/>
          <p:cNvSpPr/>
          <p:nvPr/>
        </p:nvSpPr>
        <p:spPr>
          <a:xfrm>
            <a:off x="371475" y="2639616"/>
            <a:ext cx="188904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print(f"Subtração: {subtracao}") # 7</a:t>
            </a:r>
            <a:endParaRPr lang="en-US" sz="837" dirty="0"/>
          </a:p>
        </p:txBody>
      </p:sp>
      <p:sp>
        <p:nvSpPr>
          <p:cNvPr id="15" name="Text 12"/>
          <p:cNvSpPr/>
          <p:nvPr/>
        </p:nvSpPr>
        <p:spPr>
          <a:xfrm>
            <a:off x="371475" y="2788183"/>
            <a:ext cx="230327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print(f"Multiplicação: {multiplicacao}") # 30</a:t>
            </a:r>
            <a:endParaRPr lang="en-US" sz="837" dirty="0"/>
          </a:p>
        </p:txBody>
      </p:sp>
      <p:sp>
        <p:nvSpPr>
          <p:cNvPr id="16" name="Text 13"/>
          <p:cNvSpPr/>
          <p:nvPr/>
        </p:nvSpPr>
        <p:spPr>
          <a:xfrm>
            <a:off x="371475" y="2936751"/>
            <a:ext cx="18953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print(f"Divisão: {divisao}") # 3.333... </a:t>
            </a:r>
            <a:endParaRPr lang="en-US" sz="837" dirty="0"/>
          </a:p>
        </p:txBody>
      </p:sp>
      <p:sp>
        <p:nvSpPr>
          <p:cNvPr id="17" name="Shape 14"/>
          <p:cNvSpPr/>
          <p:nvPr/>
        </p:nvSpPr>
        <p:spPr>
          <a:xfrm>
            <a:off x="285750" y="3317491"/>
            <a:ext cx="5014913" cy="1359991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8" name="Text 15"/>
          <p:cNvSpPr/>
          <p:nvPr/>
        </p:nvSpPr>
        <p:spPr>
          <a:xfrm>
            <a:off x="371475" y="3399644"/>
            <a:ext cx="127468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Operações avançadas</a:t>
            </a:r>
            <a:endParaRPr lang="en-US" sz="837" dirty="0"/>
          </a:p>
        </p:txBody>
      </p:sp>
      <p:sp>
        <p:nvSpPr>
          <p:cNvPr id="19" name="Text 16"/>
          <p:cNvSpPr/>
          <p:nvPr/>
        </p:nvSpPr>
        <p:spPr>
          <a:xfrm>
            <a:off x="371475" y="3548211"/>
            <a:ext cx="20700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divisao_inteira = a // b # Divisão inteira</a:t>
            </a:r>
            <a:endParaRPr lang="en-US" sz="837" dirty="0"/>
          </a:p>
        </p:txBody>
      </p:sp>
      <p:sp>
        <p:nvSpPr>
          <p:cNvPr id="20" name="Text 17"/>
          <p:cNvSpPr/>
          <p:nvPr/>
        </p:nvSpPr>
        <p:spPr>
          <a:xfrm>
            <a:off x="371475" y="3696779"/>
            <a:ext cx="169142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resto = a % b # Resto da divisão</a:t>
            </a:r>
            <a:endParaRPr lang="en-US" sz="837" dirty="0"/>
          </a:p>
        </p:txBody>
      </p:sp>
      <p:sp>
        <p:nvSpPr>
          <p:cNvPr id="21" name="Text 18"/>
          <p:cNvSpPr/>
          <p:nvPr/>
        </p:nvSpPr>
        <p:spPr>
          <a:xfrm>
            <a:off x="371475" y="3845347"/>
            <a:ext cx="18480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potencia = a ** b # Exponenciação</a:t>
            </a:r>
            <a:endParaRPr lang="en-US" sz="837" dirty="0"/>
          </a:p>
        </p:txBody>
      </p:sp>
      <p:sp>
        <p:nvSpPr>
          <p:cNvPr id="22" name="Text 19"/>
          <p:cNvSpPr/>
          <p:nvPr/>
        </p:nvSpPr>
        <p:spPr>
          <a:xfrm>
            <a:off x="371475" y="4142482"/>
            <a:ext cx="23459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print(f"Divisão inteira: {divisao_inteira}") # 3</a:t>
            </a:r>
            <a:endParaRPr lang="en-US" sz="837" dirty="0"/>
          </a:p>
        </p:txBody>
      </p:sp>
      <p:sp>
        <p:nvSpPr>
          <p:cNvPr id="23" name="Text 20"/>
          <p:cNvSpPr/>
          <p:nvPr/>
        </p:nvSpPr>
        <p:spPr>
          <a:xfrm>
            <a:off x="371475" y="4291050"/>
            <a:ext cx="195727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print(f"Resto da divisão: {resto}") # 1</a:t>
            </a:r>
            <a:endParaRPr lang="en-US" sz="837" dirty="0"/>
          </a:p>
        </p:txBody>
      </p:sp>
      <p:sp>
        <p:nvSpPr>
          <p:cNvPr id="24" name="Text 21"/>
          <p:cNvSpPr/>
          <p:nvPr/>
        </p:nvSpPr>
        <p:spPr>
          <a:xfrm>
            <a:off x="371475" y="4439617"/>
            <a:ext cx="19363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print(f"Potência: {potencia}") # 1000 </a:t>
            </a:r>
            <a:endParaRPr lang="en-US" sz="837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456" y="2210991"/>
            <a:ext cx="2500313" cy="12501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2650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Operadores Relacionais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9322" y="960834"/>
            <a:ext cx="902122" cy="392906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89322" y="960834"/>
            <a:ext cx="902122" cy="392906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Operador</a:t>
            </a:r>
            <a:endParaRPr lang="en-US" sz="1046" dirty="0"/>
          </a:p>
        </p:txBody>
      </p:sp>
      <p:sp>
        <p:nvSpPr>
          <p:cNvPr id="6" name="Shape 3"/>
          <p:cNvSpPr/>
          <p:nvPr/>
        </p:nvSpPr>
        <p:spPr>
          <a:xfrm>
            <a:off x="1187872" y="960834"/>
            <a:ext cx="1045639" cy="392906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7872" y="960834"/>
            <a:ext cx="1045639" cy="392906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Nome</a:t>
            </a:r>
            <a:endParaRPr lang="en-US" sz="1046" dirty="0"/>
          </a:p>
        </p:txBody>
      </p:sp>
      <p:sp>
        <p:nvSpPr>
          <p:cNvPr id="8" name="Shape 5"/>
          <p:cNvSpPr/>
          <p:nvPr/>
        </p:nvSpPr>
        <p:spPr>
          <a:xfrm>
            <a:off x="2230413" y="960834"/>
            <a:ext cx="2106151" cy="392906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30413" y="960834"/>
            <a:ext cx="2106151" cy="392906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Descrição</a:t>
            </a:r>
            <a:endParaRPr lang="en-US" sz="1046" dirty="0"/>
          </a:p>
        </p:txBody>
      </p:sp>
      <p:sp>
        <p:nvSpPr>
          <p:cNvPr id="10" name="Shape 7"/>
          <p:cNvSpPr/>
          <p:nvPr/>
        </p:nvSpPr>
        <p:spPr>
          <a:xfrm>
            <a:off x="4336368" y="960834"/>
            <a:ext cx="963569" cy="392906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36368" y="960834"/>
            <a:ext cx="963569" cy="392906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Exemplo</a:t>
            </a:r>
            <a:endParaRPr lang="en-US" sz="1046" dirty="0"/>
          </a:p>
        </p:txBody>
      </p:sp>
      <p:sp>
        <p:nvSpPr>
          <p:cNvPr id="12" name="Text 9"/>
          <p:cNvSpPr/>
          <p:nvPr/>
        </p:nvSpPr>
        <p:spPr>
          <a:xfrm>
            <a:off x="289322" y="1346597"/>
            <a:ext cx="894978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==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184300" y="1346597"/>
            <a:ext cx="1047229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Igual a</a:t>
            </a:r>
            <a:endParaRPr lang="en-US" sz="1046" dirty="0"/>
          </a:p>
        </p:txBody>
      </p:sp>
      <p:sp>
        <p:nvSpPr>
          <p:cNvPr id="14" name="Text 11"/>
          <p:cNvSpPr/>
          <p:nvPr/>
        </p:nvSpPr>
        <p:spPr>
          <a:xfrm>
            <a:off x="2231529" y="1346597"/>
            <a:ext cx="2108634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Verifica se dois valores são iguais</a:t>
            </a: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4340163" y="1346597"/>
            <a:ext cx="959774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== 5 → True</a:t>
            </a:r>
            <a:endParaRPr lang="en-US" sz="1046" dirty="0"/>
          </a:p>
        </p:txBody>
      </p:sp>
      <p:sp>
        <p:nvSpPr>
          <p:cNvPr id="16" name="Shape 13"/>
          <p:cNvSpPr/>
          <p:nvPr/>
        </p:nvSpPr>
        <p:spPr>
          <a:xfrm>
            <a:off x="289322" y="1953816"/>
            <a:ext cx="5010615" cy="60721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7" name="Text 14"/>
          <p:cNvSpPr/>
          <p:nvPr/>
        </p:nvSpPr>
        <p:spPr>
          <a:xfrm>
            <a:off x="289322" y="1953816"/>
            <a:ext cx="894978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!=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184300" y="1953816"/>
            <a:ext cx="1047229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Diferente de</a:t>
            </a:r>
            <a:endParaRPr lang="en-US" sz="1046" dirty="0"/>
          </a:p>
        </p:txBody>
      </p:sp>
      <p:sp>
        <p:nvSpPr>
          <p:cNvPr id="19" name="Text 16"/>
          <p:cNvSpPr/>
          <p:nvPr/>
        </p:nvSpPr>
        <p:spPr>
          <a:xfrm>
            <a:off x="2231529" y="1953816"/>
            <a:ext cx="2108634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Verifica se dois valores são diferentes</a:t>
            </a:r>
            <a:endParaRPr lang="en-US" sz="1046" dirty="0"/>
          </a:p>
        </p:txBody>
      </p:sp>
      <p:sp>
        <p:nvSpPr>
          <p:cNvPr id="20" name="Text 17"/>
          <p:cNvSpPr/>
          <p:nvPr/>
        </p:nvSpPr>
        <p:spPr>
          <a:xfrm>
            <a:off x="4340163" y="1953816"/>
            <a:ext cx="959774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!= 3 → True</a:t>
            </a:r>
            <a:endParaRPr lang="en-US" sz="1046" dirty="0"/>
          </a:p>
        </p:txBody>
      </p:sp>
      <p:sp>
        <p:nvSpPr>
          <p:cNvPr id="21" name="Text 18"/>
          <p:cNvSpPr/>
          <p:nvPr/>
        </p:nvSpPr>
        <p:spPr>
          <a:xfrm>
            <a:off x="289322" y="2561034"/>
            <a:ext cx="894978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&gt;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184300" y="2561034"/>
            <a:ext cx="1047229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Maior que</a:t>
            </a:r>
            <a:endParaRPr lang="en-US" sz="1046" dirty="0"/>
          </a:p>
        </p:txBody>
      </p:sp>
      <p:sp>
        <p:nvSpPr>
          <p:cNvPr id="23" name="Text 20"/>
          <p:cNvSpPr/>
          <p:nvPr/>
        </p:nvSpPr>
        <p:spPr>
          <a:xfrm>
            <a:off x="2231529" y="2561034"/>
            <a:ext cx="2108634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Verifica se o primeiro valor é maior que o segundo</a:t>
            </a:r>
            <a:endParaRPr lang="en-US" sz="1046" dirty="0"/>
          </a:p>
        </p:txBody>
      </p:sp>
      <p:sp>
        <p:nvSpPr>
          <p:cNvPr id="24" name="Text 21"/>
          <p:cNvSpPr/>
          <p:nvPr/>
        </p:nvSpPr>
        <p:spPr>
          <a:xfrm>
            <a:off x="4340163" y="2561034"/>
            <a:ext cx="959774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&gt; 3 → True</a:t>
            </a:r>
            <a:endParaRPr lang="en-US" sz="1046" dirty="0"/>
          </a:p>
        </p:txBody>
      </p:sp>
      <p:sp>
        <p:nvSpPr>
          <p:cNvPr id="25" name="Shape 22"/>
          <p:cNvSpPr/>
          <p:nvPr/>
        </p:nvSpPr>
        <p:spPr>
          <a:xfrm>
            <a:off x="289322" y="3168253"/>
            <a:ext cx="5010615" cy="60721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6" name="Text 23"/>
          <p:cNvSpPr/>
          <p:nvPr/>
        </p:nvSpPr>
        <p:spPr>
          <a:xfrm>
            <a:off x="289322" y="3168253"/>
            <a:ext cx="894978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&lt;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184300" y="3168253"/>
            <a:ext cx="1047229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Menor que</a:t>
            </a:r>
            <a:endParaRPr lang="en-US" sz="1046" dirty="0"/>
          </a:p>
        </p:txBody>
      </p:sp>
      <p:sp>
        <p:nvSpPr>
          <p:cNvPr id="28" name="Text 25"/>
          <p:cNvSpPr/>
          <p:nvPr/>
        </p:nvSpPr>
        <p:spPr>
          <a:xfrm>
            <a:off x="2231529" y="3168253"/>
            <a:ext cx="2108634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Verifica se o primeiro valor é menor que o segundo</a:t>
            </a:r>
            <a:endParaRPr lang="en-US" sz="1046" dirty="0"/>
          </a:p>
        </p:txBody>
      </p:sp>
      <p:sp>
        <p:nvSpPr>
          <p:cNvPr id="29" name="Text 26"/>
          <p:cNvSpPr/>
          <p:nvPr/>
        </p:nvSpPr>
        <p:spPr>
          <a:xfrm>
            <a:off x="4340163" y="3168253"/>
            <a:ext cx="959774" cy="60721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&lt; 3 → False</a:t>
            </a:r>
            <a:endParaRPr lang="en-US" sz="1046" dirty="0"/>
          </a:p>
        </p:txBody>
      </p:sp>
      <p:sp>
        <p:nvSpPr>
          <p:cNvPr id="30" name="Text 27"/>
          <p:cNvSpPr/>
          <p:nvPr/>
        </p:nvSpPr>
        <p:spPr>
          <a:xfrm>
            <a:off x="289322" y="3775472"/>
            <a:ext cx="894978" cy="82153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&gt;=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1184300" y="3775472"/>
            <a:ext cx="1047229" cy="82153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Maior ou igual a</a:t>
            </a:r>
            <a:endParaRPr lang="en-US" sz="1046" dirty="0"/>
          </a:p>
        </p:txBody>
      </p:sp>
      <p:sp>
        <p:nvSpPr>
          <p:cNvPr id="32" name="Text 29"/>
          <p:cNvSpPr/>
          <p:nvPr/>
        </p:nvSpPr>
        <p:spPr>
          <a:xfrm>
            <a:off x="2231529" y="3775472"/>
            <a:ext cx="2108634" cy="82153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Verifica se o primeiro valor é maior ou igual ao segundo</a:t>
            </a:r>
            <a:endParaRPr lang="en-US" sz="1046" dirty="0"/>
          </a:p>
        </p:txBody>
      </p:sp>
      <p:sp>
        <p:nvSpPr>
          <p:cNvPr id="33" name="Text 30"/>
          <p:cNvSpPr/>
          <p:nvPr/>
        </p:nvSpPr>
        <p:spPr>
          <a:xfrm>
            <a:off x="4340163" y="3775472"/>
            <a:ext cx="959774" cy="82153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&gt;= 5 → True</a:t>
            </a:r>
            <a:endParaRPr lang="en-US" sz="1046" dirty="0"/>
          </a:p>
        </p:txBody>
      </p:sp>
      <p:sp>
        <p:nvSpPr>
          <p:cNvPr id="34" name="Shape 31"/>
          <p:cNvSpPr/>
          <p:nvPr/>
        </p:nvSpPr>
        <p:spPr>
          <a:xfrm>
            <a:off x="289322" y="4597003"/>
            <a:ext cx="5010615" cy="821531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5" name="Text 32"/>
          <p:cNvSpPr/>
          <p:nvPr/>
        </p:nvSpPr>
        <p:spPr>
          <a:xfrm>
            <a:off x="289322" y="4597003"/>
            <a:ext cx="894978" cy="82153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&lt;=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1184300" y="4597003"/>
            <a:ext cx="1047229" cy="82153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Menor ou igual a</a:t>
            </a:r>
            <a:endParaRPr lang="en-US" sz="1046" dirty="0"/>
          </a:p>
        </p:txBody>
      </p:sp>
      <p:sp>
        <p:nvSpPr>
          <p:cNvPr id="37" name="Text 34"/>
          <p:cNvSpPr/>
          <p:nvPr/>
        </p:nvSpPr>
        <p:spPr>
          <a:xfrm>
            <a:off x="2231529" y="4597003"/>
            <a:ext cx="2108634" cy="82153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Verifica se o primeiro valor é menor ou igual ao segundo</a:t>
            </a:r>
            <a:endParaRPr lang="en-US" sz="1046" dirty="0"/>
          </a:p>
        </p:txBody>
      </p:sp>
      <p:sp>
        <p:nvSpPr>
          <p:cNvPr id="38" name="Text 35"/>
          <p:cNvSpPr/>
          <p:nvPr/>
        </p:nvSpPr>
        <p:spPr>
          <a:xfrm>
            <a:off x="4340163" y="4597003"/>
            <a:ext cx="959774" cy="82153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04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&lt;= 3 → False</a:t>
            </a:r>
            <a:endParaRPr lang="en-US" sz="1046" dirty="0"/>
          </a:p>
        </p:txBody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286" y="2475309"/>
            <a:ext cx="2857500" cy="1428750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285750" y="5564981"/>
            <a:ext cx="8572500" cy="407194"/>
          </a:xfrm>
          <a:prstGeom prst="rect">
            <a:avLst/>
          </a:prstGeom>
          <a:solidFill>
            <a:srgbClr val="EBF8FF"/>
          </a:solidFill>
          <a:ln/>
        </p:spPr>
      </p:sp>
      <p:sp>
        <p:nvSpPr>
          <p:cNvPr id="41" name="Shape 37"/>
          <p:cNvSpPr/>
          <p:nvPr/>
        </p:nvSpPr>
        <p:spPr>
          <a:xfrm>
            <a:off x="285750" y="5564981"/>
            <a:ext cx="28575" cy="407194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42" name="Text 38"/>
          <p:cNvSpPr/>
          <p:nvPr/>
        </p:nvSpPr>
        <p:spPr>
          <a:xfrm>
            <a:off x="392906" y="5681067"/>
            <a:ext cx="35428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Nota:</a:t>
            </a:r>
            <a:endParaRPr lang="en-US" sz="942" dirty="0"/>
          </a:p>
        </p:txBody>
      </p:sp>
      <p:sp>
        <p:nvSpPr>
          <p:cNvPr id="43" name="Text 39"/>
          <p:cNvSpPr/>
          <p:nvPr/>
        </p:nvSpPr>
        <p:spPr>
          <a:xfrm>
            <a:off x="747192" y="5681067"/>
            <a:ext cx="464293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Operadores relacionais sempre retornam um valor booleano (True ou False). 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9693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Exemplos de Operadores Relacionais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5750" y="885825"/>
            <a:ext cx="5014913" cy="2600325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037630"/>
            <a:ext cx="235727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Definindo variáveis para comparação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428625" y="1230511"/>
            <a:ext cx="3555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 = 10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428625" y="1423392"/>
            <a:ext cx="27955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 = 5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28625" y="1616273"/>
            <a:ext cx="34797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z = 10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28625" y="2002036"/>
            <a:ext cx="22908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Exemplos de operadores relacionais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28625" y="2194917"/>
            <a:ext cx="194901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print(f"x == y: {x == y}") # Igual a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428625" y="2387798"/>
            <a:ext cx="220836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print(f"x != y: {x != y}") # Diferente de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428625" y="2580680"/>
            <a:ext cx="20062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print(f"x &gt; y: {x &gt; y}") # Maior que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28625" y="2773561"/>
            <a:ext cx="205290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print(f"x &lt; y: {x &lt; y}") # Menor que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428625" y="2966442"/>
            <a:ext cx="250528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print(f"x &gt;= z: {x &gt;= z}") # Maior ou igual a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428625" y="3159323"/>
            <a:ext cx="256226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print(f"x &lt;= y: {x &lt;= y}") # Menor ou igual a 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285750" y="3629025"/>
            <a:ext cx="5014913" cy="13716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7" name="Shape 14"/>
          <p:cNvSpPr/>
          <p:nvPr/>
        </p:nvSpPr>
        <p:spPr>
          <a:xfrm>
            <a:off x="285750" y="3629025"/>
            <a:ext cx="28575" cy="137160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18" name="Text 15"/>
          <p:cNvSpPr/>
          <p:nvPr/>
        </p:nvSpPr>
        <p:spPr>
          <a:xfrm>
            <a:off x="392906" y="3745111"/>
            <a:ext cx="7216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 == y: False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392906" y="3937992"/>
            <a:ext cx="64667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 != y: True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392906" y="4130873"/>
            <a:ext cx="61210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 &gt; y: True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392906" y="4323755"/>
            <a:ext cx="6481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 &lt; y: False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392906" y="4516636"/>
            <a:ext cx="68049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 &gt;= z: True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392906" y="4709517"/>
            <a:ext cx="72165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x &lt;= y: False 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285750" y="5145286"/>
            <a:ext cx="326703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Os operadores relacionais sempre retornam um valor 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3552788" y="5145286"/>
            <a:ext cx="59756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booleano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4150351" y="5145286"/>
            <a:ext cx="94551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(True ou False).</a:t>
            </a:r>
            <a:endParaRPr lang="en-US" sz="942" dirty="0"/>
          </a:p>
        </p:txBody>
      </p:sp>
      <p:sp>
        <p:nvSpPr>
          <p:cNvPr id="27" name="Text 24"/>
          <p:cNvSpPr/>
          <p:nvPr/>
        </p:nvSpPr>
        <p:spPr>
          <a:xfrm>
            <a:off x="285750" y="5323517"/>
            <a:ext cx="50149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Eles são frequentemente usados em estruturas condicionais para controlar o fluxo do programa.</a:t>
            </a:r>
            <a:endParaRPr lang="en-US" sz="942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863" y="2570299"/>
            <a:ext cx="285750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57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Operadores Lógicos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85825"/>
            <a:ext cx="50149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(E lógico)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85750" y="1187648"/>
            <a:ext cx="51488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Retorna 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800630" y="1187648"/>
            <a:ext cx="2868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38A1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True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1087524" y="1187648"/>
            <a:ext cx="258693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 ambas as condições forem verdadeiras.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289322" y="1446609"/>
            <a:ext cx="1508922" cy="264319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89322" y="1446609"/>
            <a:ext cx="1508922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</a:t>
            </a:r>
            <a:endParaRPr lang="en-US" sz="837" dirty="0"/>
          </a:p>
        </p:txBody>
      </p:sp>
      <p:sp>
        <p:nvSpPr>
          <p:cNvPr id="10" name="Shape 7"/>
          <p:cNvSpPr/>
          <p:nvPr/>
        </p:nvSpPr>
        <p:spPr>
          <a:xfrm>
            <a:off x="1798244" y="1446609"/>
            <a:ext cx="1508922" cy="264319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98244" y="1446609"/>
            <a:ext cx="1508922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</a:t>
            </a:r>
            <a:endParaRPr lang="en-US" sz="837" dirty="0"/>
          </a:p>
        </p:txBody>
      </p:sp>
      <p:sp>
        <p:nvSpPr>
          <p:cNvPr id="12" name="Shape 9"/>
          <p:cNvSpPr/>
          <p:nvPr/>
        </p:nvSpPr>
        <p:spPr>
          <a:xfrm>
            <a:off x="3307166" y="1446609"/>
            <a:ext cx="1989925" cy="264319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07166" y="1446609"/>
            <a:ext cx="1989925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and B</a:t>
            </a:r>
            <a:endParaRPr lang="en-US" sz="837" dirty="0"/>
          </a:p>
        </p:txBody>
      </p:sp>
      <p:sp>
        <p:nvSpPr>
          <p:cNvPr id="14" name="Text 11"/>
          <p:cNvSpPr/>
          <p:nvPr/>
        </p:nvSpPr>
        <p:spPr>
          <a:xfrm>
            <a:off x="289322" y="1703784"/>
            <a:ext cx="1516317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38A1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True</a:t>
            </a:r>
            <a:endParaRPr lang="en-US" sz="837" dirty="0"/>
          </a:p>
        </p:txBody>
      </p:sp>
      <p:sp>
        <p:nvSpPr>
          <p:cNvPr id="15" name="Text 12"/>
          <p:cNvSpPr/>
          <p:nvPr/>
        </p:nvSpPr>
        <p:spPr>
          <a:xfrm>
            <a:off x="1805639" y="1703784"/>
            <a:ext cx="1516317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38A1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True</a:t>
            </a:r>
            <a:endParaRPr lang="en-US" sz="837" dirty="0"/>
          </a:p>
        </p:txBody>
      </p:sp>
      <p:sp>
        <p:nvSpPr>
          <p:cNvPr id="16" name="Text 13"/>
          <p:cNvSpPr/>
          <p:nvPr/>
        </p:nvSpPr>
        <p:spPr>
          <a:xfrm>
            <a:off x="3321955" y="1703784"/>
            <a:ext cx="1975135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38A1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True</a:t>
            </a:r>
            <a:endParaRPr lang="en-US" sz="837" dirty="0"/>
          </a:p>
        </p:txBody>
      </p:sp>
      <p:sp>
        <p:nvSpPr>
          <p:cNvPr id="17" name="Shape 14"/>
          <p:cNvSpPr/>
          <p:nvPr/>
        </p:nvSpPr>
        <p:spPr>
          <a:xfrm>
            <a:off x="289322" y="1968103"/>
            <a:ext cx="5007769" cy="26431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8" name="Text 15"/>
          <p:cNvSpPr/>
          <p:nvPr/>
        </p:nvSpPr>
        <p:spPr>
          <a:xfrm>
            <a:off x="289322" y="1968103"/>
            <a:ext cx="1516317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38A1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True</a:t>
            </a:r>
            <a:endParaRPr lang="en-US" sz="837" dirty="0"/>
          </a:p>
        </p:txBody>
      </p:sp>
      <p:sp>
        <p:nvSpPr>
          <p:cNvPr id="19" name="Text 16"/>
          <p:cNvSpPr/>
          <p:nvPr/>
        </p:nvSpPr>
        <p:spPr>
          <a:xfrm>
            <a:off x="1805639" y="1968103"/>
            <a:ext cx="1516317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E53E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False</a:t>
            </a:r>
            <a:endParaRPr lang="en-US" sz="837" dirty="0"/>
          </a:p>
        </p:txBody>
      </p:sp>
      <p:sp>
        <p:nvSpPr>
          <p:cNvPr id="20" name="Text 17"/>
          <p:cNvSpPr/>
          <p:nvPr/>
        </p:nvSpPr>
        <p:spPr>
          <a:xfrm>
            <a:off x="3321955" y="1968103"/>
            <a:ext cx="1975135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E53E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False</a:t>
            </a:r>
            <a:endParaRPr lang="en-US" sz="837" dirty="0"/>
          </a:p>
        </p:txBody>
      </p:sp>
      <p:sp>
        <p:nvSpPr>
          <p:cNvPr id="21" name="Text 18"/>
          <p:cNvSpPr/>
          <p:nvPr/>
        </p:nvSpPr>
        <p:spPr>
          <a:xfrm>
            <a:off x="289322" y="2232422"/>
            <a:ext cx="1516317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E53E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False</a:t>
            </a:r>
            <a:endParaRPr lang="en-US" sz="837" dirty="0"/>
          </a:p>
        </p:txBody>
      </p:sp>
      <p:sp>
        <p:nvSpPr>
          <p:cNvPr id="22" name="Text 19"/>
          <p:cNvSpPr/>
          <p:nvPr/>
        </p:nvSpPr>
        <p:spPr>
          <a:xfrm>
            <a:off x="1805639" y="2232422"/>
            <a:ext cx="1516317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38A1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True</a:t>
            </a:r>
            <a:endParaRPr lang="en-US" sz="837" dirty="0"/>
          </a:p>
        </p:txBody>
      </p:sp>
      <p:sp>
        <p:nvSpPr>
          <p:cNvPr id="23" name="Text 20"/>
          <p:cNvSpPr/>
          <p:nvPr/>
        </p:nvSpPr>
        <p:spPr>
          <a:xfrm>
            <a:off x="3321955" y="2232422"/>
            <a:ext cx="1975135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E53E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False</a:t>
            </a:r>
            <a:endParaRPr lang="en-US" sz="837" dirty="0"/>
          </a:p>
        </p:txBody>
      </p:sp>
      <p:sp>
        <p:nvSpPr>
          <p:cNvPr id="24" name="Shape 21"/>
          <p:cNvSpPr/>
          <p:nvPr/>
        </p:nvSpPr>
        <p:spPr>
          <a:xfrm>
            <a:off x="289322" y="2496741"/>
            <a:ext cx="5007769" cy="26431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5" name="Text 22"/>
          <p:cNvSpPr/>
          <p:nvPr/>
        </p:nvSpPr>
        <p:spPr>
          <a:xfrm>
            <a:off x="289322" y="2496741"/>
            <a:ext cx="1516317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E53E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False</a:t>
            </a:r>
            <a:endParaRPr lang="en-US" sz="837" dirty="0"/>
          </a:p>
        </p:txBody>
      </p:sp>
      <p:sp>
        <p:nvSpPr>
          <p:cNvPr id="26" name="Text 23"/>
          <p:cNvSpPr/>
          <p:nvPr/>
        </p:nvSpPr>
        <p:spPr>
          <a:xfrm>
            <a:off x="1805639" y="2496741"/>
            <a:ext cx="1516317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E53E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False</a:t>
            </a:r>
            <a:endParaRPr lang="en-US" sz="837" dirty="0"/>
          </a:p>
        </p:txBody>
      </p:sp>
      <p:sp>
        <p:nvSpPr>
          <p:cNvPr id="27" name="Text 24"/>
          <p:cNvSpPr/>
          <p:nvPr/>
        </p:nvSpPr>
        <p:spPr>
          <a:xfrm>
            <a:off x="3321955" y="2496741"/>
            <a:ext cx="1975135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E53E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False</a:t>
            </a:r>
            <a:endParaRPr lang="en-US" sz="837" dirty="0"/>
          </a:p>
        </p:txBody>
      </p:sp>
      <p:sp>
        <p:nvSpPr>
          <p:cNvPr id="28" name="Text 25"/>
          <p:cNvSpPr/>
          <p:nvPr/>
        </p:nvSpPr>
        <p:spPr>
          <a:xfrm>
            <a:off x="285750" y="2943225"/>
            <a:ext cx="50149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 (OU lógico)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285750" y="3245048"/>
            <a:ext cx="51488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Retorna </a:t>
            </a:r>
            <a:endParaRPr lang="en-US" sz="942" dirty="0"/>
          </a:p>
        </p:txBody>
      </p:sp>
      <p:sp>
        <p:nvSpPr>
          <p:cNvPr id="30" name="Text 27"/>
          <p:cNvSpPr/>
          <p:nvPr/>
        </p:nvSpPr>
        <p:spPr>
          <a:xfrm>
            <a:off x="800630" y="3245048"/>
            <a:ext cx="2868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38A1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True</a:t>
            </a:r>
            <a:endParaRPr lang="en-US" sz="942" dirty="0"/>
          </a:p>
        </p:txBody>
      </p:sp>
      <p:sp>
        <p:nvSpPr>
          <p:cNvPr id="31" name="Text 28"/>
          <p:cNvSpPr/>
          <p:nvPr/>
        </p:nvSpPr>
        <p:spPr>
          <a:xfrm>
            <a:off x="1087524" y="3245048"/>
            <a:ext cx="302194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 pelo menos uma das condições for verdadeira.</a:t>
            </a:r>
            <a:endParaRPr lang="en-US" sz="942" dirty="0"/>
          </a:p>
        </p:txBody>
      </p:sp>
      <p:sp>
        <p:nvSpPr>
          <p:cNvPr id="32" name="Shape 29"/>
          <p:cNvSpPr/>
          <p:nvPr/>
        </p:nvSpPr>
        <p:spPr>
          <a:xfrm>
            <a:off x="289322" y="3504009"/>
            <a:ext cx="1612283" cy="264319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89322" y="3504009"/>
            <a:ext cx="1612283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</a:t>
            </a:r>
            <a:endParaRPr lang="en-US" sz="837" dirty="0"/>
          </a:p>
        </p:txBody>
      </p:sp>
      <p:sp>
        <p:nvSpPr>
          <p:cNvPr id="34" name="Shape 31"/>
          <p:cNvSpPr/>
          <p:nvPr/>
        </p:nvSpPr>
        <p:spPr>
          <a:xfrm>
            <a:off x="1901605" y="3504009"/>
            <a:ext cx="1612283" cy="264319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901605" y="3504009"/>
            <a:ext cx="1612283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</a:t>
            </a:r>
            <a:endParaRPr lang="en-US" sz="837" dirty="0"/>
          </a:p>
        </p:txBody>
      </p:sp>
      <p:sp>
        <p:nvSpPr>
          <p:cNvPr id="36" name="Shape 33"/>
          <p:cNvSpPr/>
          <p:nvPr/>
        </p:nvSpPr>
        <p:spPr>
          <a:xfrm>
            <a:off x="3513888" y="3504009"/>
            <a:ext cx="1783203" cy="264319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513888" y="3504009"/>
            <a:ext cx="1783203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or B</a:t>
            </a:r>
            <a:endParaRPr lang="en-US" sz="837" dirty="0"/>
          </a:p>
        </p:txBody>
      </p:sp>
      <p:sp>
        <p:nvSpPr>
          <p:cNvPr id="38" name="Text 35"/>
          <p:cNvSpPr/>
          <p:nvPr/>
        </p:nvSpPr>
        <p:spPr>
          <a:xfrm>
            <a:off x="289322" y="3761184"/>
            <a:ext cx="1620738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38A1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True</a:t>
            </a:r>
            <a:endParaRPr lang="en-US" sz="837" dirty="0"/>
          </a:p>
        </p:txBody>
      </p:sp>
      <p:sp>
        <p:nvSpPr>
          <p:cNvPr id="39" name="Text 36"/>
          <p:cNvSpPr/>
          <p:nvPr/>
        </p:nvSpPr>
        <p:spPr>
          <a:xfrm>
            <a:off x="1910060" y="3761184"/>
            <a:ext cx="1620738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38A1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True</a:t>
            </a:r>
            <a:endParaRPr lang="en-US" sz="837" dirty="0"/>
          </a:p>
        </p:txBody>
      </p:sp>
      <p:sp>
        <p:nvSpPr>
          <p:cNvPr id="40" name="Text 37"/>
          <p:cNvSpPr/>
          <p:nvPr/>
        </p:nvSpPr>
        <p:spPr>
          <a:xfrm>
            <a:off x="3530798" y="3761184"/>
            <a:ext cx="1766292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38A1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True</a:t>
            </a:r>
            <a:endParaRPr lang="en-US" sz="837" dirty="0"/>
          </a:p>
        </p:txBody>
      </p:sp>
      <p:sp>
        <p:nvSpPr>
          <p:cNvPr id="41" name="Shape 38"/>
          <p:cNvSpPr/>
          <p:nvPr/>
        </p:nvSpPr>
        <p:spPr>
          <a:xfrm>
            <a:off x="289322" y="4025503"/>
            <a:ext cx="5007769" cy="26431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2" name="Text 39"/>
          <p:cNvSpPr/>
          <p:nvPr/>
        </p:nvSpPr>
        <p:spPr>
          <a:xfrm>
            <a:off x="289322" y="4025503"/>
            <a:ext cx="1620738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38A1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True</a:t>
            </a:r>
            <a:endParaRPr lang="en-US" sz="837" dirty="0"/>
          </a:p>
        </p:txBody>
      </p:sp>
      <p:sp>
        <p:nvSpPr>
          <p:cNvPr id="43" name="Text 40"/>
          <p:cNvSpPr/>
          <p:nvPr/>
        </p:nvSpPr>
        <p:spPr>
          <a:xfrm>
            <a:off x="1910060" y="4025503"/>
            <a:ext cx="1620738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E53E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False</a:t>
            </a:r>
            <a:endParaRPr lang="en-US" sz="837" dirty="0"/>
          </a:p>
        </p:txBody>
      </p:sp>
      <p:sp>
        <p:nvSpPr>
          <p:cNvPr id="44" name="Text 41"/>
          <p:cNvSpPr/>
          <p:nvPr/>
        </p:nvSpPr>
        <p:spPr>
          <a:xfrm>
            <a:off x="3530798" y="4025503"/>
            <a:ext cx="1766292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38A1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True</a:t>
            </a:r>
            <a:endParaRPr lang="en-US" sz="837" dirty="0"/>
          </a:p>
        </p:txBody>
      </p:sp>
      <p:sp>
        <p:nvSpPr>
          <p:cNvPr id="45" name="Text 42"/>
          <p:cNvSpPr/>
          <p:nvPr/>
        </p:nvSpPr>
        <p:spPr>
          <a:xfrm>
            <a:off x="289322" y="4289822"/>
            <a:ext cx="1620738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E53E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False</a:t>
            </a:r>
            <a:endParaRPr lang="en-US" sz="837" dirty="0"/>
          </a:p>
        </p:txBody>
      </p:sp>
      <p:sp>
        <p:nvSpPr>
          <p:cNvPr id="46" name="Text 43"/>
          <p:cNvSpPr/>
          <p:nvPr/>
        </p:nvSpPr>
        <p:spPr>
          <a:xfrm>
            <a:off x="1910060" y="4289822"/>
            <a:ext cx="1620738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38A1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True</a:t>
            </a:r>
            <a:endParaRPr lang="en-US" sz="837" dirty="0"/>
          </a:p>
        </p:txBody>
      </p:sp>
      <p:sp>
        <p:nvSpPr>
          <p:cNvPr id="47" name="Text 44"/>
          <p:cNvSpPr/>
          <p:nvPr/>
        </p:nvSpPr>
        <p:spPr>
          <a:xfrm>
            <a:off x="3530798" y="4289822"/>
            <a:ext cx="1766292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38A1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True</a:t>
            </a:r>
            <a:endParaRPr lang="en-US" sz="837" dirty="0"/>
          </a:p>
        </p:txBody>
      </p:sp>
      <p:sp>
        <p:nvSpPr>
          <p:cNvPr id="48" name="Shape 45"/>
          <p:cNvSpPr/>
          <p:nvPr/>
        </p:nvSpPr>
        <p:spPr>
          <a:xfrm>
            <a:off x="289322" y="4554141"/>
            <a:ext cx="5007769" cy="26431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9" name="Text 46"/>
          <p:cNvSpPr/>
          <p:nvPr/>
        </p:nvSpPr>
        <p:spPr>
          <a:xfrm>
            <a:off x="289322" y="4554141"/>
            <a:ext cx="1620738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E53E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False</a:t>
            </a:r>
            <a:endParaRPr lang="en-US" sz="837" dirty="0"/>
          </a:p>
        </p:txBody>
      </p:sp>
      <p:sp>
        <p:nvSpPr>
          <p:cNvPr id="50" name="Text 47"/>
          <p:cNvSpPr/>
          <p:nvPr/>
        </p:nvSpPr>
        <p:spPr>
          <a:xfrm>
            <a:off x="1910060" y="4554141"/>
            <a:ext cx="1620738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E53E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False</a:t>
            </a:r>
            <a:endParaRPr lang="en-US" sz="837" dirty="0"/>
          </a:p>
        </p:txBody>
      </p:sp>
      <p:sp>
        <p:nvSpPr>
          <p:cNvPr id="51" name="Text 48"/>
          <p:cNvSpPr/>
          <p:nvPr/>
        </p:nvSpPr>
        <p:spPr>
          <a:xfrm>
            <a:off x="3530798" y="4554141"/>
            <a:ext cx="1766292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E53E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False</a:t>
            </a:r>
            <a:endParaRPr lang="en-US" sz="837" dirty="0"/>
          </a:p>
        </p:txBody>
      </p:sp>
      <p:sp>
        <p:nvSpPr>
          <p:cNvPr id="52" name="Text 49"/>
          <p:cNvSpPr/>
          <p:nvPr/>
        </p:nvSpPr>
        <p:spPr>
          <a:xfrm>
            <a:off x="285750" y="5000625"/>
            <a:ext cx="50149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 (NÃO lógico)</a:t>
            </a:r>
            <a:endParaRPr lang="en-US" sz="1350" dirty="0"/>
          </a:p>
        </p:txBody>
      </p:sp>
      <p:sp>
        <p:nvSpPr>
          <p:cNvPr id="53" name="Text 50"/>
          <p:cNvSpPr/>
          <p:nvPr/>
        </p:nvSpPr>
        <p:spPr>
          <a:xfrm>
            <a:off x="285750" y="5293519"/>
            <a:ext cx="50149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Inverte o valor booleano.</a:t>
            </a:r>
            <a:endParaRPr lang="en-US" sz="942" dirty="0"/>
          </a:p>
        </p:txBody>
      </p:sp>
      <p:sp>
        <p:nvSpPr>
          <p:cNvPr id="54" name="Shape 51"/>
          <p:cNvSpPr/>
          <p:nvPr/>
        </p:nvSpPr>
        <p:spPr>
          <a:xfrm>
            <a:off x="289322" y="5561409"/>
            <a:ext cx="2467412" cy="264319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289322" y="5561409"/>
            <a:ext cx="2467412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</a:t>
            </a:r>
            <a:endParaRPr lang="en-US" sz="837" dirty="0"/>
          </a:p>
        </p:txBody>
      </p:sp>
      <p:sp>
        <p:nvSpPr>
          <p:cNvPr id="56" name="Shape 53"/>
          <p:cNvSpPr/>
          <p:nvPr/>
        </p:nvSpPr>
        <p:spPr>
          <a:xfrm>
            <a:off x="2756734" y="5561409"/>
            <a:ext cx="2540357" cy="264319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756734" y="5561409"/>
            <a:ext cx="2540357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 A</a:t>
            </a:r>
            <a:endParaRPr lang="en-US" sz="837" dirty="0"/>
          </a:p>
        </p:txBody>
      </p:sp>
      <p:sp>
        <p:nvSpPr>
          <p:cNvPr id="58" name="Text 55"/>
          <p:cNvSpPr/>
          <p:nvPr/>
        </p:nvSpPr>
        <p:spPr>
          <a:xfrm>
            <a:off x="289322" y="5818584"/>
            <a:ext cx="2487281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38A1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True</a:t>
            </a:r>
            <a:endParaRPr lang="en-US" sz="837" dirty="0"/>
          </a:p>
        </p:txBody>
      </p:sp>
      <p:sp>
        <p:nvSpPr>
          <p:cNvPr id="59" name="Text 56"/>
          <p:cNvSpPr/>
          <p:nvPr/>
        </p:nvSpPr>
        <p:spPr>
          <a:xfrm>
            <a:off x="2776603" y="5818584"/>
            <a:ext cx="2520488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E53E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False</a:t>
            </a:r>
            <a:endParaRPr lang="en-US" sz="837" dirty="0"/>
          </a:p>
        </p:txBody>
      </p:sp>
      <p:sp>
        <p:nvSpPr>
          <p:cNvPr id="60" name="Shape 57"/>
          <p:cNvSpPr/>
          <p:nvPr/>
        </p:nvSpPr>
        <p:spPr>
          <a:xfrm>
            <a:off x="289322" y="6082903"/>
            <a:ext cx="5007769" cy="264319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1" name="Text 58"/>
          <p:cNvSpPr/>
          <p:nvPr/>
        </p:nvSpPr>
        <p:spPr>
          <a:xfrm>
            <a:off x="289322" y="6082903"/>
            <a:ext cx="2487281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E53E3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False</a:t>
            </a:r>
            <a:endParaRPr lang="en-US" sz="837" dirty="0"/>
          </a:p>
        </p:txBody>
      </p:sp>
      <p:sp>
        <p:nvSpPr>
          <p:cNvPr id="62" name="Text 59"/>
          <p:cNvSpPr/>
          <p:nvPr/>
        </p:nvSpPr>
        <p:spPr>
          <a:xfrm>
            <a:off x="2776603" y="6082903"/>
            <a:ext cx="2520488" cy="264319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38A16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True</a:t>
            </a:r>
            <a:endParaRPr lang="en-US" sz="837" dirty="0"/>
          </a:p>
        </p:txBody>
      </p:sp>
      <p:pic>
        <p:nvPicPr>
          <p:cNvPr id="6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268950"/>
            <a:ext cx="2714625" cy="152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Exemplos de Operadores Lógicos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5750" y="885825"/>
            <a:ext cx="2436019" cy="1334374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5" name="Text 2"/>
          <p:cNvSpPr/>
          <p:nvPr/>
        </p:nvSpPr>
        <p:spPr>
          <a:xfrm>
            <a:off x="392906" y="994767"/>
            <a:ext cx="15138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Exemplo 1: Operador AND</a:t>
            </a:r>
            <a:endParaRPr lang="en-US" sz="837" dirty="0"/>
          </a:p>
        </p:txBody>
      </p:sp>
      <p:sp>
        <p:nvSpPr>
          <p:cNvPr id="6" name="Text 3"/>
          <p:cNvSpPr/>
          <p:nvPr/>
        </p:nvSpPr>
        <p:spPr>
          <a:xfrm>
            <a:off x="392906" y="1154776"/>
            <a:ext cx="5542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idade = 25</a:t>
            </a:r>
            <a:endParaRPr lang="en-US" sz="837" dirty="0"/>
          </a:p>
        </p:txBody>
      </p:sp>
      <p:sp>
        <p:nvSpPr>
          <p:cNvPr id="7" name="Text 4"/>
          <p:cNvSpPr/>
          <p:nvPr/>
        </p:nvSpPr>
        <p:spPr>
          <a:xfrm>
            <a:off x="392906" y="1314785"/>
            <a:ext cx="10387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tem_carteira = True</a:t>
            </a:r>
            <a:endParaRPr lang="en-US" sz="837" dirty="0"/>
          </a:p>
        </p:txBody>
      </p:sp>
      <p:sp>
        <p:nvSpPr>
          <p:cNvPr id="8" name="Text 5"/>
          <p:cNvSpPr/>
          <p:nvPr/>
        </p:nvSpPr>
        <p:spPr>
          <a:xfrm>
            <a:off x="392906" y="1634803"/>
            <a:ext cx="16276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pode_dirigir = idade &gt;= 18 and 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392906" y="1794811"/>
            <a:ext cx="67380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tem_carteira</a:t>
            </a:r>
            <a:endParaRPr lang="en-US" sz="837" dirty="0"/>
          </a:p>
        </p:txBody>
      </p:sp>
      <p:sp>
        <p:nvSpPr>
          <p:cNvPr id="10" name="Text 7"/>
          <p:cNvSpPr/>
          <p:nvPr/>
        </p:nvSpPr>
        <p:spPr>
          <a:xfrm>
            <a:off x="392906" y="1954820"/>
            <a:ext cx="188882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print(f"Pode dirigir: {pode_dirigir}") </a:t>
            </a:r>
            <a:endParaRPr lang="en-US" sz="837" dirty="0"/>
          </a:p>
        </p:txBody>
      </p:sp>
      <p:sp>
        <p:nvSpPr>
          <p:cNvPr id="11" name="Shape 8"/>
          <p:cNvSpPr/>
          <p:nvPr/>
        </p:nvSpPr>
        <p:spPr>
          <a:xfrm>
            <a:off x="285750" y="2291637"/>
            <a:ext cx="2436019" cy="28575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" name="Shape 9"/>
          <p:cNvSpPr/>
          <p:nvPr/>
        </p:nvSpPr>
        <p:spPr>
          <a:xfrm>
            <a:off x="285750" y="2291637"/>
            <a:ext cx="28575" cy="28575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13" name="Text 10"/>
          <p:cNvSpPr/>
          <p:nvPr/>
        </p:nvSpPr>
        <p:spPr>
          <a:xfrm>
            <a:off x="285750" y="2291637"/>
            <a:ext cx="2436019" cy="28575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Pode dirigir: True </a:t>
            </a:r>
            <a:endParaRPr lang="en-US" sz="837" dirty="0"/>
          </a:p>
        </p:txBody>
      </p:sp>
      <p:sp>
        <p:nvSpPr>
          <p:cNvPr id="14" name="Shape 11"/>
          <p:cNvSpPr/>
          <p:nvPr/>
        </p:nvSpPr>
        <p:spPr>
          <a:xfrm>
            <a:off x="2864644" y="885825"/>
            <a:ext cx="2436019" cy="1494383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5" name="Text 12"/>
          <p:cNvSpPr/>
          <p:nvPr/>
        </p:nvSpPr>
        <p:spPr>
          <a:xfrm>
            <a:off x="2971800" y="994767"/>
            <a:ext cx="143081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Exemplo 2: Operador OR</a:t>
            </a:r>
            <a:endParaRPr lang="en-US" sz="837" dirty="0"/>
          </a:p>
        </p:txBody>
      </p:sp>
      <p:sp>
        <p:nvSpPr>
          <p:cNvPr id="16" name="Text 13"/>
          <p:cNvSpPr/>
          <p:nvPr/>
        </p:nvSpPr>
        <p:spPr>
          <a:xfrm>
            <a:off x="2971800" y="1154776"/>
            <a:ext cx="109271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eh_estudante = True</a:t>
            </a:r>
            <a:endParaRPr lang="en-US" sz="837" dirty="0"/>
          </a:p>
        </p:txBody>
      </p:sp>
      <p:sp>
        <p:nvSpPr>
          <p:cNvPr id="17" name="Text 14"/>
          <p:cNvSpPr/>
          <p:nvPr/>
        </p:nvSpPr>
        <p:spPr>
          <a:xfrm>
            <a:off x="2971800" y="1314785"/>
            <a:ext cx="8756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eh_idoso = False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2971800" y="1634803"/>
            <a:ext cx="17565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tem_desconto = eh_estudante or </a:t>
            </a:r>
            <a:endParaRPr lang="en-US" sz="837" dirty="0"/>
          </a:p>
        </p:txBody>
      </p:sp>
      <p:sp>
        <p:nvSpPr>
          <p:cNvPr id="19" name="Text 16"/>
          <p:cNvSpPr/>
          <p:nvPr/>
        </p:nvSpPr>
        <p:spPr>
          <a:xfrm>
            <a:off x="2971800" y="1794811"/>
            <a:ext cx="47871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eh_idoso</a:t>
            </a:r>
            <a:endParaRPr lang="en-US" sz="837" dirty="0"/>
          </a:p>
        </p:txBody>
      </p:sp>
      <p:sp>
        <p:nvSpPr>
          <p:cNvPr id="20" name="Text 17"/>
          <p:cNvSpPr/>
          <p:nvPr/>
        </p:nvSpPr>
        <p:spPr>
          <a:xfrm>
            <a:off x="2971800" y="1954820"/>
            <a:ext cx="16427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print(f"Tem direito a desconto: </a:t>
            </a:r>
            <a:endParaRPr lang="en-US" sz="837" dirty="0"/>
          </a:p>
        </p:txBody>
      </p:sp>
      <p:sp>
        <p:nvSpPr>
          <p:cNvPr id="21" name="Text 18"/>
          <p:cNvSpPr/>
          <p:nvPr/>
        </p:nvSpPr>
        <p:spPr>
          <a:xfrm>
            <a:off x="2971800" y="2114829"/>
            <a:ext cx="92573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{tem_desconto}") </a:t>
            </a:r>
            <a:endParaRPr lang="en-US" sz="837" dirty="0"/>
          </a:p>
        </p:txBody>
      </p:sp>
      <p:sp>
        <p:nvSpPr>
          <p:cNvPr id="22" name="Shape 19"/>
          <p:cNvSpPr/>
          <p:nvPr/>
        </p:nvSpPr>
        <p:spPr>
          <a:xfrm>
            <a:off x="2864644" y="2451646"/>
            <a:ext cx="2436019" cy="28575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3" name="Shape 20"/>
          <p:cNvSpPr/>
          <p:nvPr/>
        </p:nvSpPr>
        <p:spPr>
          <a:xfrm>
            <a:off x="2864644" y="2451646"/>
            <a:ext cx="28575" cy="28575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24" name="Text 21"/>
          <p:cNvSpPr/>
          <p:nvPr/>
        </p:nvSpPr>
        <p:spPr>
          <a:xfrm>
            <a:off x="2864644" y="2451646"/>
            <a:ext cx="2436019" cy="28575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Tem direito a desconto: True </a:t>
            </a:r>
            <a:endParaRPr lang="en-US" sz="837" dirty="0"/>
          </a:p>
        </p:txBody>
      </p:sp>
      <p:sp>
        <p:nvSpPr>
          <p:cNvPr id="25" name="Shape 22"/>
          <p:cNvSpPr/>
          <p:nvPr/>
        </p:nvSpPr>
        <p:spPr>
          <a:xfrm>
            <a:off x="285750" y="3085374"/>
            <a:ext cx="2436019" cy="1174366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6" name="Text 23"/>
          <p:cNvSpPr/>
          <p:nvPr/>
        </p:nvSpPr>
        <p:spPr>
          <a:xfrm>
            <a:off x="392906" y="3194317"/>
            <a:ext cx="150671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Exemplo 3: Operador NOT</a:t>
            </a:r>
            <a:endParaRPr lang="en-US" sz="837" dirty="0"/>
          </a:p>
        </p:txBody>
      </p:sp>
      <p:sp>
        <p:nvSpPr>
          <p:cNvPr id="27" name="Text 24"/>
          <p:cNvSpPr/>
          <p:nvPr/>
        </p:nvSpPr>
        <p:spPr>
          <a:xfrm>
            <a:off x="392906" y="3354325"/>
            <a:ext cx="119730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esta_chovendo = False</a:t>
            </a:r>
            <a:endParaRPr lang="en-US" sz="837" dirty="0"/>
          </a:p>
        </p:txBody>
      </p:sp>
      <p:sp>
        <p:nvSpPr>
          <p:cNvPr id="28" name="Text 25"/>
          <p:cNvSpPr/>
          <p:nvPr/>
        </p:nvSpPr>
        <p:spPr>
          <a:xfrm>
            <a:off x="392906" y="3674343"/>
            <a:ext cx="219089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nao_esta_chovendo = not esta_chovendo</a:t>
            </a:r>
            <a:endParaRPr lang="en-US" sz="837" dirty="0"/>
          </a:p>
        </p:txBody>
      </p:sp>
      <p:sp>
        <p:nvSpPr>
          <p:cNvPr id="29" name="Text 26"/>
          <p:cNvSpPr/>
          <p:nvPr/>
        </p:nvSpPr>
        <p:spPr>
          <a:xfrm>
            <a:off x="392906" y="3834352"/>
            <a:ext cx="14458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print(f"Não está chovendo: </a:t>
            </a:r>
            <a:endParaRPr lang="en-US" sz="837" dirty="0"/>
          </a:p>
        </p:txBody>
      </p:sp>
      <p:sp>
        <p:nvSpPr>
          <p:cNvPr id="30" name="Text 27"/>
          <p:cNvSpPr/>
          <p:nvPr/>
        </p:nvSpPr>
        <p:spPr>
          <a:xfrm>
            <a:off x="392906" y="3994361"/>
            <a:ext cx="12227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{nao_esta_chovendo}") </a:t>
            </a:r>
            <a:endParaRPr lang="en-US" sz="837" dirty="0"/>
          </a:p>
        </p:txBody>
      </p:sp>
      <p:sp>
        <p:nvSpPr>
          <p:cNvPr id="31" name="Shape 28"/>
          <p:cNvSpPr/>
          <p:nvPr/>
        </p:nvSpPr>
        <p:spPr>
          <a:xfrm>
            <a:off x="285750" y="4331177"/>
            <a:ext cx="2436019" cy="28575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2" name="Shape 29"/>
          <p:cNvSpPr/>
          <p:nvPr/>
        </p:nvSpPr>
        <p:spPr>
          <a:xfrm>
            <a:off x="285750" y="4331177"/>
            <a:ext cx="28575" cy="28575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33" name="Text 30"/>
          <p:cNvSpPr/>
          <p:nvPr/>
        </p:nvSpPr>
        <p:spPr>
          <a:xfrm>
            <a:off x="285750" y="4331177"/>
            <a:ext cx="2436019" cy="285750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Não está chovendo: True </a:t>
            </a:r>
            <a:endParaRPr lang="en-US" sz="837" dirty="0"/>
          </a:p>
        </p:txBody>
      </p:sp>
      <p:sp>
        <p:nvSpPr>
          <p:cNvPr id="34" name="Text 31"/>
          <p:cNvSpPr/>
          <p:nvPr/>
        </p:nvSpPr>
        <p:spPr>
          <a:xfrm>
            <a:off x="2864644" y="3550081"/>
            <a:ext cx="2164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</a:t>
            </a:r>
            <a:endParaRPr lang="en-US" sz="837" dirty="0"/>
          </a:p>
        </p:txBody>
      </p:sp>
      <p:sp>
        <p:nvSpPr>
          <p:cNvPr id="35" name="Text 32"/>
          <p:cNvSpPr/>
          <p:nvPr/>
        </p:nvSpPr>
        <p:spPr>
          <a:xfrm>
            <a:off x="3081133" y="3550081"/>
            <a:ext cx="201294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Retorna True se ambas as condições </a:t>
            </a:r>
            <a:endParaRPr lang="en-US" sz="837" dirty="0"/>
          </a:p>
        </p:txBody>
      </p:sp>
      <p:sp>
        <p:nvSpPr>
          <p:cNvPr id="36" name="Text 33"/>
          <p:cNvSpPr/>
          <p:nvPr/>
        </p:nvSpPr>
        <p:spPr>
          <a:xfrm>
            <a:off x="2864644" y="3721531"/>
            <a:ext cx="5946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forem True</a:t>
            </a:r>
            <a:endParaRPr lang="en-US" sz="837" dirty="0"/>
          </a:p>
        </p:txBody>
      </p:sp>
      <p:sp>
        <p:nvSpPr>
          <p:cNvPr id="37" name="Text 34"/>
          <p:cNvSpPr/>
          <p:nvPr/>
        </p:nvSpPr>
        <p:spPr>
          <a:xfrm>
            <a:off x="2864644" y="3892981"/>
            <a:ext cx="1226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</a:t>
            </a:r>
            <a:endParaRPr lang="en-US" sz="837" dirty="0"/>
          </a:p>
        </p:txBody>
      </p:sp>
      <p:sp>
        <p:nvSpPr>
          <p:cNvPr id="38" name="Text 35"/>
          <p:cNvSpPr/>
          <p:nvPr/>
        </p:nvSpPr>
        <p:spPr>
          <a:xfrm>
            <a:off x="2987315" y="3892981"/>
            <a:ext cx="18371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Retorna True se pelo menos uma </a:t>
            </a:r>
            <a:endParaRPr lang="en-US" sz="837" dirty="0"/>
          </a:p>
        </p:txBody>
      </p:sp>
      <p:sp>
        <p:nvSpPr>
          <p:cNvPr id="39" name="Text 36"/>
          <p:cNvSpPr/>
          <p:nvPr/>
        </p:nvSpPr>
        <p:spPr>
          <a:xfrm>
            <a:off x="2864644" y="4064431"/>
            <a:ext cx="93784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condição for True</a:t>
            </a:r>
            <a:endParaRPr lang="en-US" sz="837" dirty="0"/>
          </a:p>
        </p:txBody>
      </p:sp>
      <p:sp>
        <p:nvSpPr>
          <p:cNvPr id="40" name="Text 37"/>
          <p:cNvSpPr/>
          <p:nvPr/>
        </p:nvSpPr>
        <p:spPr>
          <a:xfrm>
            <a:off x="2864644" y="4235881"/>
            <a:ext cx="19547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</a:t>
            </a:r>
            <a:endParaRPr lang="en-US" sz="837" dirty="0"/>
          </a:p>
        </p:txBody>
      </p:sp>
      <p:sp>
        <p:nvSpPr>
          <p:cNvPr id="41" name="Text 38"/>
          <p:cNvSpPr/>
          <p:nvPr/>
        </p:nvSpPr>
        <p:spPr>
          <a:xfrm>
            <a:off x="3060120" y="4235881"/>
            <a:ext cx="137801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: Inverte o valor booleano</a:t>
            </a:r>
            <a:endParaRPr lang="en-US" sz="837" dirty="0"/>
          </a:p>
        </p:txBody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1851822"/>
            <a:ext cx="2714597" cy="20399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Precedência e Associação de Operadores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9322" y="889397"/>
            <a:ext cx="1033751" cy="292894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89322" y="889397"/>
            <a:ext cx="1033751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Precedência</a:t>
            </a:r>
            <a:endParaRPr lang="en-US" sz="837" dirty="0"/>
          </a:p>
        </p:txBody>
      </p:sp>
      <p:sp>
        <p:nvSpPr>
          <p:cNvPr id="6" name="Shape 3"/>
          <p:cNvSpPr/>
          <p:nvPr/>
        </p:nvSpPr>
        <p:spPr>
          <a:xfrm>
            <a:off x="1323073" y="889397"/>
            <a:ext cx="1177575" cy="292894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23073" y="889397"/>
            <a:ext cx="1177575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Operador</a:t>
            </a:r>
            <a:endParaRPr lang="en-US" sz="837" dirty="0"/>
          </a:p>
        </p:txBody>
      </p:sp>
      <p:sp>
        <p:nvSpPr>
          <p:cNvPr id="8" name="Shape 5"/>
          <p:cNvSpPr/>
          <p:nvPr/>
        </p:nvSpPr>
        <p:spPr>
          <a:xfrm>
            <a:off x="2500647" y="889397"/>
            <a:ext cx="2796443" cy="292894"/>
          </a:xfrm>
          <a:prstGeom prst="rect">
            <a:avLst/>
          </a:prstGeom>
          <a:solidFill>
            <a:srgbClr val="EBF8FF"/>
          </a:solidFill>
          <a:ln w="99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00647" y="889397"/>
            <a:ext cx="2796443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837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Descrição</a:t>
            </a:r>
            <a:endParaRPr lang="en-US" sz="837" dirty="0"/>
          </a:p>
        </p:txBody>
      </p:sp>
      <p:sp>
        <p:nvSpPr>
          <p:cNvPr id="10" name="Text 7"/>
          <p:cNvSpPr/>
          <p:nvPr/>
        </p:nvSpPr>
        <p:spPr>
          <a:xfrm>
            <a:off x="289322" y="1175147"/>
            <a:ext cx="1033751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(mais alta)</a:t>
            </a:r>
            <a:endParaRPr lang="en-US" sz="837" dirty="0"/>
          </a:p>
        </p:txBody>
      </p:sp>
      <p:sp>
        <p:nvSpPr>
          <p:cNvPr id="11" name="Text 8"/>
          <p:cNvSpPr/>
          <p:nvPr/>
        </p:nvSpPr>
        <p:spPr>
          <a:xfrm>
            <a:off x="1323073" y="1175147"/>
            <a:ext cx="1177575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**</a:t>
            </a:r>
            <a:endParaRPr lang="en-US" sz="837" dirty="0"/>
          </a:p>
        </p:txBody>
      </p:sp>
      <p:sp>
        <p:nvSpPr>
          <p:cNvPr id="12" name="Text 9"/>
          <p:cNvSpPr/>
          <p:nvPr/>
        </p:nvSpPr>
        <p:spPr>
          <a:xfrm>
            <a:off x="2500647" y="1175147"/>
            <a:ext cx="2796443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Exponenciação</a:t>
            </a:r>
            <a:endParaRPr lang="en-US" sz="837" dirty="0"/>
          </a:p>
        </p:txBody>
      </p:sp>
      <p:sp>
        <p:nvSpPr>
          <p:cNvPr id="13" name="Shape 10"/>
          <p:cNvSpPr/>
          <p:nvPr/>
        </p:nvSpPr>
        <p:spPr>
          <a:xfrm>
            <a:off x="289322" y="1468041"/>
            <a:ext cx="5007769" cy="29289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4" name="Text 11"/>
          <p:cNvSpPr/>
          <p:nvPr/>
        </p:nvSpPr>
        <p:spPr>
          <a:xfrm>
            <a:off x="289322" y="1468041"/>
            <a:ext cx="1033751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837" dirty="0"/>
          </a:p>
        </p:txBody>
      </p:sp>
      <p:sp>
        <p:nvSpPr>
          <p:cNvPr id="15" name="Text 12"/>
          <p:cNvSpPr/>
          <p:nvPr/>
        </p:nvSpPr>
        <p:spPr>
          <a:xfrm>
            <a:off x="1323073" y="1468041"/>
            <a:ext cx="1177575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+x, -x, ~x</a:t>
            </a:r>
            <a:endParaRPr lang="en-US" sz="837" dirty="0"/>
          </a:p>
        </p:txBody>
      </p:sp>
      <p:sp>
        <p:nvSpPr>
          <p:cNvPr id="16" name="Text 13"/>
          <p:cNvSpPr/>
          <p:nvPr/>
        </p:nvSpPr>
        <p:spPr>
          <a:xfrm>
            <a:off x="2500647" y="1468041"/>
            <a:ext cx="2796443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Operadores unários</a:t>
            </a:r>
            <a:endParaRPr lang="en-US" sz="837" dirty="0"/>
          </a:p>
        </p:txBody>
      </p:sp>
      <p:sp>
        <p:nvSpPr>
          <p:cNvPr id="17" name="Text 14"/>
          <p:cNvSpPr/>
          <p:nvPr/>
        </p:nvSpPr>
        <p:spPr>
          <a:xfrm>
            <a:off x="289322" y="1760934"/>
            <a:ext cx="1033751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1323073" y="1760934"/>
            <a:ext cx="1177575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*, /, //, %</a:t>
            </a:r>
            <a:endParaRPr lang="en-US" sz="837" dirty="0"/>
          </a:p>
        </p:txBody>
      </p:sp>
      <p:sp>
        <p:nvSpPr>
          <p:cNvPr id="19" name="Text 16"/>
          <p:cNvSpPr/>
          <p:nvPr/>
        </p:nvSpPr>
        <p:spPr>
          <a:xfrm>
            <a:off x="2500647" y="1760934"/>
            <a:ext cx="2796443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Multiplicação, divisão, divisão inteira, módulo</a:t>
            </a:r>
            <a:endParaRPr lang="en-US" sz="837" dirty="0"/>
          </a:p>
        </p:txBody>
      </p:sp>
      <p:sp>
        <p:nvSpPr>
          <p:cNvPr id="20" name="Shape 17"/>
          <p:cNvSpPr/>
          <p:nvPr/>
        </p:nvSpPr>
        <p:spPr>
          <a:xfrm>
            <a:off x="289322" y="2053828"/>
            <a:ext cx="5007769" cy="29289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1" name="Text 18"/>
          <p:cNvSpPr/>
          <p:nvPr/>
        </p:nvSpPr>
        <p:spPr>
          <a:xfrm>
            <a:off x="289322" y="2053828"/>
            <a:ext cx="1033751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837" dirty="0"/>
          </a:p>
        </p:txBody>
      </p:sp>
      <p:sp>
        <p:nvSpPr>
          <p:cNvPr id="22" name="Text 19"/>
          <p:cNvSpPr/>
          <p:nvPr/>
        </p:nvSpPr>
        <p:spPr>
          <a:xfrm>
            <a:off x="1323073" y="2053828"/>
            <a:ext cx="1177575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+, -</a:t>
            </a:r>
            <a:endParaRPr lang="en-US" sz="837" dirty="0"/>
          </a:p>
        </p:txBody>
      </p:sp>
      <p:sp>
        <p:nvSpPr>
          <p:cNvPr id="23" name="Text 20"/>
          <p:cNvSpPr/>
          <p:nvPr/>
        </p:nvSpPr>
        <p:spPr>
          <a:xfrm>
            <a:off x="2500647" y="2053828"/>
            <a:ext cx="2796443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Adição, subtração</a:t>
            </a:r>
            <a:endParaRPr lang="en-US" sz="837" dirty="0"/>
          </a:p>
        </p:txBody>
      </p:sp>
      <p:sp>
        <p:nvSpPr>
          <p:cNvPr id="24" name="Text 21"/>
          <p:cNvSpPr/>
          <p:nvPr/>
        </p:nvSpPr>
        <p:spPr>
          <a:xfrm>
            <a:off x="289322" y="2346722"/>
            <a:ext cx="1033751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837" dirty="0"/>
          </a:p>
        </p:txBody>
      </p:sp>
      <p:sp>
        <p:nvSpPr>
          <p:cNvPr id="25" name="Text 22"/>
          <p:cNvSpPr/>
          <p:nvPr/>
        </p:nvSpPr>
        <p:spPr>
          <a:xfrm>
            <a:off x="1323073" y="2346722"/>
            <a:ext cx="1177575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==, !=, &gt;, &lt;, &gt;=, &lt;=</a:t>
            </a:r>
            <a:endParaRPr lang="en-US" sz="837" dirty="0"/>
          </a:p>
        </p:txBody>
      </p:sp>
      <p:sp>
        <p:nvSpPr>
          <p:cNvPr id="26" name="Text 23"/>
          <p:cNvSpPr/>
          <p:nvPr/>
        </p:nvSpPr>
        <p:spPr>
          <a:xfrm>
            <a:off x="2500647" y="2346722"/>
            <a:ext cx="2796443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Operadores relacionais</a:t>
            </a:r>
            <a:endParaRPr lang="en-US" sz="837" dirty="0"/>
          </a:p>
        </p:txBody>
      </p:sp>
      <p:sp>
        <p:nvSpPr>
          <p:cNvPr id="27" name="Shape 24"/>
          <p:cNvSpPr/>
          <p:nvPr/>
        </p:nvSpPr>
        <p:spPr>
          <a:xfrm>
            <a:off x="289322" y="2639616"/>
            <a:ext cx="5007769" cy="29289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8" name="Text 25"/>
          <p:cNvSpPr/>
          <p:nvPr/>
        </p:nvSpPr>
        <p:spPr>
          <a:xfrm>
            <a:off x="289322" y="2639616"/>
            <a:ext cx="1033751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837" dirty="0"/>
          </a:p>
        </p:txBody>
      </p:sp>
      <p:sp>
        <p:nvSpPr>
          <p:cNvPr id="29" name="Text 26"/>
          <p:cNvSpPr/>
          <p:nvPr/>
        </p:nvSpPr>
        <p:spPr>
          <a:xfrm>
            <a:off x="1323073" y="2639616"/>
            <a:ext cx="1177575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</a:t>
            </a:r>
            <a:endParaRPr lang="en-US" sz="837" dirty="0"/>
          </a:p>
        </p:txBody>
      </p:sp>
      <p:sp>
        <p:nvSpPr>
          <p:cNvPr id="30" name="Text 27"/>
          <p:cNvSpPr/>
          <p:nvPr/>
        </p:nvSpPr>
        <p:spPr>
          <a:xfrm>
            <a:off x="2500647" y="2639616"/>
            <a:ext cx="2796443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Negação lógica</a:t>
            </a:r>
            <a:endParaRPr lang="en-US" sz="837" dirty="0"/>
          </a:p>
        </p:txBody>
      </p:sp>
      <p:sp>
        <p:nvSpPr>
          <p:cNvPr id="31" name="Text 28"/>
          <p:cNvSpPr/>
          <p:nvPr/>
        </p:nvSpPr>
        <p:spPr>
          <a:xfrm>
            <a:off x="289322" y="2932509"/>
            <a:ext cx="1033751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837" dirty="0"/>
          </a:p>
        </p:txBody>
      </p:sp>
      <p:sp>
        <p:nvSpPr>
          <p:cNvPr id="32" name="Text 29"/>
          <p:cNvSpPr/>
          <p:nvPr/>
        </p:nvSpPr>
        <p:spPr>
          <a:xfrm>
            <a:off x="1323073" y="2932509"/>
            <a:ext cx="1177575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</a:t>
            </a:r>
            <a:endParaRPr lang="en-US" sz="837" dirty="0"/>
          </a:p>
        </p:txBody>
      </p:sp>
      <p:sp>
        <p:nvSpPr>
          <p:cNvPr id="33" name="Text 30"/>
          <p:cNvSpPr/>
          <p:nvPr/>
        </p:nvSpPr>
        <p:spPr>
          <a:xfrm>
            <a:off x="2500647" y="2932509"/>
            <a:ext cx="2796443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 lógico</a:t>
            </a:r>
            <a:endParaRPr lang="en-US" sz="837" dirty="0"/>
          </a:p>
        </p:txBody>
      </p:sp>
      <p:sp>
        <p:nvSpPr>
          <p:cNvPr id="34" name="Shape 31"/>
          <p:cNvSpPr/>
          <p:nvPr/>
        </p:nvSpPr>
        <p:spPr>
          <a:xfrm>
            <a:off x="289322" y="3225403"/>
            <a:ext cx="5007769" cy="29289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5" name="Text 32"/>
          <p:cNvSpPr/>
          <p:nvPr/>
        </p:nvSpPr>
        <p:spPr>
          <a:xfrm>
            <a:off x="289322" y="3225403"/>
            <a:ext cx="1033751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(mais baixa)</a:t>
            </a:r>
            <a:endParaRPr lang="en-US" sz="837" dirty="0"/>
          </a:p>
        </p:txBody>
      </p:sp>
      <p:sp>
        <p:nvSpPr>
          <p:cNvPr id="36" name="Text 33"/>
          <p:cNvSpPr/>
          <p:nvPr/>
        </p:nvSpPr>
        <p:spPr>
          <a:xfrm>
            <a:off x="1323073" y="3225403"/>
            <a:ext cx="1177575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</a:t>
            </a:r>
            <a:endParaRPr lang="en-US" sz="837" dirty="0"/>
          </a:p>
        </p:txBody>
      </p:sp>
      <p:sp>
        <p:nvSpPr>
          <p:cNvPr id="37" name="Text 34"/>
          <p:cNvSpPr/>
          <p:nvPr/>
        </p:nvSpPr>
        <p:spPr>
          <a:xfrm>
            <a:off x="2500647" y="3225403"/>
            <a:ext cx="2796443" cy="29289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 lógico</a:t>
            </a:r>
            <a:endParaRPr lang="en-US" sz="837" dirty="0"/>
          </a:p>
        </p:txBody>
      </p:sp>
      <p:sp>
        <p:nvSpPr>
          <p:cNvPr id="38" name="Text 35"/>
          <p:cNvSpPr/>
          <p:nvPr/>
        </p:nvSpPr>
        <p:spPr>
          <a:xfrm>
            <a:off x="285750" y="3993356"/>
            <a:ext cx="50149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Exemplos de Precedência:</a:t>
            </a:r>
            <a:endParaRPr lang="en-US" sz="1046" dirty="0"/>
          </a:p>
        </p:txBody>
      </p:sp>
      <p:sp>
        <p:nvSpPr>
          <p:cNvPr id="39" name="Shape 36"/>
          <p:cNvSpPr/>
          <p:nvPr/>
        </p:nvSpPr>
        <p:spPr>
          <a:xfrm>
            <a:off x="285750" y="4264819"/>
            <a:ext cx="2453878" cy="314325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0" name="Text 37"/>
          <p:cNvSpPr/>
          <p:nvPr/>
        </p:nvSpPr>
        <p:spPr>
          <a:xfrm>
            <a:off x="285750" y="4264819"/>
            <a:ext cx="2453878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print(3 + 4 * 2) </a:t>
            </a:r>
            <a:endParaRPr lang="en-US" sz="837" dirty="0"/>
          </a:p>
        </p:txBody>
      </p:sp>
      <p:sp>
        <p:nvSpPr>
          <p:cNvPr id="41" name="Shape 38"/>
          <p:cNvSpPr/>
          <p:nvPr/>
        </p:nvSpPr>
        <p:spPr>
          <a:xfrm>
            <a:off x="285750" y="4614863"/>
            <a:ext cx="2453878" cy="24288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2" name="Shape 39"/>
          <p:cNvSpPr/>
          <p:nvPr/>
        </p:nvSpPr>
        <p:spPr>
          <a:xfrm>
            <a:off x="285750" y="4614863"/>
            <a:ext cx="28575" cy="242888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43" name="Text 40"/>
          <p:cNvSpPr/>
          <p:nvPr/>
        </p:nvSpPr>
        <p:spPr>
          <a:xfrm>
            <a:off x="285750" y="4614863"/>
            <a:ext cx="2453878" cy="242888"/>
          </a:xfrm>
          <a:prstGeom prst="rect">
            <a:avLst/>
          </a:prstGeom>
          <a:noFill/>
          <a:ln/>
        </p:spPr>
        <p:txBody>
          <a:bodyPr wrap="none" lIns="85090" tIns="42545" rIns="85090" bIns="42545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11 # (4 * 2 = 8, depois 3 + 8 = 11) </a:t>
            </a:r>
            <a:endParaRPr lang="en-US" sz="837" dirty="0"/>
          </a:p>
        </p:txBody>
      </p:sp>
      <p:sp>
        <p:nvSpPr>
          <p:cNvPr id="44" name="Shape 41"/>
          <p:cNvSpPr/>
          <p:nvPr/>
        </p:nvSpPr>
        <p:spPr>
          <a:xfrm>
            <a:off x="2846784" y="4264819"/>
            <a:ext cx="2453878" cy="314325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5" name="Text 42"/>
          <p:cNvSpPr/>
          <p:nvPr/>
        </p:nvSpPr>
        <p:spPr>
          <a:xfrm>
            <a:off x="2846784" y="4264819"/>
            <a:ext cx="2453878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print((3 + 4) * 2) </a:t>
            </a:r>
            <a:endParaRPr lang="en-US" sz="837" dirty="0"/>
          </a:p>
        </p:txBody>
      </p:sp>
      <p:sp>
        <p:nvSpPr>
          <p:cNvPr id="46" name="Shape 43"/>
          <p:cNvSpPr/>
          <p:nvPr/>
        </p:nvSpPr>
        <p:spPr>
          <a:xfrm>
            <a:off x="2846784" y="4614863"/>
            <a:ext cx="2453878" cy="24288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7" name="Shape 44"/>
          <p:cNvSpPr/>
          <p:nvPr/>
        </p:nvSpPr>
        <p:spPr>
          <a:xfrm>
            <a:off x="2846784" y="4614863"/>
            <a:ext cx="28575" cy="242888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48" name="Text 45"/>
          <p:cNvSpPr/>
          <p:nvPr/>
        </p:nvSpPr>
        <p:spPr>
          <a:xfrm>
            <a:off x="2846784" y="4614863"/>
            <a:ext cx="2453878" cy="242888"/>
          </a:xfrm>
          <a:prstGeom prst="rect">
            <a:avLst/>
          </a:prstGeom>
          <a:noFill/>
          <a:ln/>
        </p:spPr>
        <p:txBody>
          <a:bodyPr wrap="none" lIns="85090" tIns="42545" rIns="85090" bIns="42545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14 # (3 + 4 = 7, depois 7 * 2 = 14) </a:t>
            </a:r>
            <a:endParaRPr lang="en-US" sz="837" dirty="0"/>
          </a:p>
        </p:txBody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193131"/>
            <a:ext cx="2714625" cy="13573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447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2025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Exercícios Práticos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285750" y="885825"/>
            <a:ext cx="5014913" cy="161019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885825"/>
            <a:ext cx="28575" cy="1610190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6" name="Text 3"/>
          <p:cNvSpPr/>
          <p:nvPr/>
        </p:nvSpPr>
        <p:spPr>
          <a:xfrm>
            <a:off x="392906" y="992981"/>
            <a:ext cx="48006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 Calculadora Básica</a:t>
            </a:r>
            <a:endParaRPr lang="en-US" sz="1238" dirty="0"/>
          </a:p>
        </p:txBody>
      </p:sp>
      <p:sp>
        <p:nvSpPr>
          <p:cNvPr id="7" name="Text 4"/>
          <p:cNvSpPr/>
          <p:nvPr/>
        </p:nvSpPr>
        <p:spPr>
          <a:xfrm>
            <a:off x="392906" y="1300163"/>
            <a:ext cx="48006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Crie um programa que solicite dois números ao usuário e realize as operações aritméticas básicas (adição, subtração, multiplicação e divisão).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392906" y="1731634"/>
            <a:ext cx="4800600" cy="657225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9" name="Text 6"/>
          <p:cNvSpPr/>
          <p:nvPr/>
        </p:nvSpPr>
        <p:spPr>
          <a:xfrm>
            <a:off x="464344" y="1810215"/>
            <a:ext cx="262011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num1 = float(input("Digite o primeiro número: "))</a:t>
            </a:r>
            <a:endParaRPr lang="en-US" sz="837" dirty="0"/>
          </a:p>
        </p:txBody>
      </p:sp>
      <p:sp>
        <p:nvSpPr>
          <p:cNvPr id="10" name="Text 7"/>
          <p:cNvSpPr/>
          <p:nvPr/>
        </p:nvSpPr>
        <p:spPr>
          <a:xfrm>
            <a:off x="464344" y="1981665"/>
            <a:ext cx="262845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num2 = float(input("Digite o segundo número: "))</a:t>
            </a:r>
            <a:endParaRPr lang="en-US" sz="837" dirty="0"/>
          </a:p>
        </p:txBody>
      </p:sp>
      <p:sp>
        <p:nvSpPr>
          <p:cNvPr id="11" name="Text 8"/>
          <p:cNvSpPr/>
          <p:nvPr/>
        </p:nvSpPr>
        <p:spPr>
          <a:xfrm>
            <a:off x="464344" y="2153115"/>
            <a:ext cx="23725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Realize as operações e exiba os resultados </a:t>
            </a:r>
            <a:endParaRPr lang="en-US" sz="837" dirty="0"/>
          </a:p>
        </p:txBody>
      </p:sp>
      <p:sp>
        <p:nvSpPr>
          <p:cNvPr id="12" name="Shape 9"/>
          <p:cNvSpPr/>
          <p:nvPr/>
        </p:nvSpPr>
        <p:spPr>
          <a:xfrm>
            <a:off x="285750" y="2638890"/>
            <a:ext cx="5014913" cy="1618757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285750" y="2638890"/>
            <a:ext cx="28575" cy="1618757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14" name="Text 11"/>
          <p:cNvSpPr/>
          <p:nvPr/>
        </p:nvSpPr>
        <p:spPr>
          <a:xfrm>
            <a:off x="392906" y="2746046"/>
            <a:ext cx="48006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 Verificação de Aprovação</a:t>
            </a:r>
            <a:endParaRPr lang="en-US" sz="1238" dirty="0"/>
          </a:p>
        </p:txBody>
      </p:sp>
      <p:sp>
        <p:nvSpPr>
          <p:cNvPr id="15" name="Text 12"/>
          <p:cNvSpPr/>
          <p:nvPr/>
        </p:nvSpPr>
        <p:spPr>
          <a:xfrm>
            <a:off x="392906" y="3053228"/>
            <a:ext cx="480060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Peça ao usuário para inserir três notas. Calcule a média e determine se o aluno foi aprovado (média &gt;= 7.0), está em recuperação (5.0 &lt;= média &lt; 7.0) ou foi reprovado (média &lt; 5.0).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392906" y="3664716"/>
            <a:ext cx="4800600" cy="485775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7" name="Text 14"/>
          <p:cNvSpPr/>
          <p:nvPr/>
        </p:nvSpPr>
        <p:spPr>
          <a:xfrm>
            <a:off x="464344" y="3743297"/>
            <a:ext cx="24255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nota1 = float(input("Digite a primeira nota: "))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464344" y="3914747"/>
            <a:ext cx="432305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Calcule a média e use operadores relacionais e lógicos para verificar a situação </a:t>
            </a:r>
            <a:endParaRPr lang="en-US" sz="837" dirty="0"/>
          </a:p>
        </p:txBody>
      </p:sp>
      <p:sp>
        <p:nvSpPr>
          <p:cNvPr id="19" name="Shape 16"/>
          <p:cNvSpPr/>
          <p:nvPr/>
        </p:nvSpPr>
        <p:spPr>
          <a:xfrm>
            <a:off x="285750" y="4400522"/>
            <a:ext cx="5014913" cy="1618757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0" name="Shape 17"/>
          <p:cNvSpPr/>
          <p:nvPr/>
        </p:nvSpPr>
        <p:spPr>
          <a:xfrm>
            <a:off x="285750" y="4400522"/>
            <a:ext cx="28575" cy="1618757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21" name="Text 18"/>
          <p:cNvSpPr/>
          <p:nvPr/>
        </p:nvSpPr>
        <p:spPr>
          <a:xfrm>
            <a:off x="392906" y="4507678"/>
            <a:ext cx="48006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38" b="1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 Sistema de Acesso</a:t>
            </a:r>
            <a:endParaRPr lang="en-US" sz="1238" dirty="0"/>
          </a:p>
        </p:txBody>
      </p:sp>
      <p:sp>
        <p:nvSpPr>
          <p:cNvPr id="22" name="Text 19"/>
          <p:cNvSpPr/>
          <p:nvPr/>
        </p:nvSpPr>
        <p:spPr>
          <a:xfrm>
            <a:off x="392906" y="4814860"/>
            <a:ext cx="480060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Crie um sistema que verifica se um usuário pode acessar uma área restrita. O acesso é permitido se o usuário for administrador OU se tiver senha correta E idade maior que 18 anos.</a:t>
            </a:r>
            <a:endParaRPr lang="en-US" sz="942" dirty="0"/>
          </a:p>
        </p:txBody>
      </p:sp>
      <p:sp>
        <p:nvSpPr>
          <p:cNvPr id="23" name="Shape 20"/>
          <p:cNvSpPr/>
          <p:nvPr/>
        </p:nvSpPr>
        <p:spPr>
          <a:xfrm>
            <a:off x="392906" y="5426348"/>
            <a:ext cx="4800600" cy="485775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4" name="Text 21"/>
          <p:cNvSpPr/>
          <p:nvPr/>
        </p:nvSpPr>
        <p:spPr>
          <a:xfrm>
            <a:off x="464344" y="5504929"/>
            <a:ext cx="34650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eh_admin = input("É administrador? (sim/não): ").lower() == "sim"</a:t>
            </a:r>
            <a:endParaRPr lang="en-US" sz="837" dirty="0"/>
          </a:p>
        </p:txBody>
      </p:sp>
      <p:sp>
        <p:nvSpPr>
          <p:cNvPr id="25" name="Text 22"/>
          <p:cNvSpPr/>
          <p:nvPr/>
        </p:nvSpPr>
        <p:spPr>
          <a:xfrm>
            <a:off x="464344" y="5676379"/>
            <a:ext cx="336889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E2E8F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# Use operadores lógicos para verificar as condições de acesso </a:t>
            </a:r>
            <a:endParaRPr lang="en-US" sz="837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338127"/>
            <a:ext cx="2714625" cy="2035969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685644" y="4525900"/>
            <a:ext cx="73527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Pratique no </a:t>
            </a:r>
            <a:endParaRPr lang="en-US" sz="942" dirty="0"/>
          </a:p>
        </p:txBody>
      </p:sp>
      <p:sp>
        <p:nvSpPr>
          <p:cNvPr id="28" name="Text 24"/>
          <p:cNvSpPr/>
          <p:nvPr/>
        </p:nvSpPr>
        <p:spPr>
          <a:xfrm>
            <a:off x="6420920" y="4525900"/>
            <a:ext cx="8421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4299E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Google Colab</a:t>
            </a:r>
            <a:endParaRPr lang="en-US" sz="942" dirty="0"/>
          </a:p>
        </p:txBody>
      </p:sp>
      <p:sp>
        <p:nvSpPr>
          <p:cNvPr id="29" name="Text 25"/>
          <p:cNvSpPr/>
          <p:nvPr/>
        </p:nvSpPr>
        <p:spPr>
          <a:xfrm>
            <a:off x="7263045" y="4525900"/>
            <a:ext cx="142450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dirty="0">
                <a:solidFill>
                  <a:srgbClr val="1A36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fixar os conceitos!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2025-09-10T00:10:28Z</dcterms:created>
  <dcterms:modified xsi:type="dcterms:W3CDTF">2025-09-10T00:10:28Z</dcterms:modified>
</cp:coreProperties>
</file>