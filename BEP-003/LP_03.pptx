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para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mover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EA63A71-C39F-4C52-A59E-768543D93DD4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A19D71-A44B-4E5A-A220-1388ED22CC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01961A-39AF-4E84-9E0E-617487265F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F69D-D33A-43CB-AA0D-1CAF9E2438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6DAF54-6536-43D3-9A54-1767BA77EC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A0C08E-8367-4DC8-8A21-A03A023E8F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D29540-B5BD-4A54-B7C2-C41FAACB09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502A06-A5B5-486A-AB6F-4E505D07BC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634CF1-B46B-40BD-90E1-6E2A09C3DF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A2E01A-0EDC-46A8-A92C-DC12687A7D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editar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formato do texto do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2"/>
          <a:stretch/>
        </p:blipFill>
        <p:spPr>
          <a:xfrm>
            <a:off x="1357200" y="299880"/>
            <a:ext cx="2142720" cy="214272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1357560" y="2830680"/>
            <a:ext cx="6428880" cy="82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365d"/>
                </a:solidFill>
                <a:latin typeface="Noto Sans"/>
                <a:ea typeface="Noto Sans"/>
              </a:rPr>
              <a:t>Operadores Aritméticos, Relacionais e Lógicos em Python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110600" y="4125600"/>
            <a:ext cx="69228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d3748"/>
                </a:solidFill>
                <a:latin typeface="Noto Sans"/>
                <a:ea typeface="Noto Sans"/>
              </a:rPr>
              <a:t>Aprenda a realizar cálculos, comparações e construir expressões lógicas em Python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3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6983640" y="13680"/>
            <a:ext cx="21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pt-BR" sz="1600" spc="-1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Arial"/>
              </a:rPr>
              <a:t>Prof. Liojes Carneiro</a:t>
            </a:r>
            <a:endParaRPr b="0" lang="pt-BR" sz="1600" spc="-1" strike="noStrike">
              <a:ln>
                <a:solidFill>
                  <a:srgbClr val="000000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" descr="preencoded.png"/>
          <p:cNvPicPr/>
          <p:nvPr/>
        </p:nvPicPr>
        <p:blipFill>
          <a:blip r:embed="rId1"/>
          <a:stretch/>
        </p:blipFill>
        <p:spPr>
          <a:xfrm>
            <a:off x="285840" y="110736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5" name="Text 1"/>
          <p:cNvSpPr/>
          <p:nvPr/>
        </p:nvSpPr>
        <p:spPr>
          <a:xfrm>
            <a:off x="564480" y="100368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Compreender e utilizar operadores aritméticos para realizar cálculos matemáticos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Image 2" descr="preencoded.png"/>
          <p:cNvPicPr/>
          <p:nvPr/>
        </p:nvPicPr>
        <p:blipFill>
          <a:blip r:embed="rId2"/>
          <a:stretch/>
        </p:blipFill>
        <p:spPr>
          <a:xfrm>
            <a:off x="285840" y="175752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7" name="Text 2"/>
          <p:cNvSpPr/>
          <p:nvPr/>
        </p:nvSpPr>
        <p:spPr>
          <a:xfrm>
            <a:off x="564480" y="165384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Aplicar operadores relacionais para fazer comparações entre valores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Image 3" descr="preencoded.png"/>
          <p:cNvPicPr/>
          <p:nvPr/>
        </p:nvPicPr>
        <p:blipFill>
          <a:blip r:embed="rId3"/>
          <a:stretch/>
        </p:blipFill>
        <p:spPr>
          <a:xfrm>
            <a:off x="285840" y="240732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9" name="Text 3"/>
          <p:cNvSpPr/>
          <p:nvPr/>
        </p:nvSpPr>
        <p:spPr>
          <a:xfrm>
            <a:off x="564480" y="230400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Usar operadores lógicos para construir expressões booleanas complexas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Image 4" descr="preencoded.png"/>
          <p:cNvPicPr/>
          <p:nvPr/>
        </p:nvPicPr>
        <p:blipFill>
          <a:blip r:embed="rId4"/>
          <a:stretch/>
        </p:blipFill>
        <p:spPr>
          <a:xfrm>
            <a:off x="285840" y="293976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1" name="Text 4"/>
          <p:cNvSpPr/>
          <p:nvPr/>
        </p:nvSpPr>
        <p:spPr>
          <a:xfrm>
            <a:off x="566640" y="2930400"/>
            <a:ext cx="3821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Entender a precedência e associação de operadores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5" descr="preencoded.png"/>
          <p:cNvPicPr/>
          <p:nvPr/>
        </p:nvPicPr>
        <p:blipFill>
          <a:blip r:embed="rId5"/>
          <a:stretch/>
        </p:blipFill>
        <p:spPr>
          <a:xfrm>
            <a:off x="285840" y="34718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3" name="Text 5"/>
          <p:cNvSpPr/>
          <p:nvPr/>
        </p:nvSpPr>
        <p:spPr>
          <a:xfrm>
            <a:off x="564480" y="336816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Aplicar os conhecimentos em exercícios práticos no Google Colab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Image 6" descr="preencoded.png"/>
          <p:cNvPicPr/>
          <p:nvPr/>
        </p:nvPicPr>
        <p:blipFill>
          <a:blip r:embed="rId6"/>
          <a:stretch/>
        </p:blipFill>
        <p:spPr>
          <a:xfrm>
            <a:off x="5357880" y="1393200"/>
            <a:ext cx="2857320" cy="2142720"/>
          </a:xfrm>
          <a:prstGeom prst="rect">
            <a:avLst/>
          </a:prstGeom>
          <a:ln w="0">
            <a:noFill/>
          </a:ln>
        </p:spPr>
      </p:pic>
      <p:pic>
        <p:nvPicPr>
          <p:cNvPr id="25" name="" descr=""/>
          <p:cNvPicPr/>
          <p:nvPr/>
        </p:nvPicPr>
        <p:blipFill>
          <a:blip r:embed="rId7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  <p:sp>
        <p:nvSpPr>
          <p:cNvPr id="26" name=""/>
          <p:cNvSpPr txBox="1"/>
          <p:nvPr/>
        </p:nvSpPr>
        <p:spPr>
          <a:xfrm>
            <a:off x="3312000" y="0"/>
            <a:ext cx="2520000" cy="43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Objetivos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da Aula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"/>
          <p:cNvSpPr/>
          <p:nvPr/>
        </p:nvSpPr>
        <p:spPr>
          <a:xfrm>
            <a:off x="289440" y="564840"/>
            <a:ext cx="901800" cy="34272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289440" y="576720"/>
            <a:ext cx="901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Operador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1188000" y="564840"/>
            <a:ext cx="1228320" cy="34272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188000" y="57672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Nome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2413080" y="564840"/>
            <a:ext cx="1912320" cy="34272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2413080" y="576720"/>
            <a:ext cx="191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Descrição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4325400" y="564840"/>
            <a:ext cx="1254600" cy="34272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4325400" y="576720"/>
            <a:ext cx="97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Exemplo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289440" y="88704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+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1184400" y="93276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Adição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2413080" y="932760"/>
            <a:ext cx="1915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Soma dois valores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329360" y="932760"/>
            <a:ext cx="970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+ 3 = 8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289440" y="1282320"/>
            <a:ext cx="5290560" cy="52992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289440" y="134244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-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1184400" y="138780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Subtração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2413080" y="1285920"/>
            <a:ext cx="19159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Subtrai o segundo valor do primeiro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4329360" y="1387800"/>
            <a:ext cx="970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5 - 3 = 2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289440" y="179784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*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1184400" y="184320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Multiplicação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2413080" y="1843200"/>
            <a:ext cx="1915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Multiplica dois valores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4329360" y="1843200"/>
            <a:ext cx="970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* 3 = 15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289440" y="2192760"/>
            <a:ext cx="5290560" cy="71712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289440" y="234684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/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1184400" y="239220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Divisão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2413080" y="2210400"/>
            <a:ext cx="191592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Divide o primeiro valor pelo segundo (retorna float)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4329360" y="2368800"/>
            <a:ext cx="1250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/ 3 = 1.6666...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289440" y="297036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//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1184400" y="301572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Divisão inteira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2413080" y="2913840"/>
            <a:ext cx="19159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Divide e retorna apenas a parte inteira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4329360" y="3015720"/>
            <a:ext cx="970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// 3 = 1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1"/>
          <p:cNvSpPr/>
          <p:nvPr/>
        </p:nvSpPr>
        <p:spPr>
          <a:xfrm>
            <a:off x="289440" y="3440520"/>
            <a:ext cx="5290560" cy="52992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2"/>
          <p:cNvSpPr/>
          <p:nvPr/>
        </p:nvSpPr>
        <p:spPr>
          <a:xfrm>
            <a:off x="289440" y="350064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%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3"/>
          <p:cNvSpPr/>
          <p:nvPr/>
        </p:nvSpPr>
        <p:spPr>
          <a:xfrm>
            <a:off x="1184400" y="354600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Módulo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34"/>
          <p:cNvSpPr/>
          <p:nvPr/>
        </p:nvSpPr>
        <p:spPr>
          <a:xfrm>
            <a:off x="2413080" y="3546000"/>
            <a:ext cx="1915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Retorna o resto da divisão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5"/>
          <p:cNvSpPr/>
          <p:nvPr/>
        </p:nvSpPr>
        <p:spPr>
          <a:xfrm>
            <a:off x="4329360" y="3546000"/>
            <a:ext cx="970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5 % 3 = 2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36"/>
          <p:cNvSpPr/>
          <p:nvPr/>
        </p:nvSpPr>
        <p:spPr>
          <a:xfrm>
            <a:off x="289440" y="403092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**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37"/>
          <p:cNvSpPr/>
          <p:nvPr/>
        </p:nvSpPr>
        <p:spPr>
          <a:xfrm>
            <a:off x="1184400" y="4076280"/>
            <a:ext cx="122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Exponenciação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8"/>
          <p:cNvSpPr/>
          <p:nvPr/>
        </p:nvSpPr>
        <p:spPr>
          <a:xfrm>
            <a:off x="2413080" y="3974400"/>
            <a:ext cx="19159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Eleva o primeiro valor à potência do segundo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9"/>
          <p:cNvSpPr/>
          <p:nvPr/>
        </p:nvSpPr>
        <p:spPr>
          <a:xfrm>
            <a:off x="4329360" y="4053240"/>
            <a:ext cx="1070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** 3 = 125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1" descr="preencoded.png"/>
          <p:cNvPicPr/>
          <p:nvPr/>
        </p:nvPicPr>
        <p:blipFill>
          <a:blip r:embed="rId1"/>
          <a:stretch/>
        </p:blipFill>
        <p:spPr>
          <a:xfrm>
            <a:off x="5759280" y="1500480"/>
            <a:ext cx="2857320" cy="2142720"/>
          </a:xfrm>
          <a:prstGeom prst="rect">
            <a:avLst/>
          </a:prstGeom>
          <a:ln w="0">
            <a:noFill/>
          </a:ln>
        </p:spPr>
      </p:pic>
      <p:sp>
        <p:nvSpPr>
          <p:cNvPr id="67" name=""/>
          <p:cNvSpPr txBox="1"/>
          <p:nvPr/>
        </p:nvSpPr>
        <p:spPr>
          <a:xfrm>
            <a:off x="2898000" y="0"/>
            <a:ext cx="334800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Operado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res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Aritméti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cos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2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2279160" y="590760"/>
            <a:ext cx="47408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285840" y="635040"/>
            <a:ext cx="5014440" cy="22510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394920" y="730800"/>
            <a:ext cx="10828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Definindo variáveis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369000" y="879120"/>
            <a:ext cx="3243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a = 10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367200" y="1027800"/>
            <a:ext cx="269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b = 3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394560" y="1324800"/>
            <a:ext cx="1055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Operações básicas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380160" y="1473480"/>
            <a:ext cx="660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soma = a + 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387360" y="1622160"/>
            <a:ext cx="857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subtracao = a - 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393480" y="1770840"/>
            <a:ext cx="10512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multiplicacao = a * 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381600" y="1919160"/>
            <a:ext cx="715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divisao = a / 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406800" y="2216520"/>
            <a:ext cx="14047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print(f"Soma: {soma}") # 13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420480" y="2364840"/>
            <a:ext cx="1790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print(f"Subtração: {subtracao}") # 7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47840" y="2513520"/>
            <a:ext cx="21499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print(f"Multiplicação: {multiplicacao}") # 30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407160" y="2662200"/>
            <a:ext cx="18237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print(f"Divisão: {divisao}") # 3.333...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285840" y="3029400"/>
            <a:ext cx="5014440" cy="135972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399960" y="3124800"/>
            <a:ext cx="1217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Operações avançadas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426600" y="3273480"/>
            <a:ext cx="1959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divisao_inteira = a // b # Divisão inteira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414000" y="3422160"/>
            <a:ext cx="1605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resto = a % b # Resto da divisão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419040" y="3570840"/>
            <a:ext cx="17521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potencia = a ** b # Exponenciação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449280" y="3867840"/>
            <a:ext cx="2189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print(f"Divisão inteira: {divisao_inteira}") # 3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436320" y="4016520"/>
            <a:ext cx="18270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print(f"Resto da divisão: {resto}") # 1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421560" y="4164840"/>
            <a:ext cx="18360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print(f"Potência: {potencia}") # 1000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1" descr="preencoded.png"/>
          <p:cNvPicPr/>
          <p:nvPr/>
        </p:nvPicPr>
        <p:blipFill>
          <a:blip r:embed="rId1"/>
          <a:stretch/>
        </p:blipFill>
        <p:spPr>
          <a:xfrm>
            <a:off x="5936400" y="1946880"/>
            <a:ext cx="2499840" cy="1249920"/>
          </a:xfrm>
          <a:prstGeom prst="rect">
            <a:avLst/>
          </a:prstGeom>
          <a:ln w="0">
            <a:noFill/>
          </a:ln>
        </p:spPr>
      </p:pic>
      <p:sp>
        <p:nvSpPr>
          <p:cNvPr id="92" name=""/>
          <p:cNvSpPr txBox="1"/>
          <p:nvPr/>
        </p:nvSpPr>
        <p:spPr>
          <a:xfrm>
            <a:off x="2052000" y="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Exemplos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de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Operador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es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Aritmétic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2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4"/>
          <p:cNvSpPr/>
          <p:nvPr/>
        </p:nvSpPr>
        <p:spPr>
          <a:xfrm>
            <a:off x="289440" y="3759120"/>
            <a:ext cx="5290560" cy="53964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289440" y="751320"/>
            <a:ext cx="901800" cy="34920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289440" y="766440"/>
            <a:ext cx="901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Operador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1188000" y="751320"/>
            <a:ext cx="1045440" cy="34920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188000" y="766440"/>
            <a:ext cx="104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Nome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2230560" y="751320"/>
            <a:ext cx="2105640" cy="34920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2230560" y="766440"/>
            <a:ext cx="2105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Descrição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4336200" y="751320"/>
            <a:ext cx="1243800" cy="34920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4336200" y="766440"/>
            <a:ext cx="963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Exemplo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289440" y="115992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==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1184400" y="1205280"/>
            <a:ext cx="104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Igual 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2231640" y="1103400"/>
            <a:ext cx="21081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Verifica se dois valores são iguais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4340160" y="1182240"/>
            <a:ext cx="123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== 5 → True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289440" y="1598400"/>
            <a:ext cx="5290560" cy="54000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289440" y="166392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!=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1184400" y="1709280"/>
            <a:ext cx="104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Diferente de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2231640" y="1607400"/>
            <a:ext cx="21081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Verifica se dois valores são diferentes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4340160" y="1686240"/>
            <a:ext cx="105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!= 3 → True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289440" y="216792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&gt;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1184400" y="2213640"/>
            <a:ext cx="104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Maior que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2231640" y="2111760"/>
            <a:ext cx="21081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Verifica se o primeiro valor é maior que o segundo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4340160" y="2190600"/>
            <a:ext cx="123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&gt; 3 → True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289440" y="2607120"/>
            <a:ext cx="5290560" cy="53964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289440" y="267228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&lt;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1184400" y="2717640"/>
            <a:ext cx="104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0280" bIns="802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Menor que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2231640" y="2615760"/>
            <a:ext cx="21081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Verifica se o primeiro valor é menor que o segundo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4340160" y="2694600"/>
            <a:ext cx="105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&lt; 3 → False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289440" y="323532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&gt;=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1184400" y="3178800"/>
            <a:ext cx="10468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Maior ou igual 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2231640" y="3178800"/>
            <a:ext cx="21081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Verifica se o primeiro valor é maior ou igual ao segundo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4340160" y="3257640"/>
            <a:ext cx="123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&gt;= 5 → True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2"/>
          <p:cNvSpPr/>
          <p:nvPr/>
        </p:nvSpPr>
        <p:spPr>
          <a:xfrm>
            <a:off x="289440" y="3894120"/>
            <a:ext cx="8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299e1"/>
                </a:solidFill>
                <a:latin typeface="Noto Sans"/>
                <a:ea typeface="Noto Sans"/>
              </a:rPr>
              <a:t>&lt;=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33"/>
          <p:cNvSpPr/>
          <p:nvPr/>
        </p:nvSpPr>
        <p:spPr>
          <a:xfrm>
            <a:off x="1184400" y="3837600"/>
            <a:ext cx="10468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Menor ou igual 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4"/>
          <p:cNvSpPr/>
          <p:nvPr/>
        </p:nvSpPr>
        <p:spPr>
          <a:xfrm>
            <a:off x="2231640" y="3837600"/>
            <a:ext cx="21081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Verifica se o primeiro valor é menor ou igual ao segundo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35"/>
          <p:cNvSpPr/>
          <p:nvPr/>
        </p:nvSpPr>
        <p:spPr>
          <a:xfrm>
            <a:off x="4340160" y="3916440"/>
            <a:ext cx="123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02240" bIns="1022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5 &lt;= 3 → False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Image 1" descr="preencoded.png"/>
          <p:cNvPicPr/>
          <p:nvPr/>
        </p:nvPicPr>
        <p:blipFill>
          <a:blip r:embed="rId1"/>
          <a:stretch/>
        </p:blipFill>
        <p:spPr>
          <a:xfrm>
            <a:off x="5759280" y="1857600"/>
            <a:ext cx="2857320" cy="1428480"/>
          </a:xfrm>
          <a:prstGeom prst="rect">
            <a:avLst/>
          </a:prstGeom>
          <a:ln w="0">
            <a:noFill/>
          </a:ln>
        </p:spPr>
      </p:pic>
      <p:sp>
        <p:nvSpPr>
          <p:cNvPr id="130" name="Shape 36"/>
          <p:cNvSpPr/>
          <p:nvPr/>
        </p:nvSpPr>
        <p:spPr>
          <a:xfrm>
            <a:off x="5661360" y="3420000"/>
            <a:ext cx="3384000" cy="900000"/>
          </a:xfrm>
          <a:prstGeom prst="rect">
            <a:avLst/>
          </a:prstGeom>
          <a:solidFill>
            <a:srgbClr val="eb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37"/>
          <p:cNvSpPr/>
          <p:nvPr/>
        </p:nvSpPr>
        <p:spPr>
          <a:xfrm>
            <a:off x="5661360" y="3420000"/>
            <a:ext cx="28080" cy="90000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8"/>
          <p:cNvSpPr/>
          <p:nvPr/>
        </p:nvSpPr>
        <p:spPr>
          <a:xfrm>
            <a:off x="5716080" y="3803400"/>
            <a:ext cx="3272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Nota: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39"/>
          <p:cNvSpPr/>
          <p:nvPr/>
        </p:nvSpPr>
        <p:spPr>
          <a:xfrm>
            <a:off x="6128640" y="3517560"/>
            <a:ext cx="2725920" cy="7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Operadores relacionais sempre retornam um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valor booleano (True ou False).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Eles são frequentemente usados em estruturas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condicionais para controlar o fluxo do programa.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2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  <p:sp>
        <p:nvSpPr>
          <p:cNvPr id="135" name=""/>
          <p:cNvSpPr txBox="1"/>
          <p:nvPr/>
        </p:nvSpPr>
        <p:spPr>
          <a:xfrm>
            <a:off x="2898000" y="0"/>
            <a:ext cx="3348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p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er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a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d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or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es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R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el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a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ci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n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ai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"/>
          <p:cNvSpPr/>
          <p:nvPr/>
        </p:nvSpPr>
        <p:spPr>
          <a:xfrm>
            <a:off x="285840" y="1245960"/>
            <a:ext cx="5014440" cy="259992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502560" y="1412640"/>
            <a:ext cx="22093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# Definindo variáveis para comparação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427680" y="1605600"/>
            <a:ext cx="3578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x = 10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424800" y="1798560"/>
            <a:ext cx="2876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y = 5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426960" y="1991520"/>
            <a:ext cx="3517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z = 10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499680" y="2377080"/>
            <a:ext cx="21484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# Exemplos de operadores relacionais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486360" y="2570040"/>
            <a:ext cx="18331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print(f"x == y: {x == y}") # Igual 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496440" y="2763000"/>
            <a:ext cx="20721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print(f"x != y: {x != y}") # Diferente de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489240" y="2955960"/>
            <a:ext cx="18849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print(f"x &gt; y: {x &gt; y}") # Maior que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490320" y="3148560"/>
            <a:ext cx="19292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print(f"x &lt; y: {x &lt; y}") # Menor que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507960" y="3341520"/>
            <a:ext cx="23464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print(f"x &gt;= z: {x &gt;= z}") # Maior ou igual 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494280" y="3534480"/>
            <a:ext cx="2430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print(f"x &lt;= y: {x &lt;= y}") # Menor ou igual a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Image 1" descr="preencoded.png"/>
          <p:cNvPicPr/>
          <p:nvPr/>
        </p:nvPicPr>
        <p:blipFill>
          <a:blip r:embed="rId1"/>
          <a:stretch/>
        </p:blipFill>
        <p:spPr>
          <a:xfrm>
            <a:off x="5757840" y="1857600"/>
            <a:ext cx="2857320" cy="142848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2"/>
          <a:srcRect l="0" t="0" r="4" b="0"/>
          <a:stretch/>
        </p:blipFill>
        <p:spPr>
          <a:xfrm>
            <a:off x="0" y="4428000"/>
            <a:ext cx="9143280" cy="702720"/>
          </a:xfrm>
          <a:prstGeom prst="rect">
            <a:avLst/>
          </a:prstGeom>
          <a:ln w="0">
            <a:noFill/>
          </a:ln>
        </p:spPr>
      </p:pic>
      <p:sp>
        <p:nvSpPr>
          <p:cNvPr id="150" name=""/>
          <p:cNvSpPr txBox="1"/>
          <p:nvPr/>
        </p:nvSpPr>
        <p:spPr>
          <a:xfrm>
            <a:off x="2142000" y="0"/>
            <a:ext cx="486000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Exemplos de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Operadores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Relacionais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1"/>
          <p:cNvSpPr/>
          <p:nvPr/>
        </p:nvSpPr>
        <p:spPr>
          <a:xfrm>
            <a:off x="1845720" y="983160"/>
            <a:ext cx="11336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and (E lógico)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202320" y="1274760"/>
            <a:ext cx="475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Retorna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658800" y="1274760"/>
            <a:ext cx="2649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928440" y="1274760"/>
            <a:ext cx="23893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se ambas as condições forem verdadeiras.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217440" y="1518480"/>
            <a:ext cx="1322640" cy="2638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217440" y="1535760"/>
            <a:ext cx="1322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1540440" y="1518480"/>
            <a:ext cx="1322280" cy="2638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1540440" y="1535760"/>
            <a:ext cx="1322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2863440" y="1518480"/>
            <a:ext cx="1744560" cy="2638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2863440" y="1535760"/>
            <a:ext cx="17445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A and 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217440" y="179316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1546920" y="179316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2876400" y="1793160"/>
            <a:ext cx="173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217440" y="2040120"/>
            <a:ext cx="4390200" cy="2638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217440" y="205740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6"/>
          <p:cNvSpPr/>
          <p:nvPr/>
        </p:nvSpPr>
        <p:spPr>
          <a:xfrm>
            <a:off x="1546920" y="205740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2876400" y="2057400"/>
            <a:ext cx="173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217440" y="232164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1546920" y="232164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2876400" y="2321640"/>
            <a:ext cx="173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1"/>
          <p:cNvSpPr/>
          <p:nvPr/>
        </p:nvSpPr>
        <p:spPr>
          <a:xfrm>
            <a:off x="217440" y="2568600"/>
            <a:ext cx="4390200" cy="2638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217440" y="258588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1546920" y="2585880"/>
            <a:ext cx="1329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2876400" y="2585880"/>
            <a:ext cx="173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6205680" y="979200"/>
            <a:ext cx="11624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or (OU lógico)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4608000" y="1270800"/>
            <a:ext cx="475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Retorna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5095080" y="1270800"/>
            <a:ext cx="2649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5366880" y="1270800"/>
            <a:ext cx="27918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se pelo menos uma das condições for verdadeira.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9"/>
          <p:cNvSpPr/>
          <p:nvPr/>
        </p:nvSpPr>
        <p:spPr>
          <a:xfrm>
            <a:off x="4626720" y="1514520"/>
            <a:ext cx="1390680" cy="2638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0"/>
          <p:cNvSpPr/>
          <p:nvPr/>
        </p:nvSpPr>
        <p:spPr>
          <a:xfrm>
            <a:off x="4626720" y="1531800"/>
            <a:ext cx="13906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31"/>
          <p:cNvSpPr/>
          <p:nvPr/>
        </p:nvSpPr>
        <p:spPr>
          <a:xfrm>
            <a:off x="6017400" y="1514520"/>
            <a:ext cx="1391040" cy="2638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2"/>
          <p:cNvSpPr/>
          <p:nvPr/>
        </p:nvSpPr>
        <p:spPr>
          <a:xfrm>
            <a:off x="6017400" y="1531800"/>
            <a:ext cx="13910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3"/>
          <p:cNvSpPr/>
          <p:nvPr/>
        </p:nvSpPr>
        <p:spPr>
          <a:xfrm>
            <a:off x="7408800" y="1514520"/>
            <a:ext cx="1537920" cy="2638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4"/>
          <p:cNvSpPr/>
          <p:nvPr/>
        </p:nvSpPr>
        <p:spPr>
          <a:xfrm>
            <a:off x="7408800" y="1531800"/>
            <a:ext cx="1537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A or B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5"/>
          <p:cNvSpPr/>
          <p:nvPr/>
        </p:nvSpPr>
        <p:spPr>
          <a:xfrm>
            <a:off x="4626720" y="178920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6"/>
          <p:cNvSpPr/>
          <p:nvPr/>
        </p:nvSpPr>
        <p:spPr>
          <a:xfrm>
            <a:off x="6024960" y="178920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7"/>
          <p:cNvSpPr/>
          <p:nvPr/>
        </p:nvSpPr>
        <p:spPr>
          <a:xfrm>
            <a:off x="7423200" y="1789200"/>
            <a:ext cx="15235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38"/>
          <p:cNvSpPr/>
          <p:nvPr/>
        </p:nvSpPr>
        <p:spPr>
          <a:xfrm>
            <a:off x="4626720" y="2036160"/>
            <a:ext cx="4320000" cy="2638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39"/>
          <p:cNvSpPr/>
          <p:nvPr/>
        </p:nvSpPr>
        <p:spPr>
          <a:xfrm>
            <a:off x="4626720" y="205344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40"/>
          <p:cNvSpPr/>
          <p:nvPr/>
        </p:nvSpPr>
        <p:spPr>
          <a:xfrm>
            <a:off x="6024960" y="205344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41"/>
          <p:cNvSpPr/>
          <p:nvPr/>
        </p:nvSpPr>
        <p:spPr>
          <a:xfrm>
            <a:off x="7423200" y="2053440"/>
            <a:ext cx="15235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42"/>
          <p:cNvSpPr/>
          <p:nvPr/>
        </p:nvSpPr>
        <p:spPr>
          <a:xfrm>
            <a:off x="4626720" y="231768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3"/>
          <p:cNvSpPr/>
          <p:nvPr/>
        </p:nvSpPr>
        <p:spPr>
          <a:xfrm>
            <a:off x="6024960" y="231768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44"/>
          <p:cNvSpPr/>
          <p:nvPr/>
        </p:nvSpPr>
        <p:spPr>
          <a:xfrm>
            <a:off x="7423200" y="2317680"/>
            <a:ext cx="15235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38a169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45"/>
          <p:cNvSpPr/>
          <p:nvPr/>
        </p:nvSpPr>
        <p:spPr>
          <a:xfrm>
            <a:off x="4626720" y="2564640"/>
            <a:ext cx="4320000" cy="2638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46"/>
          <p:cNvSpPr/>
          <p:nvPr/>
        </p:nvSpPr>
        <p:spPr>
          <a:xfrm>
            <a:off x="4626720" y="258192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7"/>
          <p:cNvSpPr/>
          <p:nvPr/>
        </p:nvSpPr>
        <p:spPr>
          <a:xfrm>
            <a:off x="6024960" y="2581920"/>
            <a:ext cx="1397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48"/>
          <p:cNvSpPr/>
          <p:nvPr/>
        </p:nvSpPr>
        <p:spPr>
          <a:xfrm>
            <a:off x="7423200" y="2581920"/>
            <a:ext cx="15235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1120" bIns="51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e53e3e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9" name=""/>
          <p:cNvGrpSpPr/>
          <p:nvPr/>
        </p:nvGrpSpPr>
        <p:grpSpPr>
          <a:xfrm>
            <a:off x="2012400" y="2981520"/>
            <a:ext cx="5007600" cy="1320840"/>
            <a:chOff x="2012400" y="2981520"/>
            <a:chExt cx="5007600" cy="1320840"/>
          </a:xfrm>
        </p:grpSpPr>
        <p:sp>
          <p:nvSpPr>
            <p:cNvPr id="200" name="Text 49"/>
            <p:cNvSpPr/>
            <p:nvPr/>
          </p:nvSpPr>
          <p:spPr>
            <a:xfrm>
              <a:off x="3817440" y="2981520"/>
              <a:ext cx="1397160" cy="20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350" spc="-1" strike="noStrike">
                  <a:solidFill>
                    <a:srgbClr val="1a365d"/>
                  </a:solidFill>
                  <a:latin typeface="Noto Sans"/>
                  <a:ea typeface="Noto Sans"/>
                </a:rPr>
                <a:t>not (NÃO lógico)</a:t>
              </a:r>
              <a:endParaRPr b="0" lang="pt-BR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Text 50"/>
            <p:cNvSpPr/>
            <p:nvPr/>
          </p:nvSpPr>
          <p:spPr>
            <a:xfrm>
              <a:off x="3814200" y="3273120"/>
              <a:ext cx="1403280" cy="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939" spc="-1" strike="noStrike">
                  <a:solidFill>
                    <a:srgbClr val="000000"/>
                  </a:solidFill>
                  <a:latin typeface="Noto Sans"/>
                  <a:ea typeface="Noto Sans"/>
                </a:rPr>
                <a:t>Inverte o valor booleano.</a:t>
              </a:r>
              <a:endParaRPr b="0" lang="pt-BR" sz="9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Shape 51"/>
            <p:cNvSpPr/>
            <p:nvPr/>
          </p:nvSpPr>
          <p:spPr>
            <a:xfrm>
              <a:off x="2012400" y="3516840"/>
              <a:ext cx="2467080" cy="263880"/>
            </a:xfrm>
            <a:prstGeom prst="rect">
              <a:avLst/>
            </a:prstGeom>
            <a:solidFill>
              <a:srgbClr val="ebf8ff"/>
            </a:solidFill>
            <a:ln w="99">
              <a:solidFill>
                <a:srgbClr val="e2e8f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Text 52"/>
            <p:cNvSpPr/>
            <p:nvPr/>
          </p:nvSpPr>
          <p:spPr>
            <a:xfrm>
              <a:off x="2012400" y="3534120"/>
              <a:ext cx="246708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960" rIns="84960" tIns="51120" bIns="511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839" spc="-1" strike="noStrike">
                  <a:solidFill>
                    <a:srgbClr val="1a365d"/>
                  </a:solidFill>
                  <a:latin typeface="Noto Sans"/>
                  <a:ea typeface="Noto Sans"/>
                </a:rPr>
                <a:t>A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Shape 53"/>
            <p:cNvSpPr/>
            <p:nvPr/>
          </p:nvSpPr>
          <p:spPr>
            <a:xfrm>
              <a:off x="4479840" y="3516840"/>
              <a:ext cx="2540160" cy="263880"/>
            </a:xfrm>
            <a:prstGeom prst="rect">
              <a:avLst/>
            </a:prstGeom>
            <a:solidFill>
              <a:srgbClr val="ebf8ff"/>
            </a:solidFill>
            <a:ln w="99">
              <a:solidFill>
                <a:srgbClr val="e2e8f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" name="Text 54"/>
            <p:cNvSpPr/>
            <p:nvPr/>
          </p:nvSpPr>
          <p:spPr>
            <a:xfrm>
              <a:off x="4479840" y="3534120"/>
              <a:ext cx="254016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960" rIns="84960" tIns="51120" bIns="511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839" spc="-1" strike="noStrike">
                  <a:solidFill>
                    <a:srgbClr val="1a365d"/>
                  </a:solidFill>
                  <a:latin typeface="Noto Sans"/>
                  <a:ea typeface="Noto Sans"/>
                </a:rPr>
                <a:t>not A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Text 55"/>
            <p:cNvSpPr/>
            <p:nvPr/>
          </p:nvSpPr>
          <p:spPr>
            <a:xfrm>
              <a:off x="2012400" y="3791520"/>
              <a:ext cx="248688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960" rIns="84960" tIns="51120" bIns="511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839" spc="-1" strike="noStrike">
                  <a:solidFill>
                    <a:srgbClr val="38a169"/>
                  </a:solidFill>
                  <a:latin typeface="Noto Sans"/>
                  <a:ea typeface="Noto Sans"/>
                </a:rPr>
                <a:t>True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Text 56"/>
            <p:cNvSpPr/>
            <p:nvPr/>
          </p:nvSpPr>
          <p:spPr>
            <a:xfrm>
              <a:off x="4499640" y="3791520"/>
              <a:ext cx="252000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960" rIns="84960" tIns="51120" bIns="511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839" spc="-1" strike="noStrike">
                  <a:solidFill>
                    <a:srgbClr val="e53e3e"/>
                  </a:solidFill>
                  <a:latin typeface="Noto Sans"/>
                  <a:ea typeface="Noto Sans"/>
                </a:rPr>
                <a:t>False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" name="Shape 57"/>
            <p:cNvSpPr/>
            <p:nvPr/>
          </p:nvSpPr>
          <p:spPr>
            <a:xfrm>
              <a:off x="2012400" y="4038480"/>
              <a:ext cx="5007240" cy="263880"/>
            </a:xfrm>
            <a:prstGeom prst="rect">
              <a:avLst/>
            </a:prstGeom>
            <a:solidFill>
              <a:srgbClr val="f7fa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Text 58"/>
            <p:cNvSpPr/>
            <p:nvPr/>
          </p:nvSpPr>
          <p:spPr>
            <a:xfrm>
              <a:off x="2012400" y="4055760"/>
              <a:ext cx="248688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960" rIns="84960" tIns="51120" bIns="511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839" spc="-1" strike="noStrike">
                  <a:solidFill>
                    <a:srgbClr val="e53e3e"/>
                  </a:solidFill>
                  <a:latin typeface="Noto Sans"/>
                  <a:ea typeface="Noto Sans"/>
                </a:rPr>
                <a:t>False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Text 59"/>
            <p:cNvSpPr/>
            <p:nvPr/>
          </p:nvSpPr>
          <p:spPr>
            <a:xfrm>
              <a:off x="4499640" y="4055760"/>
              <a:ext cx="252000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960" rIns="84960" tIns="51120" bIns="511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839" spc="-1" strike="noStrike">
                  <a:solidFill>
                    <a:srgbClr val="38a169"/>
                  </a:solidFill>
                  <a:latin typeface="Noto Sans"/>
                  <a:ea typeface="Noto Sans"/>
                </a:rPr>
                <a:t>True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1" name="" descr=""/>
          <p:cNvPicPr/>
          <p:nvPr/>
        </p:nvPicPr>
        <p:blipFill>
          <a:blip r:embed="rId1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  <p:sp>
        <p:nvSpPr>
          <p:cNvPr id="212" name=""/>
          <p:cNvSpPr txBox="1"/>
          <p:nvPr/>
        </p:nvSpPr>
        <p:spPr>
          <a:xfrm>
            <a:off x="3141000" y="0"/>
            <a:ext cx="2862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Op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era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dor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es 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Lóg</a:t>
            </a: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icos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1"/>
          <p:cNvSpPr/>
          <p:nvPr/>
        </p:nvSpPr>
        <p:spPr>
          <a:xfrm>
            <a:off x="285840" y="885960"/>
            <a:ext cx="2435760" cy="133416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428760" y="1008000"/>
            <a:ext cx="14410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Exemplo 1: Operador AND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397080" y="1168200"/>
            <a:ext cx="54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idade = 25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412920" y="1328040"/>
            <a:ext cx="9975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tem_carteira = 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418680" y="1648080"/>
            <a:ext cx="15753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pode_dirigir = idade &gt;= 18 and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415080" y="1808280"/>
            <a:ext cx="6289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tem_carteira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428040" y="1968120"/>
            <a:ext cx="18176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print(f"Pode dirigir: {pode_dirigir}")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285840" y="2291760"/>
            <a:ext cx="2435760" cy="2854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285840" y="2291760"/>
            <a:ext cx="28080" cy="28548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285840" y="2306520"/>
            <a:ext cx="24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Pode dirigir: True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2864520" y="885960"/>
            <a:ext cx="2435760" cy="14940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3005280" y="1008000"/>
            <a:ext cx="1363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Exemplo 2: Operador OR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2993760" y="1168200"/>
            <a:ext cx="1047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eh_estudante = 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4"/>
          <p:cNvSpPr/>
          <p:nvPr/>
        </p:nvSpPr>
        <p:spPr>
          <a:xfrm>
            <a:off x="2986560" y="1328040"/>
            <a:ext cx="845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eh_idoso = 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3002760" y="1648080"/>
            <a:ext cx="1694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tem_desconto = eh_estudante or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6"/>
          <p:cNvSpPr/>
          <p:nvPr/>
        </p:nvSpPr>
        <p:spPr>
          <a:xfrm>
            <a:off x="2987280" y="1808280"/>
            <a:ext cx="447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eh_idoso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7"/>
          <p:cNvSpPr/>
          <p:nvPr/>
        </p:nvSpPr>
        <p:spPr>
          <a:xfrm>
            <a:off x="2998440" y="1968120"/>
            <a:ext cx="1589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print(f"Tem direito a desconto: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2988000" y="2128320"/>
            <a:ext cx="8928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{tem_desconto}")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9"/>
          <p:cNvSpPr/>
          <p:nvPr/>
        </p:nvSpPr>
        <p:spPr>
          <a:xfrm>
            <a:off x="2864520" y="2451600"/>
            <a:ext cx="2435760" cy="2854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0"/>
          <p:cNvSpPr/>
          <p:nvPr/>
        </p:nvSpPr>
        <p:spPr>
          <a:xfrm>
            <a:off x="2864520" y="2451600"/>
            <a:ext cx="28080" cy="28548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1"/>
          <p:cNvSpPr/>
          <p:nvPr/>
        </p:nvSpPr>
        <p:spPr>
          <a:xfrm>
            <a:off x="2864520" y="2466360"/>
            <a:ext cx="24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Tem direito a desconto: True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2"/>
          <p:cNvSpPr/>
          <p:nvPr/>
        </p:nvSpPr>
        <p:spPr>
          <a:xfrm>
            <a:off x="285840" y="2797200"/>
            <a:ext cx="2435760" cy="117396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23"/>
          <p:cNvSpPr/>
          <p:nvPr/>
        </p:nvSpPr>
        <p:spPr>
          <a:xfrm>
            <a:off x="429120" y="2919600"/>
            <a:ext cx="1433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Exemplo 3: Operador NOT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4"/>
          <p:cNvSpPr/>
          <p:nvPr/>
        </p:nvSpPr>
        <p:spPr>
          <a:xfrm>
            <a:off x="418320" y="3079800"/>
            <a:ext cx="1145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esta_chovendo = 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25"/>
          <p:cNvSpPr/>
          <p:nvPr/>
        </p:nvSpPr>
        <p:spPr>
          <a:xfrm>
            <a:off x="451800" y="3399840"/>
            <a:ext cx="2072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nao_esta_chovendo = not esta_chovendo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6"/>
          <p:cNvSpPr/>
          <p:nvPr/>
        </p:nvSpPr>
        <p:spPr>
          <a:xfrm>
            <a:off x="412920" y="3559680"/>
            <a:ext cx="14047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print(f"Não está chovendo: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7"/>
          <p:cNvSpPr/>
          <p:nvPr/>
        </p:nvSpPr>
        <p:spPr>
          <a:xfrm>
            <a:off x="419040" y="3719520"/>
            <a:ext cx="11700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{nao_esta_chovendo}")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8"/>
          <p:cNvSpPr/>
          <p:nvPr/>
        </p:nvSpPr>
        <p:spPr>
          <a:xfrm>
            <a:off x="285840" y="4043160"/>
            <a:ext cx="2435760" cy="2854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9"/>
          <p:cNvSpPr/>
          <p:nvPr/>
        </p:nvSpPr>
        <p:spPr>
          <a:xfrm>
            <a:off x="285840" y="4043160"/>
            <a:ext cx="28080" cy="28548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0"/>
          <p:cNvSpPr/>
          <p:nvPr/>
        </p:nvSpPr>
        <p:spPr>
          <a:xfrm>
            <a:off x="285840" y="4057920"/>
            <a:ext cx="24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Não está chovendo: True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Image 1" descr="preencoded.png"/>
          <p:cNvPicPr/>
          <p:nvPr/>
        </p:nvPicPr>
        <p:blipFill>
          <a:blip r:embed="rId1"/>
          <a:stretch/>
        </p:blipFill>
        <p:spPr>
          <a:xfrm>
            <a:off x="5829480" y="1552320"/>
            <a:ext cx="2714400" cy="203940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2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  <p:sp>
        <p:nvSpPr>
          <p:cNvPr id="245" name=""/>
          <p:cNvSpPr txBox="1"/>
          <p:nvPr/>
        </p:nvSpPr>
        <p:spPr>
          <a:xfrm>
            <a:off x="2322000" y="0"/>
            <a:ext cx="4500000" cy="7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Exemplos de Operadores Lógicos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1969200" y="72000"/>
            <a:ext cx="52056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Precedência e Associação de Operadores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289440" y="745560"/>
            <a:ext cx="1033560" cy="2926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289440" y="76392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Precedência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1323000" y="745560"/>
            <a:ext cx="1177200" cy="2926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1323000" y="76392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Operador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2500560" y="745560"/>
            <a:ext cx="2796120" cy="292680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2500560" y="76392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1a365d"/>
                </a:solidFill>
                <a:latin typeface="Noto Sans"/>
                <a:ea typeface="Noto Sans"/>
              </a:rPr>
              <a:t>Descrição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289440" y="104940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1 (mais alta)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1323000" y="104940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**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2500560" y="104940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Exponenciação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289440" y="1324080"/>
            <a:ext cx="5007240" cy="2926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289440" y="134244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2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1323000" y="134244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+x, -x, ~x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2500560" y="134244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Operadores unários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289440" y="163512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3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1323000" y="163512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*, /, //, %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2500560" y="163512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Multiplicação, divisão, divisão inteira, módulo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7"/>
          <p:cNvSpPr/>
          <p:nvPr/>
        </p:nvSpPr>
        <p:spPr>
          <a:xfrm>
            <a:off x="289440" y="1909800"/>
            <a:ext cx="5007240" cy="2926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289440" y="192816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4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1323000" y="192816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+, -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2500560" y="192816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Adição, subtração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289440" y="222120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5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1323000" y="222120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==, !=, &gt;, &lt;, &gt;=, &lt;=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2500560" y="222120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Operadores relacionais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4"/>
          <p:cNvSpPr/>
          <p:nvPr/>
        </p:nvSpPr>
        <p:spPr>
          <a:xfrm>
            <a:off x="289440" y="2495520"/>
            <a:ext cx="5007240" cy="2926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289440" y="251388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6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1323000" y="251388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not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2500560" y="251388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Negação lógica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8"/>
          <p:cNvSpPr/>
          <p:nvPr/>
        </p:nvSpPr>
        <p:spPr>
          <a:xfrm>
            <a:off x="289440" y="280692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7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9"/>
          <p:cNvSpPr/>
          <p:nvPr/>
        </p:nvSpPr>
        <p:spPr>
          <a:xfrm>
            <a:off x="1323000" y="280692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and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2500560" y="280692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E lógico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1"/>
          <p:cNvSpPr/>
          <p:nvPr/>
        </p:nvSpPr>
        <p:spPr>
          <a:xfrm>
            <a:off x="289440" y="3081240"/>
            <a:ext cx="5007240" cy="2926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2"/>
          <p:cNvSpPr/>
          <p:nvPr/>
        </p:nvSpPr>
        <p:spPr>
          <a:xfrm>
            <a:off x="289440" y="3099600"/>
            <a:ext cx="103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8 (mais baixa)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3"/>
          <p:cNvSpPr/>
          <p:nvPr/>
        </p:nvSpPr>
        <p:spPr>
          <a:xfrm>
            <a:off x="1323000" y="3099600"/>
            <a:ext cx="117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or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4"/>
          <p:cNvSpPr/>
          <p:nvPr/>
        </p:nvSpPr>
        <p:spPr>
          <a:xfrm>
            <a:off x="2500560" y="3099600"/>
            <a:ext cx="279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OU lógico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5"/>
          <p:cNvSpPr/>
          <p:nvPr/>
        </p:nvSpPr>
        <p:spPr>
          <a:xfrm>
            <a:off x="1942200" y="3516120"/>
            <a:ext cx="17017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Exemplos de Precedência: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6"/>
          <p:cNvSpPr/>
          <p:nvPr/>
        </p:nvSpPr>
        <p:spPr>
          <a:xfrm>
            <a:off x="285840" y="3760920"/>
            <a:ext cx="2453400" cy="31392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7"/>
          <p:cNvSpPr/>
          <p:nvPr/>
        </p:nvSpPr>
        <p:spPr>
          <a:xfrm>
            <a:off x="285840" y="3790440"/>
            <a:ext cx="2453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print(3 + 4 * 2)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38"/>
          <p:cNvSpPr/>
          <p:nvPr/>
        </p:nvSpPr>
        <p:spPr>
          <a:xfrm>
            <a:off x="285840" y="4110840"/>
            <a:ext cx="2453400" cy="24264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39"/>
          <p:cNvSpPr/>
          <p:nvPr/>
        </p:nvSpPr>
        <p:spPr>
          <a:xfrm>
            <a:off x="285840" y="4110840"/>
            <a:ext cx="28080" cy="24264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40"/>
          <p:cNvSpPr/>
          <p:nvPr/>
        </p:nvSpPr>
        <p:spPr>
          <a:xfrm>
            <a:off x="589680" y="4126320"/>
            <a:ext cx="184572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4960" rIns="84960" tIns="42480" bIns="424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11 # (4 * 2 = 8, depois 3 + 8 = 11)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41"/>
          <p:cNvSpPr/>
          <p:nvPr/>
        </p:nvSpPr>
        <p:spPr>
          <a:xfrm>
            <a:off x="2846880" y="3760920"/>
            <a:ext cx="2453400" cy="31392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2"/>
          <p:cNvSpPr/>
          <p:nvPr/>
        </p:nvSpPr>
        <p:spPr>
          <a:xfrm>
            <a:off x="2846880" y="3790440"/>
            <a:ext cx="2453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64440" bIns="64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print((3 + 4) * 2)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43"/>
          <p:cNvSpPr/>
          <p:nvPr/>
        </p:nvSpPr>
        <p:spPr>
          <a:xfrm>
            <a:off x="2846880" y="4110840"/>
            <a:ext cx="2453400" cy="24264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44"/>
          <p:cNvSpPr/>
          <p:nvPr/>
        </p:nvSpPr>
        <p:spPr>
          <a:xfrm>
            <a:off x="2846880" y="4110840"/>
            <a:ext cx="28080" cy="24264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5"/>
          <p:cNvSpPr/>
          <p:nvPr/>
        </p:nvSpPr>
        <p:spPr>
          <a:xfrm>
            <a:off x="3150720" y="4126320"/>
            <a:ext cx="184572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4960" rIns="84960" tIns="42480" bIns="424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14 # (3 + 4 = 7, depois 7 * 2 = 14)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Image 1" descr="preencoded.png"/>
          <p:cNvPicPr/>
          <p:nvPr/>
        </p:nvPicPr>
        <p:blipFill>
          <a:blip r:embed="rId1"/>
          <a:stretch/>
        </p:blipFill>
        <p:spPr>
          <a:xfrm>
            <a:off x="5829480" y="1893600"/>
            <a:ext cx="2714400" cy="1356840"/>
          </a:xfrm>
          <a:prstGeom prst="rect">
            <a:avLst/>
          </a:prstGeom>
          <a:ln w="0">
            <a:noFill/>
          </a:ln>
        </p:spPr>
      </p:pic>
      <p:pic>
        <p:nvPicPr>
          <p:cNvPr id="293" name="" descr=""/>
          <p:cNvPicPr/>
          <p:nvPr/>
        </p:nvPicPr>
        <p:blipFill>
          <a:blip r:embed="rId2"/>
          <a:srcRect l="0" t="0" r="4" b="0"/>
          <a:stretch/>
        </p:blipFill>
        <p:spPr>
          <a:xfrm>
            <a:off x="14760" y="4440960"/>
            <a:ext cx="914328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2025-09-10T00:10:28Z</dcterms:created>
  <dc:creator>PptxGenJS</dc:creator>
  <dc:description/>
  <dc:language>pt-BR</dc:language>
  <cp:lastModifiedBy/>
  <dcterms:modified xsi:type="dcterms:W3CDTF">2025-09-09T22:42:28Z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