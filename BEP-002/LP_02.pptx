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8.png" ContentType="image/png"/>
  <Override PartName="/ppt/media/image9.png" ContentType="image/pn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Clique para 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mover o slide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Clique para editar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o formato de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notas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&lt;cabeçalho&gt;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447750F4-06F5-4BDF-A06D-A283488FBB28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E49CC04-B0CF-4814-82B8-5136096AAD4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22266C1-2E6E-4C51-B488-32542F7B0F1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69C61E8-DFD9-4A47-8469-2B7B77B46EF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252990B-8B98-4224-AF5C-1F07E550D5E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CAFDAD5-E1AA-4D4D-99BD-D1A1E49B618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8605D90-D412-4CAB-943D-41692F19CD0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D22AD0F-F061-4137-8213-6139C334BA2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Cli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qu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par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a 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edit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ar 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o 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for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ma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to 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do 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text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o 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do 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títul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o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49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ln w="0">
            <a:noFill/>
          </a:ln>
        </p:spPr>
      </p:pic>
      <p:pic>
        <p:nvPicPr>
          <p:cNvPr id="9" name="Image 1" descr="preencoded.png"/>
          <p:cNvPicPr/>
          <p:nvPr/>
        </p:nvPicPr>
        <p:blipFill>
          <a:blip r:embed="rId2"/>
          <a:stretch/>
        </p:blipFill>
        <p:spPr>
          <a:xfrm>
            <a:off x="3500280" y="478800"/>
            <a:ext cx="2142360" cy="2142360"/>
          </a:xfrm>
          <a:prstGeom prst="rect">
            <a:avLst/>
          </a:prstGeom>
          <a:ln w="0">
            <a:noFill/>
          </a:ln>
        </p:spPr>
      </p:pic>
      <p:sp>
        <p:nvSpPr>
          <p:cNvPr id="10" name="Text 0"/>
          <p:cNvSpPr/>
          <p:nvPr/>
        </p:nvSpPr>
        <p:spPr>
          <a:xfrm>
            <a:off x="1357200" y="3009240"/>
            <a:ext cx="6428520" cy="82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ffffff"/>
                </a:solidFill>
                <a:latin typeface="Noto Sans"/>
                <a:ea typeface="Noto Sans"/>
              </a:rPr>
              <a:t>Variáveis, Tipos de Dados, Entrada e Saída de Dados em Python</a:t>
            </a:r>
            <a:endParaRPr b="0" lang="pt-B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3113280" y="4108320"/>
            <a:ext cx="2916720" cy="24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80" spc="-1" strike="noStrike">
                <a:solidFill>
                  <a:srgbClr val="ffd43b"/>
                </a:solidFill>
                <a:latin typeface="Noto Sans"/>
                <a:ea typeface="Noto Sans"/>
              </a:rPr>
              <a:t>Fundamentos da Programação</a:t>
            </a:r>
            <a:endParaRPr b="0" lang="pt-BR" sz="158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" name="" descr=""/>
          <p:cNvPicPr/>
          <p:nvPr/>
        </p:nvPicPr>
        <p:blipFill>
          <a:blip r:embed="rId3"/>
          <a:stretch/>
        </p:blipFill>
        <p:spPr>
          <a:xfrm>
            <a:off x="0" y="4476960"/>
            <a:ext cx="9143280" cy="702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2"/>
          <p:cNvSpPr/>
          <p:nvPr/>
        </p:nvSpPr>
        <p:spPr>
          <a:xfrm>
            <a:off x="304920" y="3017520"/>
            <a:ext cx="8533800" cy="942120"/>
          </a:xfrm>
          <a:prstGeom prst="rect">
            <a:avLst/>
          </a:prstGeom>
          <a:solidFill>
            <a:srgbClr val="f1f1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Shape 4"/>
          <p:cNvSpPr/>
          <p:nvPr/>
        </p:nvSpPr>
        <p:spPr>
          <a:xfrm>
            <a:off x="6819480" y="3495600"/>
            <a:ext cx="1965960" cy="222480"/>
          </a:xfrm>
          <a:prstGeom prst="rect">
            <a:avLst/>
          </a:prstGeom>
          <a:solidFill>
            <a:srgbClr val="3069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8"/>
          <p:cNvSpPr/>
          <p:nvPr/>
        </p:nvSpPr>
        <p:spPr>
          <a:xfrm>
            <a:off x="765000" y="2268000"/>
            <a:ext cx="1214640" cy="222480"/>
          </a:xfrm>
          <a:prstGeom prst="rect">
            <a:avLst/>
          </a:prstGeom>
          <a:solidFill>
            <a:srgbClr val="3069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360000" y="1620000"/>
            <a:ext cx="4139640" cy="98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333333"/>
                </a:solidFill>
                <a:latin typeface="Noto Sans"/>
                <a:ea typeface="Noto Sans"/>
              </a:rPr>
              <a:t>Devem começar com letra ou underscore (_)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333333"/>
                </a:solidFill>
                <a:latin typeface="Noto Sans"/>
                <a:ea typeface="Noto Sans"/>
              </a:rPr>
              <a:t>Podem conter letras, números e underscore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333333"/>
                </a:solidFill>
                <a:latin typeface="Noto Sans"/>
                <a:ea typeface="Noto Sans"/>
              </a:rPr>
              <a:t>Não podem ser palavras reservadas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333333"/>
                </a:solidFill>
                <a:latin typeface="Noto Sans"/>
                <a:ea typeface="Noto Sans"/>
              </a:rPr>
              <a:t>São </a:t>
            </a:r>
            <a:r>
              <a:rPr b="1" lang="en-US" sz="1300" spc="-1" strike="noStrike">
                <a:solidFill>
                  <a:srgbClr val="ffff00"/>
                </a:solidFill>
                <a:latin typeface="Noto Sans"/>
                <a:ea typeface="Noto Sans"/>
              </a:rPr>
              <a:t>case-sensitive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" name="Image 1" descr="preencoded.png"/>
          <p:cNvPicPr/>
          <p:nvPr/>
        </p:nvPicPr>
        <p:blipFill>
          <a:blip r:embed="rId1"/>
          <a:stretch/>
        </p:blipFill>
        <p:spPr>
          <a:xfrm>
            <a:off x="6629040" y="1217520"/>
            <a:ext cx="2514600" cy="1415160"/>
          </a:xfrm>
          <a:prstGeom prst="rect">
            <a:avLst/>
          </a:prstGeom>
          <a:ln w="0">
            <a:noFill/>
          </a:ln>
        </p:spPr>
      </p:pic>
      <p:sp>
        <p:nvSpPr>
          <p:cNvPr id="18" name="Text 1"/>
          <p:cNvSpPr/>
          <p:nvPr/>
        </p:nvSpPr>
        <p:spPr>
          <a:xfrm>
            <a:off x="311400" y="581400"/>
            <a:ext cx="8626680" cy="56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306998"/>
                </a:solidFill>
                <a:latin typeface="Noto Sans"/>
                <a:ea typeface="Noto Sans"/>
              </a:rPr>
              <a:t>O que são variáveis?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333333"/>
                </a:solidFill>
                <a:latin typeface="Noto Sans"/>
                <a:ea typeface="Noto Sans"/>
              </a:rPr>
              <a:t>Espaços na memória que armazenam valores que podem ser alterados durante a execução do programa. 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 3"/>
          <p:cNvSpPr/>
          <p:nvPr/>
        </p:nvSpPr>
        <p:spPr>
          <a:xfrm>
            <a:off x="360000" y="1315800"/>
            <a:ext cx="402012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306998"/>
                </a:solidFill>
                <a:latin typeface="Noto Sans"/>
                <a:ea typeface="Noto Sans"/>
              </a:rPr>
              <a:t>Regras para nomes de variáveis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 7"/>
          <p:cNvSpPr/>
          <p:nvPr/>
        </p:nvSpPr>
        <p:spPr>
          <a:xfrm>
            <a:off x="2373480" y="2810160"/>
            <a:ext cx="263268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 9"/>
          <p:cNvSpPr/>
          <p:nvPr/>
        </p:nvSpPr>
        <p:spPr>
          <a:xfrm>
            <a:off x="2700000" y="2700000"/>
            <a:ext cx="946800" cy="19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2480" rIns="42480" tIns="16920" bIns="1692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11"/>
          <p:cNvSpPr/>
          <p:nvPr/>
        </p:nvSpPr>
        <p:spPr>
          <a:xfrm>
            <a:off x="360000" y="2675520"/>
            <a:ext cx="299448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306998"/>
                </a:solidFill>
                <a:latin typeface="Noto Sans"/>
                <a:ea typeface="Noto Sans"/>
              </a:rPr>
              <a:t>Declaração e atribuição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 13"/>
          <p:cNvSpPr/>
          <p:nvPr/>
        </p:nvSpPr>
        <p:spPr>
          <a:xfrm>
            <a:off x="360000" y="3060000"/>
            <a:ext cx="1670040" cy="79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33333"/>
                </a:solidFill>
                <a:latin typeface="Noto Sans"/>
                <a:ea typeface="Noto Sans"/>
              </a:rPr>
              <a:t> </a:t>
            </a:r>
            <a:r>
              <a:rPr b="1" lang="en-US" sz="1300" spc="-1" strike="noStrike">
                <a:solidFill>
                  <a:srgbClr val="333333"/>
                </a:solidFill>
                <a:latin typeface="Noto Sans"/>
                <a:ea typeface="Noto Sans"/>
              </a:rPr>
              <a:t>nome = "Carlos"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333333"/>
                </a:solidFill>
                <a:latin typeface="Noto Sans"/>
                <a:ea typeface="Noto Sans"/>
              </a:rPr>
              <a:t> </a:t>
            </a:r>
            <a:r>
              <a:rPr b="1" lang="en-US" sz="1300" spc="-1" strike="noStrike">
                <a:solidFill>
                  <a:srgbClr val="333333"/>
                </a:solidFill>
                <a:latin typeface="Noto Sans"/>
                <a:ea typeface="Noto Sans"/>
              </a:rPr>
              <a:t>Idade = 25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333333"/>
                </a:solidFill>
                <a:latin typeface="Noto Sans"/>
                <a:ea typeface="Noto Sans"/>
              </a:rPr>
              <a:t> </a:t>
            </a:r>
            <a:r>
              <a:rPr b="1" lang="en-US" sz="1300" spc="-1" strike="noStrike">
                <a:solidFill>
                  <a:srgbClr val="333333"/>
                </a:solidFill>
                <a:latin typeface="Noto Sans"/>
                <a:ea typeface="Noto Sans"/>
              </a:rPr>
              <a:t>Altura = 1.75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333333"/>
                </a:solidFill>
                <a:latin typeface="Noto Sans"/>
                <a:ea typeface="Noto Sans"/>
              </a:rPr>
              <a:t> </a:t>
            </a:r>
            <a:r>
              <a:rPr b="1" lang="en-US" sz="1300" spc="-1" strike="noStrike">
                <a:solidFill>
                  <a:srgbClr val="333333"/>
                </a:solidFill>
                <a:latin typeface="Noto Sans"/>
                <a:ea typeface="Noto Sans"/>
              </a:rPr>
              <a:t>is_estudante = True 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 17"/>
          <p:cNvSpPr/>
          <p:nvPr/>
        </p:nvSpPr>
        <p:spPr>
          <a:xfrm>
            <a:off x="4515120" y="2675520"/>
            <a:ext cx="298836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306998"/>
                </a:solidFill>
                <a:latin typeface="Noto Sans"/>
                <a:ea typeface="Noto Sans"/>
              </a:rPr>
              <a:t>Reatribuição de valores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" name="" descr=""/>
          <p:cNvPicPr/>
          <p:nvPr/>
        </p:nvPicPr>
        <p:blipFill>
          <a:blip r:embed="rId2"/>
          <a:stretch/>
        </p:blipFill>
        <p:spPr>
          <a:xfrm>
            <a:off x="22320" y="4470120"/>
            <a:ext cx="9179640" cy="702360"/>
          </a:xfrm>
          <a:prstGeom prst="rect">
            <a:avLst/>
          </a:prstGeom>
          <a:ln w="0">
            <a:noFill/>
          </a:ln>
        </p:spPr>
      </p:pic>
      <p:sp>
        <p:nvSpPr>
          <p:cNvPr id="26" name=""/>
          <p:cNvSpPr/>
          <p:nvPr/>
        </p:nvSpPr>
        <p:spPr>
          <a:xfrm>
            <a:off x="0" y="0"/>
            <a:ext cx="9143640" cy="64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306998"/>
                </a:solidFill>
                <a:latin typeface="Noto Sans"/>
                <a:ea typeface="Noto Sans"/>
              </a:rPr>
              <a:t>Variáveis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4572000" y="3063960"/>
            <a:ext cx="3779640" cy="71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333333"/>
                </a:solidFill>
                <a:latin typeface="Noto Sans"/>
              </a:rPr>
              <a:t>Contador = 0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333333"/>
                </a:solidFill>
                <a:latin typeface="Noto Sans"/>
              </a:rPr>
              <a:t>Contador = Contador + 1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333333"/>
                </a:solidFill>
                <a:latin typeface="Noto Sans"/>
              </a:rPr>
              <a:t>Contador = "fim" 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6935400" y="3443040"/>
            <a:ext cx="188424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ffff00"/>
                </a:solidFill>
                <a:latin typeface="Noto Sans"/>
                <a:ea typeface="Noto Sans"/>
              </a:rPr>
              <a:t>Tipagem</a:t>
            </a:r>
            <a:r>
              <a:rPr b="1" lang="en-US" sz="1300" spc="-1" strike="noStrike">
                <a:solidFill>
                  <a:srgbClr val="333333"/>
                </a:solidFill>
                <a:latin typeface="Noto Sans"/>
                <a:ea typeface="Noto Sans"/>
              </a:rPr>
              <a:t> </a:t>
            </a:r>
            <a:r>
              <a:rPr b="1" lang="en-US" sz="1300" spc="-1" strike="noStrike">
                <a:solidFill>
                  <a:srgbClr val="ffff00"/>
                </a:solidFill>
                <a:latin typeface="Noto Sans"/>
                <a:ea typeface="Noto Sans"/>
              </a:rPr>
              <a:t>dinâmica</a:t>
            </a:r>
            <a:r>
              <a:rPr b="1" lang="en-US" sz="1300" spc="-1" strike="noStrike">
                <a:solidFill>
                  <a:srgbClr val="333333"/>
                </a:solidFill>
                <a:latin typeface="Noto Sans"/>
                <a:ea typeface="Noto Sans"/>
              </a:rPr>
              <a:t> 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6120000" y="3517920"/>
            <a:ext cx="699120" cy="179640"/>
          </a:xfrm>
          <a:prstGeom prst="leftArrow">
            <a:avLst>
              <a:gd name="adj1" fmla="val 55689"/>
              <a:gd name="adj2" fmla="val 130333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"/>
          <p:cNvGrpSpPr/>
          <p:nvPr/>
        </p:nvGrpSpPr>
        <p:grpSpPr>
          <a:xfrm>
            <a:off x="4686840" y="1080000"/>
            <a:ext cx="4142520" cy="1099440"/>
            <a:chOff x="4686840" y="1080000"/>
            <a:chExt cx="4142520" cy="1099440"/>
          </a:xfrm>
        </p:grpSpPr>
        <p:sp>
          <p:nvSpPr>
            <p:cNvPr id="31" name="Shape 7"/>
            <p:cNvSpPr/>
            <p:nvPr/>
          </p:nvSpPr>
          <p:spPr>
            <a:xfrm>
              <a:off x="4686840" y="1080000"/>
              <a:ext cx="4142520" cy="1099440"/>
            </a:xfrm>
            <a:prstGeom prst="rect">
              <a:avLst/>
            </a:prstGeom>
            <a:solidFill>
              <a:srgbClr val="f8f9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" name="Shape 8"/>
            <p:cNvSpPr/>
            <p:nvPr/>
          </p:nvSpPr>
          <p:spPr>
            <a:xfrm>
              <a:off x="4686840" y="1080000"/>
              <a:ext cx="27720" cy="1099440"/>
            </a:xfrm>
            <a:prstGeom prst="rect">
              <a:avLst/>
            </a:prstGeom>
            <a:solidFill>
              <a:srgbClr val="ffd4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" name="Text 9"/>
            <p:cNvSpPr/>
            <p:nvPr/>
          </p:nvSpPr>
          <p:spPr>
            <a:xfrm>
              <a:off x="5798880" y="1205280"/>
              <a:ext cx="1918080" cy="205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1" lang="en-US" sz="1350" spc="-1" strike="noStrike">
                  <a:solidFill>
                    <a:srgbClr val="306998"/>
                  </a:solidFill>
                  <a:latin typeface="Noto Sans"/>
                  <a:ea typeface="Noto Sans"/>
                </a:rPr>
                <a:t>float (ponto flutuante)</a:t>
              </a:r>
              <a:endParaRPr b="0" lang="pt-BR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" name="Text 10"/>
            <p:cNvSpPr/>
            <p:nvPr/>
          </p:nvSpPr>
          <p:spPr>
            <a:xfrm>
              <a:off x="5672520" y="1549800"/>
              <a:ext cx="2170800" cy="159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50" spc="-1" strike="noStrike">
                  <a:solidFill>
                    <a:srgbClr val="333333"/>
                  </a:solidFill>
                  <a:latin typeface="Noto Sans"/>
                  <a:ea typeface="Noto Sans"/>
                </a:rPr>
                <a:t>Números reais com casas decimais</a:t>
              </a:r>
              <a:endParaRPr b="0" lang="pt-BR" sz="10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" name="Shape 11"/>
            <p:cNvSpPr/>
            <p:nvPr/>
          </p:nvSpPr>
          <p:spPr>
            <a:xfrm>
              <a:off x="4793760" y="1765800"/>
              <a:ext cx="3928320" cy="306360"/>
            </a:xfrm>
            <a:prstGeom prst="rect">
              <a:avLst/>
            </a:prstGeom>
            <a:solidFill>
              <a:srgbClr val="f1f1f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" name="Text 12"/>
            <p:cNvSpPr/>
            <p:nvPr/>
          </p:nvSpPr>
          <p:spPr>
            <a:xfrm>
              <a:off x="4793760" y="1779840"/>
              <a:ext cx="3928320" cy="278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040" rIns="68040" tIns="68040" bIns="68040" anchor="ctr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1" lang="en-US" sz="939" spc="-1" strike="noStrike">
                  <a:solidFill>
                    <a:srgbClr val="333333"/>
                  </a:solidFill>
                  <a:latin typeface="Noto Sans"/>
                  <a:ea typeface="Noto Sans"/>
                </a:rPr>
                <a:t>altura = 1.75</a:t>
              </a:r>
              <a:endParaRPr b="0" lang="pt-BR" sz="939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" name=""/>
          <p:cNvGrpSpPr/>
          <p:nvPr/>
        </p:nvGrpSpPr>
        <p:grpSpPr>
          <a:xfrm>
            <a:off x="291960" y="2500200"/>
            <a:ext cx="4142520" cy="1099440"/>
            <a:chOff x="291960" y="2500200"/>
            <a:chExt cx="4142520" cy="1099440"/>
          </a:xfrm>
        </p:grpSpPr>
        <p:sp>
          <p:nvSpPr>
            <p:cNvPr id="38" name="Shape 13"/>
            <p:cNvSpPr/>
            <p:nvPr/>
          </p:nvSpPr>
          <p:spPr>
            <a:xfrm>
              <a:off x="291960" y="2500200"/>
              <a:ext cx="4142520" cy="1099440"/>
            </a:xfrm>
            <a:prstGeom prst="rect">
              <a:avLst/>
            </a:prstGeom>
            <a:solidFill>
              <a:srgbClr val="f8f9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" name="Shape 14"/>
            <p:cNvSpPr/>
            <p:nvPr/>
          </p:nvSpPr>
          <p:spPr>
            <a:xfrm>
              <a:off x="291960" y="2500200"/>
              <a:ext cx="27720" cy="1099440"/>
            </a:xfrm>
            <a:prstGeom prst="rect">
              <a:avLst/>
            </a:prstGeom>
            <a:solidFill>
              <a:srgbClr val="ffd4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" name="Text 15"/>
            <p:cNvSpPr/>
            <p:nvPr/>
          </p:nvSpPr>
          <p:spPr>
            <a:xfrm>
              <a:off x="1910880" y="2632320"/>
              <a:ext cx="904320" cy="205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1" lang="en-US" sz="1350" spc="-1" strike="noStrike">
                  <a:solidFill>
                    <a:srgbClr val="306998"/>
                  </a:solidFill>
                  <a:latin typeface="Noto Sans"/>
                  <a:ea typeface="Noto Sans"/>
                </a:rPr>
                <a:t>str (string)</a:t>
              </a:r>
              <a:endParaRPr b="0" lang="pt-BR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1" name="Text 16"/>
            <p:cNvSpPr/>
            <p:nvPr/>
          </p:nvSpPr>
          <p:spPr>
            <a:xfrm>
              <a:off x="1362240" y="2926800"/>
              <a:ext cx="2001600" cy="159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50" spc="-1" strike="noStrike">
                  <a:solidFill>
                    <a:srgbClr val="333333"/>
                  </a:solidFill>
                  <a:latin typeface="Noto Sans"/>
                  <a:ea typeface="Noto Sans"/>
                </a:rPr>
                <a:t>Sequências de caracteres (texto)</a:t>
              </a:r>
              <a:endParaRPr b="0" lang="pt-BR" sz="10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2" name="Shape 17"/>
            <p:cNvSpPr/>
            <p:nvPr/>
          </p:nvSpPr>
          <p:spPr>
            <a:xfrm>
              <a:off x="398880" y="3186000"/>
              <a:ext cx="3928320" cy="306360"/>
            </a:xfrm>
            <a:prstGeom prst="rect">
              <a:avLst/>
            </a:prstGeom>
            <a:solidFill>
              <a:srgbClr val="f1f1f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3" name="Text 18"/>
            <p:cNvSpPr/>
            <p:nvPr/>
          </p:nvSpPr>
          <p:spPr>
            <a:xfrm>
              <a:off x="398880" y="3200040"/>
              <a:ext cx="3928320" cy="278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040" rIns="68040" tIns="68040" bIns="68040" anchor="ctr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1" lang="en-US" sz="939" spc="-1" strike="noStrike">
                  <a:solidFill>
                    <a:srgbClr val="333333"/>
                  </a:solidFill>
                  <a:latin typeface="Noto Sans"/>
                  <a:ea typeface="Noto Sans"/>
                </a:rPr>
                <a:t>nome = "Maria"</a:t>
              </a:r>
              <a:endParaRPr b="0" lang="pt-BR" sz="939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4" name=""/>
          <p:cNvGrpSpPr/>
          <p:nvPr/>
        </p:nvGrpSpPr>
        <p:grpSpPr>
          <a:xfrm>
            <a:off x="4686840" y="2500200"/>
            <a:ext cx="4142520" cy="1099440"/>
            <a:chOff x="4686840" y="2500200"/>
            <a:chExt cx="4142520" cy="1099440"/>
          </a:xfrm>
        </p:grpSpPr>
        <p:sp>
          <p:nvSpPr>
            <p:cNvPr id="45" name="Shape 19"/>
            <p:cNvSpPr/>
            <p:nvPr/>
          </p:nvSpPr>
          <p:spPr>
            <a:xfrm>
              <a:off x="4686840" y="2500200"/>
              <a:ext cx="4142520" cy="1099440"/>
            </a:xfrm>
            <a:prstGeom prst="rect">
              <a:avLst/>
            </a:prstGeom>
            <a:solidFill>
              <a:srgbClr val="f8f9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6" name="Shape 20"/>
            <p:cNvSpPr/>
            <p:nvPr/>
          </p:nvSpPr>
          <p:spPr>
            <a:xfrm>
              <a:off x="4686840" y="2500200"/>
              <a:ext cx="27720" cy="1099440"/>
            </a:xfrm>
            <a:prstGeom prst="rect">
              <a:avLst/>
            </a:prstGeom>
            <a:solidFill>
              <a:srgbClr val="ffd4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7" name="Text 21"/>
            <p:cNvSpPr/>
            <p:nvPr/>
          </p:nvSpPr>
          <p:spPr>
            <a:xfrm>
              <a:off x="6095160" y="2632680"/>
              <a:ext cx="1325160" cy="205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1" lang="en-US" sz="1350" spc="-1" strike="noStrike">
                  <a:solidFill>
                    <a:srgbClr val="306998"/>
                  </a:solidFill>
                  <a:latin typeface="Noto Sans"/>
                  <a:ea typeface="Noto Sans"/>
                </a:rPr>
                <a:t>bool (booleano)</a:t>
              </a:r>
              <a:endParaRPr b="0" lang="pt-BR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8" name="Text 22"/>
            <p:cNvSpPr/>
            <p:nvPr/>
          </p:nvSpPr>
          <p:spPr>
            <a:xfrm>
              <a:off x="5846040" y="2927160"/>
              <a:ext cx="1823400" cy="159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50" spc="-1" strike="noStrike">
                  <a:solidFill>
                    <a:srgbClr val="333333"/>
                  </a:solidFill>
                  <a:latin typeface="Noto Sans"/>
                  <a:ea typeface="Noto Sans"/>
                </a:rPr>
                <a:t>Valores lógicos: True ou False</a:t>
              </a:r>
              <a:endParaRPr b="0" lang="pt-BR" sz="10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9" name="Shape 23"/>
            <p:cNvSpPr/>
            <p:nvPr/>
          </p:nvSpPr>
          <p:spPr>
            <a:xfrm>
              <a:off x="4793760" y="3186000"/>
              <a:ext cx="3928320" cy="306360"/>
            </a:xfrm>
            <a:prstGeom prst="rect">
              <a:avLst/>
            </a:prstGeom>
            <a:solidFill>
              <a:srgbClr val="f1f1f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0" name="Text 24"/>
            <p:cNvSpPr/>
            <p:nvPr/>
          </p:nvSpPr>
          <p:spPr>
            <a:xfrm>
              <a:off x="4793760" y="3200040"/>
              <a:ext cx="3928320" cy="278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040" rIns="68040" tIns="68040" bIns="68040" anchor="ctr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1" lang="en-US" sz="939" spc="-1" strike="noStrike">
                  <a:solidFill>
                    <a:srgbClr val="333333"/>
                  </a:solidFill>
                  <a:latin typeface="Noto Sans"/>
                  <a:ea typeface="Noto Sans"/>
                </a:rPr>
                <a:t>is_estudante = True</a:t>
              </a:r>
              <a:endParaRPr b="0" lang="pt-BR" sz="939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51" name="" descr=""/>
          <p:cNvPicPr/>
          <p:nvPr/>
        </p:nvPicPr>
        <p:blipFill>
          <a:blip r:embed="rId1"/>
          <a:stretch/>
        </p:blipFill>
        <p:spPr>
          <a:xfrm>
            <a:off x="-17640" y="4464000"/>
            <a:ext cx="9179280" cy="702360"/>
          </a:xfrm>
          <a:prstGeom prst="rect">
            <a:avLst/>
          </a:prstGeom>
          <a:ln w="0">
            <a:noFill/>
          </a:ln>
        </p:spPr>
      </p:pic>
      <p:sp>
        <p:nvSpPr>
          <p:cNvPr id="52" name=""/>
          <p:cNvSpPr/>
          <p:nvPr/>
        </p:nvSpPr>
        <p:spPr>
          <a:xfrm>
            <a:off x="0" y="360"/>
            <a:ext cx="9143640" cy="64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306998"/>
                </a:solidFill>
                <a:latin typeface="Noto Sans"/>
                <a:ea typeface="Noto Sans"/>
              </a:rPr>
              <a:t>Tipos de Dados Primitivos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3" name=""/>
          <p:cNvGrpSpPr/>
          <p:nvPr/>
        </p:nvGrpSpPr>
        <p:grpSpPr>
          <a:xfrm>
            <a:off x="291960" y="1080000"/>
            <a:ext cx="4142520" cy="1099440"/>
            <a:chOff x="291960" y="1080000"/>
            <a:chExt cx="4142520" cy="1099440"/>
          </a:xfrm>
        </p:grpSpPr>
        <p:sp>
          <p:nvSpPr>
            <p:cNvPr id="54" name="Shape 6"/>
            <p:cNvSpPr/>
            <p:nvPr/>
          </p:nvSpPr>
          <p:spPr>
            <a:xfrm>
              <a:off x="291960" y="1080000"/>
              <a:ext cx="4142520" cy="1099440"/>
            </a:xfrm>
            <a:prstGeom prst="rect">
              <a:avLst/>
            </a:prstGeom>
            <a:solidFill>
              <a:srgbClr val="f8f9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" name="Text 3"/>
            <p:cNvSpPr/>
            <p:nvPr/>
          </p:nvSpPr>
          <p:spPr>
            <a:xfrm>
              <a:off x="1878840" y="1205280"/>
              <a:ext cx="969840" cy="205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1" lang="en-US" sz="1350" spc="-1" strike="noStrike">
                  <a:solidFill>
                    <a:srgbClr val="306998"/>
                  </a:solidFill>
                  <a:latin typeface="Noto Sans"/>
                  <a:ea typeface="Noto Sans"/>
                </a:rPr>
                <a:t>int (inteiro)</a:t>
              </a:r>
              <a:endParaRPr b="0" lang="pt-BR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6" name="Text 4"/>
            <p:cNvSpPr/>
            <p:nvPr/>
          </p:nvSpPr>
          <p:spPr>
            <a:xfrm>
              <a:off x="399600" y="1549800"/>
              <a:ext cx="3928320" cy="159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50" spc="-1" strike="noStrike">
                  <a:solidFill>
                    <a:srgbClr val="333333"/>
                  </a:solidFill>
                  <a:latin typeface="Noto Sans"/>
                  <a:ea typeface="Noto Sans"/>
                </a:rPr>
                <a:t>Números inteiros, positivos ou negativos, sem casas decimais</a:t>
              </a:r>
              <a:endParaRPr b="0" lang="pt-BR" sz="10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7" name="Shape 5"/>
            <p:cNvSpPr/>
            <p:nvPr/>
          </p:nvSpPr>
          <p:spPr>
            <a:xfrm>
              <a:off x="399600" y="1785960"/>
              <a:ext cx="3928320" cy="306360"/>
            </a:xfrm>
            <a:prstGeom prst="rect">
              <a:avLst/>
            </a:prstGeom>
            <a:solidFill>
              <a:srgbClr val="f1f1f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8" name="Text 6"/>
            <p:cNvSpPr/>
            <p:nvPr/>
          </p:nvSpPr>
          <p:spPr>
            <a:xfrm>
              <a:off x="399600" y="1800000"/>
              <a:ext cx="3928320" cy="278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040" rIns="68040" tIns="68040" bIns="68040" anchor="ctr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1" lang="en-US" sz="939" spc="-1" strike="noStrike">
                  <a:solidFill>
                    <a:srgbClr val="333333"/>
                  </a:solidFill>
                  <a:latin typeface="Noto Sans"/>
                  <a:ea typeface="Noto Sans"/>
                </a:rPr>
                <a:t>idade = 25</a:t>
              </a:r>
              <a:endParaRPr b="0" lang="pt-BR" sz="939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9" name="Shape 9"/>
            <p:cNvSpPr/>
            <p:nvPr/>
          </p:nvSpPr>
          <p:spPr>
            <a:xfrm>
              <a:off x="291960" y="1080000"/>
              <a:ext cx="27720" cy="1099440"/>
            </a:xfrm>
            <a:prstGeom prst="rect">
              <a:avLst/>
            </a:prstGeom>
            <a:solidFill>
              <a:srgbClr val="ffd4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13"/>
          <p:cNvSpPr/>
          <p:nvPr/>
        </p:nvSpPr>
        <p:spPr>
          <a:xfrm>
            <a:off x="285840" y="2880000"/>
            <a:ext cx="4142520" cy="1563840"/>
          </a:xfrm>
          <a:prstGeom prst="rect">
            <a:avLst/>
          </a:pr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15"/>
          <p:cNvSpPr/>
          <p:nvPr/>
        </p:nvSpPr>
        <p:spPr>
          <a:xfrm>
            <a:off x="2244240" y="3764520"/>
            <a:ext cx="995400" cy="222480"/>
          </a:xfrm>
          <a:prstGeom prst="rect">
            <a:avLst/>
          </a:prstGeom>
          <a:solidFill>
            <a:srgbClr val="3069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Shape 1"/>
          <p:cNvSpPr/>
          <p:nvPr/>
        </p:nvSpPr>
        <p:spPr>
          <a:xfrm>
            <a:off x="285840" y="814320"/>
            <a:ext cx="2026080" cy="406440"/>
          </a:xfrm>
          <a:prstGeom prst="rect">
            <a:avLst/>
          </a:prstGeom>
          <a:solidFill>
            <a:srgbClr val="3069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Text 2"/>
          <p:cNvSpPr/>
          <p:nvPr/>
        </p:nvSpPr>
        <p:spPr>
          <a:xfrm>
            <a:off x="285840" y="828720"/>
            <a:ext cx="202608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2240" rIns="102240" tIns="95040" bIns="9504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40" spc="-1" strike="noStrike">
                <a:solidFill>
                  <a:srgbClr val="ffffff"/>
                </a:solidFill>
                <a:latin typeface="Noto Sans"/>
                <a:ea typeface="Noto Sans"/>
              </a:rPr>
              <a:t>Variáveis</a:t>
            </a:r>
            <a:endParaRPr b="0" lang="pt-BR" sz="12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3"/>
          <p:cNvSpPr/>
          <p:nvPr/>
        </p:nvSpPr>
        <p:spPr>
          <a:xfrm>
            <a:off x="2312280" y="814320"/>
            <a:ext cx="2116080" cy="406440"/>
          </a:xfrm>
          <a:prstGeom prst="rect">
            <a:avLst/>
          </a:prstGeom>
          <a:solidFill>
            <a:srgbClr val="3069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 4"/>
          <p:cNvSpPr/>
          <p:nvPr/>
        </p:nvSpPr>
        <p:spPr>
          <a:xfrm>
            <a:off x="2312280" y="828720"/>
            <a:ext cx="211608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2240" rIns="102240" tIns="95040" bIns="9504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40" spc="-1" strike="noStrike">
                <a:solidFill>
                  <a:srgbClr val="ffffff"/>
                </a:solidFill>
                <a:latin typeface="Noto Sans"/>
                <a:ea typeface="Noto Sans"/>
              </a:rPr>
              <a:t>Constantes</a:t>
            </a:r>
            <a:endParaRPr b="0" lang="pt-BR" sz="12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5"/>
          <p:cNvSpPr/>
          <p:nvPr/>
        </p:nvSpPr>
        <p:spPr>
          <a:xfrm>
            <a:off x="285840" y="1189440"/>
            <a:ext cx="202608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2240" rIns="102240" tIns="102240" bIns="10224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333333"/>
                </a:solidFill>
                <a:latin typeface="Noto Sans"/>
                <a:ea typeface="Noto Sans"/>
              </a:rPr>
              <a:t>Podem mudar de valor durante a execução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6"/>
          <p:cNvSpPr/>
          <p:nvPr/>
        </p:nvSpPr>
        <p:spPr>
          <a:xfrm>
            <a:off x="2312280" y="1189440"/>
            <a:ext cx="211608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2240" rIns="102240" tIns="102240" bIns="10224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333333"/>
                </a:solidFill>
                <a:latin typeface="Noto Sans"/>
                <a:ea typeface="Noto Sans"/>
              </a:rPr>
              <a:t>Valor não deve ser alterado após definição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7"/>
          <p:cNvSpPr/>
          <p:nvPr/>
        </p:nvSpPr>
        <p:spPr>
          <a:xfrm>
            <a:off x="285840" y="1713960"/>
            <a:ext cx="2026080" cy="68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2240" rIns="102240" tIns="102240" bIns="10224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333333"/>
                </a:solidFill>
                <a:latin typeface="Noto Sans"/>
                <a:ea typeface="Noto Sans"/>
              </a:rPr>
              <a:t>Nomenclatura: letras minúsculas com underscores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8"/>
          <p:cNvSpPr/>
          <p:nvPr/>
        </p:nvSpPr>
        <p:spPr>
          <a:xfrm>
            <a:off x="2312280" y="1713960"/>
            <a:ext cx="2116080" cy="68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2240" rIns="102240" tIns="102240" bIns="10224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333333"/>
                </a:solidFill>
                <a:latin typeface="Noto Sans"/>
                <a:ea typeface="Noto Sans"/>
              </a:rPr>
              <a:t>Nomenclatura: LETRAS MAIÚSCULAS com underscores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9"/>
          <p:cNvSpPr/>
          <p:nvPr/>
        </p:nvSpPr>
        <p:spPr>
          <a:xfrm>
            <a:off x="379080" y="2509920"/>
            <a:ext cx="21420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33333"/>
                </a:solidFill>
                <a:latin typeface="Noto Sans"/>
                <a:ea typeface="Noto Sans"/>
              </a:rPr>
              <a:t>Ex: 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10"/>
          <p:cNvSpPr/>
          <p:nvPr/>
        </p:nvSpPr>
        <p:spPr>
          <a:xfrm>
            <a:off x="705600" y="2527560"/>
            <a:ext cx="82116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333333"/>
                </a:solidFill>
                <a:latin typeface="ui-monospace"/>
                <a:ea typeface="ui-monospace"/>
              </a:rPr>
              <a:t>contador = 0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11"/>
          <p:cNvSpPr/>
          <p:nvPr/>
        </p:nvSpPr>
        <p:spPr>
          <a:xfrm>
            <a:off x="2405520" y="2509920"/>
            <a:ext cx="21420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33333"/>
                </a:solidFill>
                <a:latin typeface="Noto Sans"/>
                <a:ea typeface="Noto Sans"/>
              </a:rPr>
              <a:t>Ex: 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 12"/>
          <p:cNvSpPr/>
          <p:nvPr/>
        </p:nvSpPr>
        <p:spPr>
          <a:xfrm>
            <a:off x="2757600" y="2527560"/>
            <a:ext cx="77076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333333"/>
                </a:solidFill>
                <a:latin typeface="ui-monospace"/>
                <a:ea typeface="ui-monospace"/>
              </a:rPr>
              <a:t>PI = 3.14159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14"/>
          <p:cNvSpPr/>
          <p:nvPr/>
        </p:nvSpPr>
        <p:spPr>
          <a:xfrm>
            <a:off x="285840" y="2880000"/>
            <a:ext cx="27720" cy="1563840"/>
          </a:xfrm>
          <a:prstGeom prst="rect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15"/>
          <p:cNvSpPr/>
          <p:nvPr/>
        </p:nvSpPr>
        <p:spPr>
          <a:xfrm>
            <a:off x="1646280" y="3011400"/>
            <a:ext cx="1421640" cy="14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39" spc="-1" strike="noStrike">
                <a:solidFill>
                  <a:srgbClr val="333333"/>
                </a:solidFill>
                <a:latin typeface="Noto Sans"/>
                <a:ea typeface="Noto Sans"/>
              </a:rPr>
              <a:t># Variável (pode mudar)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16"/>
          <p:cNvSpPr/>
          <p:nvPr/>
        </p:nvSpPr>
        <p:spPr>
          <a:xfrm>
            <a:off x="1989360" y="3204000"/>
            <a:ext cx="735840" cy="14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39" spc="-1" strike="noStrike">
                <a:solidFill>
                  <a:srgbClr val="333333"/>
                </a:solidFill>
                <a:latin typeface="Noto Sans"/>
                <a:ea typeface="Noto Sans"/>
              </a:rPr>
              <a:t>contador = 0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17"/>
          <p:cNvSpPr/>
          <p:nvPr/>
        </p:nvSpPr>
        <p:spPr>
          <a:xfrm>
            <a:off x="1654560" y="3396960"/>
            <a:ext cx="1404720" cy="14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39" spc="-1" strike="noStrike">
                <a:solidFill>
                  <a:srgbClr val="333333"/>
                </a:solidFill>
                <a:latin typeface="Noto Sans"/>
                <a:ea typeface="Noto Sans"/>
              </a:rPr>
              <a:t>contador = contador + 1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18"/>
          <p:cNvSpPr/>
          <p:nvPr/>
        </p:nvSpPr>
        <p:spPr>
          <a:xfrm>
            <a:off x="1508400" y="3782880"/>
            <a:ext cx="1697400" cy="14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39" spc="-1" strike="noStrike">
                <a:solidFill>
                  <a:srgbClr val="333333"/>
                </a:solidFill>
                <a:latin typeface="Noto Sans"/>
                <a:ea typeface="Noto Sans"/>
              </a:rPr>
              <a:t># Constante </a:t>
            </a:r>
            <a:r>
              <a:rPr b="1" lang="en-US" sz="939" spc="-1" strike="noStrike">
                <a:solidFill>
                  <a:srgbClr val="ffff00"/>
                </a:solidFill>
                <a:latin typeface="Noto Sans"/>
                <a:ea typeface="Noto Sans"/>
              </a:rPr>
              <a:t>(por convenção)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19"/>
          <p:cNvSpPr/>
          <p:nvPr/>
        </p:nvSpPr>
        <p:spPr>
          <a:xfrm>
            <a:off x="2011320" y="3975480"/>
            <a:ext cx="691560" cy="14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39" spc="-1" strike="noStrike">
                <a:solidFill>
                  <a:srgbClr val="333333"/>
                </a:solidFill>
                <a:latin typeface="Noto Sans"/>
                <a:ea typeface="Noto Sans"/>
              </a:rPr>
              <a:t>PI = 3.14159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20"/>
          <p:cNvSpPr/>
          <p:nvPr/>
        </p:nvSpPr>
        <p:spPr>
          <a:xfrm>
            <a:off x="1864440" y="4168440"/>
            <a:ext cx="985680" cy="14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39" spc="-1" strike="noStrike">
                <a:solidFill>
                  <a:srgbClr val="333333"/>
                </a:solidFill>
                <a:latin typeface="Noto Sans"/>
                <a:ea typeface="Noto Sans"/>
              </a:rPr>
              <a:t>GRAVIDADE = 9.8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1" name="Image 1" descr="preencoded.png"/>
          <p:cNvPicPr/>
          <p:nvPr/>
        </p:nvPicPr>
        <p:blipFill>
          <a:blip r:embed="rId1"/>
          <a:stretch/>
        </p:blipFill>
        <p:spPr>
          <a:xfrm>
            <a:off x="5179320" y="1886760"/>
            <a:ext cx="3214080" cy="1808640"/>
          </a:xfrm>
          <a:prstGeom prst="rect">
            <a:avLst/>
          </a:prstGeom>
          <a:ln w="0">
            <a:noFill/>
          </a:ln>
        </p:spPr>
      </p:pic>
      <p:pic>
        <p:nvPicPr>
          <p:cNvPr id="82" name="" descr=""/>
          <p:cNvPicPr/>
          <p:nvPr/>
        </p:nvPicPr>
        <p:blipFill>
          <a:blip r:embed="rId2"/>
          <a:stretch/>
        </p:blipFill>
        <p:spPr>
          <a:xfrm>
            <a:off x="-17640" y="4464000"/>
            <a:ext cx="9179280" cy="702360"/>
          </a:xfrm>
          <a:prstGeom prst="rect">
            <a:avLst/>
          </a:prstGeom>
          <a:ln w="0">
            <a:noFill/>
          </a:ln>
        </p:spPr>
      </p:pic>
      <p:sp>
        <p:nvSpPr>
          <p:cNvPr id="83" name=""/>
          <p:cNvSpPr/>
          <p:nvPr/>
        </p:nvSpPr>
        <p:spPr>
          <a:xfrm>
            <a:off x="0" y="720"/>
            <a:ext cx="9143640" cy="64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306998"/>
                </a:solidFill>
                <a:latin typeface="Noto Sans"/>
                <a:ea typeface="Noto Sans"/>
              </a:rPr>
              <a:t>Constantes vs. Variáveis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1"/>
          <p:cNvSpPr/>
          <p:nvPr/>
        </p:nvSpPr>
        <p:spPr>
          <a:xfrm>
            <a:off x="285840" y="778320"/>
            <a:ext cx="2017440" cy="1235160"/>
          </a:xfrm>
          <a:prstGeom prst="rect">
            <a:avLst/>
          </a:pr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2"/>
          <p:cNvSpPr/>
          <p:nvPr/>
        </p:nvSpPr>
        <p:spPr>
          <a:xfrm>
            <a:off x="285840" y="778320"/>
            <a:ext cx="27720" cy="1235160"/>
          </a:xfrm>
          <a:prstGeom prst="rect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 3"/>
          <p:cNvSpPr/>
          <p:nvPr/>
        </p:nvSpPr>
        <p:spPr>
          <a:xfrm>
            <a:off x="611280" y="887040"/>
            <a:ext cx="136620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40" spc="-1" strike="noStrike">
                <a:solidFill>
                  <a:srgbClr val="306998"/>
                </a:solidFill>
                <a:latin typeface="Noto Sans"/>
                <a:ea typeface="Noto Sans"/>
              </a:rPr>
              <a:t>Impressão Básica</a:t>
            </a:r>
            <a:endParaRPr b="0" lang="pt-BR" sz="12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4"/>
          <p:cNvSpPr/>
          <p:nvPr/>
        </p:nvSpPr>
        <p:spPr>
          <a:xfrm>
            <a:off x="478080" y="1159560"/>
            <a:ext cx="1632960" cy="14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33333"/>
                </a:solidFill>
                <a:latin typeface="Noto Sans"/>
                <a:ea typeface="Noto Sans"/>
              </a:rPr>
              <a:t>Exibe texto ou valores na tela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5"/>
          <p:cNvSpPr/>
          <p:nvPr/>
        </p:nvSpPr>
        <p:spPr>
          <a:xfrm>
            <a:off x="371520" y="1364040"/>
            <a:ext cx="1846080" cy="285120"/>
          </a:xfrm>
          <a:prstGeom prst="rect">
            <a:avLst/>
          </a:prstGeom>
          <a:solidFill>
            <a:srgbClr val="f1f1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6"/>
          <p:cNvSpPr/>
          <p:nvPr/>
        </p:nvSpPr>
        <p:spPr>
          <a:xfrm>
            <a:off x="371520" y="1378440"/>
            <a:ext cx="1846080" cy="2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040" rIns="68040" tIns="64440" bIns="6444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333333"/>
                </a:solidFill>
                <a:latin typeface="Noto Sans"/>
                <a:ea typeface="Noto Sans"/>
              </a:rPr>
              <a:t>print("Olá, mundo!")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Shape 7"/>
          <p:cNvSpPr/>
          <p:nvPr/>
        </p:nvSpPr>
        <p:spPr>
          <a:xfrm>
            <a:off x="371520" y="1685520"/>
            <a:ext cx="1846080" cy="242280"/>
          </a:xfrm>
          <a:prstGeom prst="rect">
            <a:avLst/>
          </a:prstGeom>
          <a:solidFill>
            <a:srgbClr val="e9ec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Shape 8"/>
          <p:cNvSpPr/>
          <p:nvPr/>
        </p:nvSpPr>
        <p:spPr>
          <a:xfrm>
            <a:off x="371520" y="1685520"/>
            <a:ext cx="20880" cy="242280"/>
          </a:xfrm>
          <a:prstGeom prst="rect">
            <a:avLst/>
          </a:prstGeom>
          <a:solidFill>
            <a:srgbClr val="3069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 9"/>
          <p:cNvSpPr/>
          <p:nvPr/>
        </p:nvSpPr>
        <p:spPr>
          <a:xfrm>
            <a:off x="917280" y="1700640"/>
            <a:ext cx="7542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8040" rIns="68040" tIns="42480" bIns="4248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333333"/>
                </a:solidFill>
                <a:latin typeface="Noto Sans"/>
                <a:ea typeface="Noto Sans"/>
              </a:rPr>
              <a:t>Olá, mundo!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10"/>
          <p:cNvSpPr/>
          <p:nvPr/>
        </p:nvSpPr>
        <p:spPr>
          <a:xfrm>
            <a:off x="2410920" y="778320"/>
            <a:ext cx="2017440" cy="1406520"/>
          </a:xfrm>
          <a:prstGeom prst="rect">
            <a:avLst/>
          </a:pr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11"/>
          <p:cNvSpPr/>
          <p:nvPr/>
        </p:nvSpPr>
        <p:spPr>
          <a:xfrm>
            <a:off x="2410920" y="778320"/>
            <a:ext cx="27720" cy="1406520"/>
          </a:xfrm>
          <a:prstGeom prst="rect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12"/>
          <p:cNvSpPr/>
          <p:nvPr/>
        </p:nvSpPr>
        <p:spPr>
          <a:xfrm>
            <a:off x="2513160" y="887040"/>
            <a:ext cx="181260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40" spc="-1" strike="noStrike">
                <a:solidFill>
                  <a:srgbClr val="306998"/>
                </a:solidFill>
                <a:latin typeface="Noto Sans"/>
                <a:ea typeface="Noto Sans"/>
              </a:rPr>
              <a:t>Impressão de Variáveis</a:t>
            </a:r>
            <a:endParaRPr b="0" lang="pt-BR" sz="12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13"/>
          <p:cNvSpPr/>
          <p:nvPr/>
        </p:nvSpPr>
        <p:spPr>
          <a:xfrm>
            <a:off x="2592360" y="1159560"/>
            <a:ext cx="1654200" cy="14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33333"/>
                </a:solidFill>
                <a:latin typeface="Noto Sans"/>
                <a:ea typeface="Noto Sans"/>
              </a:rPr>
              <a:t>Exibe o conteúdo de variáveis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Shape 14"/>
          <p:cNvSpPr/>
          <p:nvPr/>
        </p:nvSpPr>
        <p:spPr>
          <a:xfrm>
            <a:off x="2496600" y="1364040"/>
            <a:ext cx="1846080" cy="456480"/>
          </a:xfrm>
          <a:prstGeom prst="rect">
            <a:avLst/>
          </a:prstGeom>
          <a:solidFill>
            <a:srgbClr val="f1f1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15"/>
          <p:cNvSpPr/>
          <p:nvPr/>
        </p:nvSpPr>
        <p:spPr>
          <a:xfrm>
            <a:off x="2577960" y="1441800"/>
            <a:ext cx="6789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333333"/>
                </a:solidFill>
                <a:latin typeface="Noto Sans"/>
                <a:ea typeface="Noto Sans"/>
              </a:rPr>
              <a:t>nome = "Ana"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16"/>
          <p:cNvSpPr/>
          <p:nvPr/>
        </p:nvSpPr>
        <p:spPr>
          <a:xfrm>
            <a:off x="2574360" y="1613160"/>
            <a:ext cx="59652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333333"/>
                </a:solidFill>
                <a:latin typeface="Noto Sans"/>
                <a:ea typeface="Noto Sans"/>
              </a:rPr>
              <a:t>print(nome)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Shape 17"/>
          <p:cNvSpPr/>
          <p:nvPr/>
        </p:nvSpPr>
        <p:spPr>
          <a:xfrm>
            <a:off x="2496600" y="1857240"/>
            <a:ext cx="1846080" cy="242280"/>
          </a:xfrm>
          <a:prstGeom prst="rect">
            <a:avLst/>
          </a:prstGeom>
          <a:solidFill>
            <a:srgbClr val="e9ec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18"/>
          <p:cNvSpPr/>
          <p:nvPr/>
        </p:nvSpPr>
        <p:spPr>
          <a:xfrm>
            <a:off x="2496600" y="1857240"/>
            <a:ext cx="20880" cy="242280"/>
          </a:xfrm>
          <a:prstGeom prst="rect">
            <a:avLst/>
          </a:prstGeom>
          <a:solidFill>
            <a:srgbClr val="3069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 19"/>
          <p:cNvSpPr/>
          <p:nvPr/>
        </p:nvSpPr>
        <p:spPr>
          <a:xfrm>
            <a:off x="3254400" y="1872360"/>
            <a:ext cx="33048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8040" rIns="68040" tIns="42480" bIns="4248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333333"/>
                </a:solidFill>
                <a:latin typeface="Noto Sans"/>
                <a:ea typeface="Noto Sans"/>
              </a:rPr>
              <a:t>Ana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Shape 20"/>
          <p:cNvSpPr/>
          <p:nvPr/>
        </p:nvSpPr>
        <p:spPr>
          <a:xfrm>
            <a:off x="285840" y="2421720"/>
            <a:ext cx="2017440" cy="1642320"/>
          </a:xfrm>
          <a:prstGeom prst="rect">
            <a:avLst/>
          </a:pr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21"/>
          <p:cNvSpPr/>
          <p:nvPr/>
        </p:nvSpPr>
        <p:spPr>
          <a:xfrm>
            <a:off x="285840" y="2421720"/>
            <a:ext cx="27720" cy="1642320"/>
          </a:xfrm>
          <a:prstGeom prst="rect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22"/>
          <p:cNvSpPr/>
          <p:nvPr/>
        </p:nvSpPr>
        <p:spPr>
          <a:xfrm>
            <a:off x="371520" y="2553840"/>
            <a:ext cx="1846080" cy="37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40" spc="-1" strike="noStrike">
                <a:solidFill>
                  <a:srgbClr val="306998"/>
                </a:solidFill>
                <a:latin typeface="Noto Sans"/>
                <a:ea typeface="Noto Sans"/>
              </a:rPr>
              <a:t>Concatenação de Strings</a:t>
            </a:r>
            <a:endParaRPr b="0" lang="pt-BR" sz="12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23"/>
          <p:cNvSpPr/>
          <p:nvPr/>
        </p:nvSpPr>
        <p:spPr>
          <a:xfrm>
            <a:off x="482400" y="3038760"/>
            <a:ext cx="1623960" cy="14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33333"/>
                </a:solidFill>
                <a:latin typeface="Noto Sans"/>
                <a:ea typeface="Noto Sans"/>
              </a:rPr>
              <a:t>Une textos com o operador +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24"/>
          <p:cNvSpPr/>
          <p:nvPr/>
        </p:nvSpPr>
        <p:spPr>
          <a:xfrm>
            <a:off x="371520" y="3243240"/>
            <a:ext cx="1846080" cy="456480"/>
          </a:xfrm>
          <a:prstGeom prst="rect">
            <a:avLst/>
          </a:prstGeom>
          <a:solidFill>
            <a:srgbClr val="f1f1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25"/>
          <p:cNvSpPr/>
          <p:nvPr/>
        </p:nvSpPr>
        <p:spPr>
          <a:xfrm>
            <a:off x="457200" y="3320640"/>
            <a:ext cx="8085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333333"/>
                </a:solidFill>
                <a:latin typeface="Noto Sans"/>
                <a:ea typeface="Noto Sans"/>
              </a:rPr>
              <a:t>nome = "Carlos"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26"/>
          <p:cNvSpPr/>
          <p:nvPr/>
        </p:nvSpPr>
        <p:spPr>
          <a:xfrm>
            <a:off x="473040" y="3492360"/>
            <a:ext cx="125964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333333"/>
                </a:solidFill>
                <a:latin typeface="Noto Sans"/>
                <a:ea typeface="Noto Sans"/>
              </a:rPr>
              <a:t>print("Olá, " + nome + "!")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Shape 27"/>
          <p:cNvSpPr/>
          <p:nvPr/>
        </p:nvSpPr>
        <p:spPr>
          <a:xfrm>
            <a:off x="371520" y="3736080"/>
            <a:ext cx="1846080" cy="242280"/>
          </a:xfrm>
          <a:prstGeom prst="rect">
            <a:avLst/>
          </a:prstGeom>
          <a:solidFill>
            <a:srgbClr val="e9ec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Shape 28"/>
          <p:cNvSpPr/>
          <p:nvPr/>
        </p:nvSpPr>
        <p:spPr>
          <a:xfrm>
            <a:off x="371520" y="3736080"/>
            <a:ext cx="20880" cy="242280"/>
          </a:xfrm>
          <a:prstGeom prst="rect">
            <a:avLst/>
          </a:prstGeom>
          <a:solidFill>
            <a:srgbClr val="3069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Text 29"/>
          <p:cNvSpPr/>
          <p:nvPr/>
        </p:nvSpPr>
        <p:spPr>
          <a:xfrm>
            <a:off x="941040" y="3751200"/>
            <a:ext cx="70668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8040" rIns="68040" tIns="42480" bIns="4248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333333"/>
                </a:solidFill>
                <a:latin typeface="Noto Sans"/>
                <a:ea typeface="Noto Sans"/>
              </a:rPr>
              <a:t>Olá, Carlos!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Shape 30"/>
          <p:cNvSpPr/>
          <p:nvPr/>
        </p:nvSpPr>
        <p:spPr>
          <a:xfrm>
            <a:off x="2410920" y="2421720"/>
            <a:ext cx="2017440" cy="1942560"/>
          </a:xfrm>
          <a:prstGeom prst="rect">
            <a:avLst/>
          </a:pr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Shape 31"/>
          <p:cNvSpPr/>
          <p:nvPr/>
        </p:nvSpPr>
        <p:spPr>
          <a:xfrm>
            <a:off x="2410920" y="2421720"/>
            <a:ext cx="27720" cy="1942560"/>
          </a:xfrm>
          <a:prstGeom prst="rect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32"/>
          <p:cNvSpPr/>
          <p:nvPr/>
        </p:nvSpPr>
        <p:spPr>
          <a:xfrm>
            <a:off x="2547360" y="2530440"/>
            <a:ext cx="174420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40" spc="-1" strike="noStrike">
                <a:solidFill>
                  <a:srgbClr val="306998"/>
                </a:solidFill>
                <a:latin typeface="Noto Sans"/>
                <a:ea typeface="Noto Sans"/>
              </a:rPr>
              <a:t>F-strings (Python 3.6+)</a:t>
            </a:r>
            <a:endParaRPr b="0" lang="pt-BR" sz="12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33"/>
          <p:cNvSpPr/>
          <p:nvPr/>
        </p:nvSpPr>
        <p:spPr>
          <a:xfrm>
            <a:off x="2496600" y="2827800"/>
            <a:ext cx="1846080" cy="2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33333"/>
                </a:solidFill>
                <a:latin typeface="Noto Sans"/>
                <a:ea typeface="Noto Sans"/>
              </a:rPr>
              <a:t>Formatação moderna recomendada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Shape 34"/>
          <p:cNvSpPr/>
          <p:nvPr/>
        </p:nvSpPr>
        <p:spPr>
          <a:xfrm>
            <a:off x="2496600" y="3200400"/>
            <a:ext cx="1846080" cy="799560"/>
          </a:xfrm>
          <a:prstGeom prst="rect">
            <a:avLst/>
          </a:prstGeom>
          <a:solidFill>
            <a:srgbClr val="f1f1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35"/>
          <p:cNvSpPr/>
          <p:nvPr/>
        </p:nvSpPr>
        <p:spPr>
          <a:xfrm>
            <a:off x="2581200" y="3277800"/>
            <a:ext cx="78084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333333"/>
                </a:solidFill>
                <a:latin typeface="Noto Sans"/>
                <a:ea typeface="Noto Sans"/>
              </a:rPr>
              <a:t>nome = "Maria"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36"/>
          <p:cNvSpPr/>
          <p:nvPr/>
        </p:nvSpPr>
        <p:spPr>
          <a:xfrm>
            <a:off x="2571840" y="3449520"/>
            <a:ext cx="51732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333333"/>
                </a:solidFill>
                <a:latin typeface="Noto Sans"/>
                <a:ea typeface="Noto Sans"/>
              </a:rPr>
              <a:t>idade = 30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37"/>
          <p:cNvSpPr/>
          <p:nvPr/>
        </p:nvSpPr>
        <p:spPr>
          <a:xfrm>
            <a:off x="2587320" y="3620880"/>
            <a:ext cx="13737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333333"/>
                </a:solidFill>
                <a:latin typeface="Noto Sans"/>
                <a:ea typeface="Noto Sans"/>
              </a:rPr>
              <a:t>print(f"{nome} tem {idade} 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38"/>
          <p:cNvSpPr/>
          <p:nvPr/>
        </p:nvSpPr>
        <p:spPr>
          <a:xfrm>
            <a:off x="2565720" y="3792240"/>
            <a:ext cx="34524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333333"/>
                </a:solidFill>
                <a:latin typeface="Noto Sans"/>
                <a:ea typeface="Noto Sans"/>
              </a:rPr>
              <a:t>anos.")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Shape 39"/>
          <p:cNvSpPr/>
          <p:nvPr/>
        </p:nvSpPr>
        <p:spPr>
          <a:xfrm>
            <a:off x="2496600" y="4035960"/>
            <a:ext cx="1846080" cy="242280"/>
          </a:xfrm>
          <a:prstGeom prst="rect">
            <a:avLst/>
          </a:prstGeom>
          <a:solidFill>
            <a:srgbClr val="e9ec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Shape 40"/>
          <p:cNvSpPr/>
          <p:nvPr/>
        </p:nvSpPr>
        <p:spPr>
          <a:xfrm>
            <a:off x="2496600" y="4035960"/>
            <a:ext cx="20880" cy="242280"/>
          </a:xfrm>
          <a:prstGeom prst="rect">
            <a:avLst/>
          </a:prstGeom>
          <a:solidFill>
            <a:srgbClr val="3069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Text 41"/>
          <p:cNvSpPr/>
          <p:nvPr/>
        </p:nvSpPr>
        <p:spPr>
          <a:xfrm>
            <a:off x="2870280" y="4051080"/>
            <a:ext cx="109836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8040" rIns="68040" tIns="42480" bIns="4248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333333"/>
                </a:solidFill>
                <a:latin typeface="Noto Sans"/>
                <a:ea typeface="Noto Sans"/>
              </a:rPr>
              <a:t>Maria tem 30 anos.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5" name="Image 1" descr="preencoded.png"/>
          <p:cNvPicPr/>
          <p:nvPr/>
        </p:nvPicPr>
        <p:blipFill>
          <a:blip r:embed="rId1"/>
          <a:stretch/>
        </p:blipFill>
        <p:spPr>
          <a:xfrm>
            <a:off x="5179320" y="1931760"/>
            <a:ext cx="3214080" cy="1807560"/>
          </a:xfrm>
          <a:prstGeom prst="rect">
            <a:avLst/>
          </a:prstGeom>
          <a:ln w="0">
            <a:noFill/>
          </a:ln>
        </p:spPr>
      </p:pic>
      <p:pic>
        <p:nvPicPr>
          <p:cNvPr id="126" name="" descr=""/>
          <p:cNvPicPr/>
          <p:nvPr/>
        </p:nvPicPr>
        <p:blipFill>
          <a:blip r:embed="rId2"/>
          <a:stretch/>
        </p:blipFill>
        <p:spPr>
          <a:xfrm>
            <a:off x="-17640" y="4464000"/>
            <a:ext cx="9179280" cy="702360"/>
          </a:xfrm>
          <a:prstGeom prst="rect">
            <a:avLst/>
          </a:prstGeom>
          <a:ln w="0">
            <a:noFill/>
          </a:ln>
        </p:spPr>
      </p:pic>
      <p:sp>
        <p:nvSpPr>
          <p:cNvPr id="127" name=""/>
          <p:cNvSpPr/>
          <p:nvPr/>
        </p:nvSpPr>
        <p:spPr>
          <a:xfrm>
            <a:off x="0" y="720"/>
            <a:ext cx="9143640" cy="64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306998"/>
                </a:solidFill>
                <a:latin typeface="Noto Sans"/>
                <a:ea typeface="Noto Sans"/>
              </a:rPr>
              <a:t>Saída de Dados: print()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 1"/>
          <p:cNvSpPr/>
          <p:nvPr/>
        </p:nvSpPr>
        <p:spPr>
          <a:xfrm>
            <a:off x="1294560" y="1518120"/>
            <a:ext cx="212508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306998"/>
                </a:solidFill>
                <a:latin typeface="Noto Sans"/>
                <a:ea typeface="Noto Sans"/>
              </a:rPr>
              <a:t>O que é a função input()?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2"/>
          <p:cNvSpPr/>
          <p:nvPr/>
        </p:nvSpPr>
        <p:spPr>
          <a:xfrm>
            <a:off x="291240" y="1825920"/>
            <a:ext cx="61488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 3"/>
          <p:cNvSpPr/>
          <p:nvPr/>
        </p:nvSpPr>
        <p:spPr>
          <a:xfrm>
            <a:off x="1008000" y="1807920"/>
            <a:ext cx="40752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4"/>
          <p:cNvSpPr/>
          <p:nvPr/>
        </p:nvSpPr>
        <p:spPr>
          <a:xfrm>
            <a:off x="1595520" y="1825920"/>
            <a:ext cx="261288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 5"/>
          <p:cNvSpPr/>
          <p:nvPr/>
        </p:nvSpPr>
        <p:spPr>
          <a:xfrm>
            <a:off x="371880" y="2044080"/>
            <a:ext cx="271044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6"/>
          <p:cNvSpPr/>
          <p:nvPr/>
        </p:nvSpPr>
        <p:spPr>
          <a:xfrm>
            <a:off x="1749240" y="2393280"/>
            <a:ext cx="121536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306998"/>
                </a:solidFill>
                <a:latin typeface="Noto Sans"/>
                <a:ea typeface="Noto Sans"/>
              </a:rPr>
              <a:t>Sintaxe básica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Shape 7"/>
          <p:cNvSpPr/>
          <p:nvPr/>
        </p:nvSpPr>
        <p:spPr>
          <a:xfrm>
            <a:off x="285840" y="2682360"/>
            <a:ext cx="4142520" cy="556560"/>
          </a:xfrm>
          <a:prstGeom prst="rect">
            <a:avLst/>
          </a:pr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Shape 8"/>
          <p:cNvSpPr/>
          <p:nvPr/>
        </p:nvSpPr>
        <p:spPr>
          <a:xfrm>
            <a:off x="285840" y="2682360"/>
            <a:ext cx="27720" cy="556560"/>
          </a:xfrm>
          <a:prstGeom prst="rect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 9"/>
          <p:cNvSpPr/>
          <p:nvPr/>
        </p:nvSpPr>
        <p:spPr>
          <a:xfrm>
            <a:off x="374400" y="2792160"/>
            <a:ext cx="2040480" cy="14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39" spc="-1" strike="noStrike">
                <a:solidFill>
                  <a:srgbClr val="333333"/>
                </a:solidFill>
                <a:latin typeface="Noto Sans"/>
                <a:ea typeface="Noto Sans"/>
              </a:rPr>
              <a:t> </a:t>
            </a:r>
            <a:r>
              <a:rPr b="1" lang="en-US" sz="939" spc="-1" strike="noStrike">
                <a:solidFill>
                  <a:srgbClr val="333333"/>
                </a:solidFill>
                <a:latin typeface="Noto Sans"/>
                <a:ea typeface="Noto Sans"/>
              </a:rPr>
              <a:t>nome = input("Digite seu nome: ")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10"/>
          <p:cNvSpPr/>
          <p:nvPr/>
        </p:nvSpPr>
        <p:spPr>
          <a:xfrm>
            <a:off x="380520" y="2985120"/>
            <a:ext cx="1334880" cy="14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39" spc="-1" strike="noStrike">
                <a:solidFill>
                  <a:srgbClr val="333333"/>
                </a:solidFill>
                <a:latin typeface="Noto Sans"/>
                <a:ea typeface="Noto Sans"/>
              </a:rPr>
              <a:t> </a:t>
            </a:r>
            <a:r>
              <a:rPr b="1" lang="en-US" sz="939" spc="-1" strike="noStrike">
                <a:solidFill>
                  <a:srgbClr val="333333"/>
                </a:solidFill>
                <a:latin typeface="Noto Sans"/>
                <a:ea typeface="Noto Sans"/>
              </a:rPr>
              <a:t>print(f"Olá, {nome}!") 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11"/>
          <p:cNvSpPr/>
          <p:nvPr/>
        </p:nvSpPr>
        <p:spPr>
          <a:xfrm>
            <a:off x="285840" y="3382560"/>
            <a:ext cx="4142520" cy="795960"/>
          </a:xfrm>
          <a:prstGeom prst="rect">
            <a:avLst/>
          </a:prstGeom>
          <a:solidFill>
            <a:srgbClr val="fff3c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12"/>
          <p:cNvSpPr/>
          <p:nvPr/>
        </p:nvSpPr>
        <p:spPr>
          <a:xfrm>
            <a:off x="285840" y="3382560"/>
            <a:ext cx="27720" cy="795960"/>
          </a:xfrm>
          <a:prstGeom prst="rect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 13"/>
          <p:cNvSpPr/>
          <p:nvPr/>
        </p:nvSpPr>
        <p:spPr>
          <a:xfrm>
            <a:off x="1755720" y="3432240"/>
            <a:ext cx="120528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333333"/>
                </a:solidFill>
                <a:latin typeface="Noto Sans"/>
                <a:ea typeface="Noto Sans"/>
              </a:rPr>
              <a:t>Importante</a:t>
            </a:r>
            <a:r>
              <a:rPr b="1" lang="en-US" sz="839" spc="-1" strike="noStrike">
                <a:solidFill>
                  <a:srgbClr val="333333"/>
                </a:solidFill>
                <a:latin typeface="Noto Sans"/>
                <a:ea typeface="Noto Sans"/>
              </a:rPr>
              <a:t>!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 14"/>
          <p:cNvSpPr/>
          <p:nvPr/>
        </p:nvSpPr>
        <p:spPr>
          <a:xfrm>
            <a:off x="376920" y="3694320"/>
            <a:ext cx="61488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33333"/>
                </a:solidFill>
                <a:latin typeface="Noto Sans"/>
                <a:ea typeface="Noto Sans"/>
              </a:rPr>
              <a:t> </a:t>
            </a:r>
            <a:r>
              <a:rPr b="0" lang="en-US" sz="1050" spc="-1" strike="noStrike">
                <a:solidFill>
                  <a:srgbClr val="333333"/>
                </a:solidFill>
                <a:latin typeface="Noto Sans"/>
                <a:ea typeface="Noto Sans"/>
              </a:rPr>
              <a:t>A função 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15"/>
          <p:cNvSpPr/>
          <p:nvPr/>
        </p:nvSpPr>
        <p:spPr>
          <a:xfrm>
            <a:off x="1009800" y="3672720"/>
            <a:ext cx="50400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333333"/>
                </a:solidFill>
                <a:latin typeface="ui-monospace"/>
                <a:ea typeface="ui-monospace"/>
              </a:rPr>
              <a:t>input()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16"/>
          <p:cNvSpPr/>
          <p:nvPr/>
        </p:nvSpPr>
        <p:spPr>
          <a:xfrm>
            <a:off x="1614600" y="3694320"/>
            <a:ext cx="135396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33333"/>
                </a:solidFill>
                <a:latin typeface="Noto Sans"/>
                <a:ea typeface="Noto Sans"/>
              </a:rPr>
              <a:t> </a:t>
            </a:r>
            <a:r>
              <a:rPr b="0" lang="en-US" sz="1050" spc="-1" strike="noStrike">
                <a:solidFill>
                  <a:srgbClr val="333333"/>
                </a:solidFill>
                <a:latin typeface="Noto Sans"/>
                <a:ea typeface="Noto Sans"/>
              </a:rPr>
              <a:t>sempre retorna uma 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17"/>
          <p:cNvSpPr/>
          <p:nvPr/>
        </p:nvSpPr>
        <p:spPr>
          <a:xfrm>
            <a:off x="2989800" y="3675240"/>
            <a:ext cx="48996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333333"/>
                </a:solidFill>
                <a:latin typeface="Noto Sans"/>
                <a:ea typeface="Noto Sans"/>
              </a:rPr>
              <a:t>string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 18"/>
          <p:cNvSpPr/>
          <p:nvPr/>
        </p:nvSpPr>
        <p:spPr>
          <a:xfrm>
            <a:off x="3487320" y="3694320"/>
            <a:ext cx="57060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33333"/>
                </a:solidFill>
                <a:latin typeface="Noto Sans"/>
                <a:ea typeface="Noto Sans"/>
              </a:rPr>
              <a:t>, mesmo 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 19"/>
          <p:cNvSpPr/>
          <p:nvPr/>
        </p:nvSpPr>
        <p:spPr>
          <a:xfrm>
            <a:off x="436320" y="3912120"/>
            <a:ext cx="215244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33333"/>
                </a:solidFill>
                <a:latin typeface="Noto Sans"/>
                <a:ea typeface="Noto Sans"/>
              </a:rPr>
              <a:t>quando o usuário digita números. 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7" name="Image 1" descr="preencoded.png"/>
          <p:cNvPicPr/>
          <p:nvPr/>
        </p:nvPicPr>
        <p:blipFill>
          <a:blip r:embed="rId1"/>
          <a:stretch/>
        </p:blipFill>
        <p:spPr>
          <a:xfrm>
            <a:off x="5072040" y="1871640"/>
            <a:ext cx="3428280" cy="1928160"/>
          </a:xfrm>
          <a:prstGeom prst="rect">
            <a:avLst/>
          </a:prstGeom>
          <a:ln w="0">
            <a:noFill/>
          </a:ln>
        </p:spPr>
      </p:pic>
      <p:sp>
        <p:nvSpPr>
          <p:cNvPr id="148" name=""/>
          <p:cNvSpPr/>
          <p:nvPr/>
        </p:nvSpPr>
        <p:spPr>
          <a:xfrm>
            <a:off x="0" y="720"/>
            <a:ext cx="9143640" cy="64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306998"/>
                </a:solidFill>
                <a:latin typeface="Noto Sans"/>
                <a:ea typeface="Noto Sans"/>
              </a:rPr>
              <a:t>Entrada de Dados: input()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9" name="" descr=""/>
          <p:cNvPicPr/>
          <p:nvPr/>
        </p:nvPicPr>
        <p:blipFill>
          <a:blip r:embed="rId2"/>
          <a:stretch/>
        </p:blipFill>
        <p:spPr>
          <a:xfrm>
            <a:off x="-17640" y="4464000"/>
            <a:ext cx="9179280" cy="702360"/>
          </a:xfrm>
          <a:prstGeom prst="rect">
            <a:avLst/>
          </a:prstGeom>
          <a:ln w="0">
            <a:noFill/>
          </a:ln>
        </p:spPr>
      </p:pic>
      <p:sp>
        <p:nvSpPr>
          <p:cNvPr id="150" name=""/>
          <p:cNvSpPr/>
          <p:nvPr/>
        </p:nvSpPr>
        <p:spPr>
          <a:xfrm>
            <a:off x="360000" y="1800000"/>
            <a:ext cx="3959640" cy="66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333333"/>
                </a:solidFill>
                <a:latin typeface="Noto Sans"/>
                <a:ea typeface="Noto Sans"/>
              </a:rPr>
              <a:t> </a:t>
            </a:r>
            <a:r>
              <a:rPr b="1" lang="en-US" sz="1100" spc="-1" strike="noStrike">
                <a:solidFill>
                  <a:srgbClr val="333333"/>
                </a:solidFill>
                <a:latin typeface="Noto Sans"/>
                <a:ea typeface="Noto Sans"/>
              </a:rPr>
              <a:t>A função </a:t>
            </a:r>
            <a:r>
              <a:rPr b="1" lang="en-US" sz="1100" spc="-1" strike="noStrike">
                <a:solidFill>
                  <a:srgbClr val="333333"/>
                </a:solidFill>
                <a:latin typeface="ui-monospace"/>
                <a:ea typeface="ui-monospace"/>
              </a:rPr>
              <a:t>input() </a:t>
            </a:r>
            <a:r>
              <a:rPr b="1" lang="en-US" sz="1100" spc="-1" strike="noStrike">
                <a:solidFill>
                  <a:srgbClr val="333333"/>
                </a:solidFill>
                <a:latin typeface="Noto Sans"/>
                <a:ea typeface="Noto Sans"/>
              </a:rPr>
              <a:t> permite que seu programa receba dados  digitados pelo usuário durante a execução. </a:t>
            </a:r>
            <a:r>
              <a:rPr b="1" lang="en-US" sz="1100" spc="-1" strike="noStrike">
                <a:solidFill>
                  <a:srgbClr val="333333"/>
                </a:solidFill>
                <a:latin typeface="ui-monospace"/>
                <a:ea typeface="ui-monospace"/>
              </a:rPr>
              <a:t> </a:t>
            </a:r>
            <a:r>
              <a:rPr b="1" lang="en-US" sz="1100" spc="-1" strike="noStrike">
                <a:solidFill>
                  <a:srgbClr val="333333"/>
                </a:solidFill>
                <a:latin typeface="Noto Sans"/>
                <a:ea typeface="Noto Sans"/>
              </a:rPr>
              <a:t> 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ext 0"/>
          <p:cNvSpPr/>
          <p:nvPr/>
        </p:nvSpPr>
        <p:spPr>
          <a:xfrm>
            <a:off x="5703120" y="1620000"/>
            <a:ext cx="221652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1"/>
          <p:cNvSpPr/>
          <p:nvPr/>
        </p:nvSpPr>
        <p:spPr>
          <a:xfrm>
            <a:off x="399600" y="833040"/>
            <a:ext cx="388548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7"/>
          <p:cNvSpPr/>
          <p:nvPr/>
        </p:nvSpPr>
        <p:spPr>
          <a:xfrm>
            <a:off x="285840" y="1271160"/>
            <a:ext cx="4142520" cy="735120"/>
          </a:xfrm>
          <a:prstGeom prst="rect">
            <a:avLst/>
          </a:pr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8"/>
          <p:cNvSpPr/>
          <p:nvPr/>
        </p:nvSpPr>
        <p:spPr>
          <a:xfrm>
            <a:off x="285840" y="1271160"/>
            <a:ext cx="27720" cy="735120"/>
          </a:xfrm>
          <a:prstGeom prst="rect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9"/>
          <p:cNvSpPr/>
          <p:nvPr/>
        </p:nvSpPr>
        <p:spPr>
          <a:xfrm>
            <a:off x="2219400" y="1369440"/>
            <a:ext cx="27504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306998"/>
                </a:solidFill>
                <a:latin typeface="Noto Sans"/>
                <a:ea typeface="Noto Sans"/>
              </a:rPr>
              <a:t>int()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10"/>
          <p:cNvSpPr/>
          <p:nvPr/>
        </p:nvSpPr>
        <p:spPr>
          <a:xfrm>
            <a:off x="384480" y="1613160"/>
            <a:ext cx="78552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333333"/>
                </a:solidFill>
                <a:latin typeface="Noto Sans"/>
                <a:ea typeface="Noto Sans"/>
              </a:rPr>
              <a:t>idade_str = "25"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11"/>
          <p:cNvSpPr/>
          <p:nvPr/>
        </p:nvSpPr>
        <p:spPr>
          <a:xfrm>
            <a:off x="442800" y="1784520"/>
            <a:ext cx="24177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333333"/>
                </a:solidFill>
                <a:latin typeface="Noto Sans"/>
                <a:ea typeface="Noto Sans"/>
              </a:rPr>
              <a:t>idade = int(idade_str) # Converte para inteiro: 25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Shape 12"/>
          <p:cNvSpPr/>
          <p:nvPr/>
        </p:nvSpPr>
        <p:spPr>
          <a:xfrm>
            <a:off x="285840" y="2078640"/>
            <a:ext cx="4142520" cy="735120"/>
          </a:xfrm>
          <a:prstGeom prst="rect">
            <a:avLst/>
          </a:pr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hape 13"/>
          <p:cNvSpPr/>
          <p:nvPr/>
        </p:nvSpPr>
        <p:spPr>
          <a:xfrm>
            <a:off x="285840" y="2078640"/>
            <a:ext cx="27720" cy="735120"/>
          </a:xfrm>
          <a:prstGeom prst="rect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14"/>
          <p:cNvSpPr/>
          <p:nvPr/>
        </p:nvSpPr>
        <p:spPr>
          <a:xfrm>
            <a:off x="2156400" y="2176560"/>
            <a:ext cx="40140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306998"/>
                </a:solidFill>
                <a:latin typeface="Noto Sans"/>
                <a:ea typeface="Noto Sans"/>
              </a:rPr>
              <a:t>float()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 15"/>
          <p:cNvSpPr/>
          <p:nvPr/>
        </p:nvSpPr>
        <p:spPr>
          <a:xfrm>
            <a:off x="390240" y="2420280"/>
            <a:ext cx="94104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333333"/>
                </a:solidFill>
                <a:latin typeface="Noto Sans"/>
                <a:ea typeface="Noto Sans"/>
              </a:rPr>
              <a:t>preco_str = "19.99"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16"/>
          <p:cNvSpPr/>
          <p:nvPr/>
        </p:nvSpPr>
        <p:spPr>
          <a:xfrm>
            <a:off x="448920" y="2592000"/>
            <a:ext cx="257328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333333"/>
                </a:solidFill>
                <a:latin typeface="Noto Sans"/>
                <a:ea typeface="Noto Sans"/>
              </a:rPr>
              <a:t>preco = float(preco_str) # Converte para float: 19.99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Shape 17"/>
          <p:cNvSpPr/>
          <p:nvPr/>
        </p:nvSpPr>
        <p:spPr>
          <a:xfrm>
            <a:off x="285840" y="2885760"/>
            <a:ext cx="4142520" cy="735120"/>
          </a:xfrm>
          <a:prstGeom prst="rect">
            <a:avLst/>
          </a:pr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Shape 18"/>
          <p:cNvSpPr/>
          <p:nvPr/>
        </p:nvSpPr>
        <p:spPr>
          <a:xfrm>
            <a:off x="285840" y="2885760"/>
            <a:ext cx="27720" cy="735120"/>
          </a:xfrm>
          <a:prstGeom prst="rect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19"/>
          <p:cNvSpPr/>
          <p:nvPr/>
        </p:nvSpPr>
        <p:spPr>
          <a:xfrm>
            <a:off x="2220120" y="2983680"/>
            <a:ext cx="27360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306998"/>
                </a:solidFill>
                <a:latin typeface="Noto Sans"/>
                <a:ea typeface="Noto Sans"/>
              </a:rPr>
              <a:t>str()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 20"/>
          <p:cNvSpPr/>
          <p:nvPr/>
        </p:nvSpPr>
        <p:spPr>
          <a:xfrm>
            <a:off x="379800" y="3227760"/>
            <a:ext cx="63612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333333"/>
                </a:solidFill>
                <a:latin typeface="Noto Sans"/>
                <a:ea typeface="Noto Sans"/>
              </a:rPr>
              <a:t>numero = 42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 21"/>
          <p:cNvSpPr/>
          <p:nvPr/>
        </p:nvSpPr>
        <p:spPr>
          <a:xfrm>
            <a:off x="441720" y="3399120"/>
            <a:ext cx="23889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333333"/>
                </a:solidFill>
                <a:latin typeface="Noto Sans"/>
                <a:ea typeface="Noto Sans"/>
              </a:rPr>
              <a:t>texto = str(numero) # Converte para string: "42"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Shape 22"/>
          <p:cNvSpPr/>
          <p:nvPr/>
        </p:nvSpPr>
        <p:spPr>
          <a:xfrm>
            <a:off x="285840" y="3692880"/>
            <a:ext cx="4142520" cy="735120"/>
          </a:xfrm>
          <a:prstGeom prst="rect">
            <a:avLst/>
          </a:pr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Shape 23"/>
          <p:cNvSpPr/>
          <p:nvPr/>
        </p:nvSpPr>
        <p:spPr>
          <a:xfrm>
            <a:off x="285840" y="3692880"/>
            <a:ext cx="27720" cy="735120"/>
          </a:xfrm>
          <a:prstGeom prst="rect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24"/>
          <p:cNvSpPr/>
          <p:nvPr/>
        </p:nvSpPr>
        <p:spPr>
          <a:xfrm>
            <a:off x="2167560" y="3791160"/>
            <a:ext cx="37872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306998"/>
                </a:solidFill>
                <a:latin typeface="Noto Sans"/>
                <a:ea typeface="Noto Sans"/>
              </a:rPr>
              <a:t>bool()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25"/>
          <p:cNvSpPr/>
          <p:nvPr/>
        </p:nvSpPr>
        <p:spPr>
          <a:xfrm>
            <a:off x="394200" y="4034880"/>
            <a:ext cx="106308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333333"/>
                </a:solidFill>
                <a:latin typeface="Noto Sans"/>
                <a:ea typeface="Noto Sans"/>
              </a:rPr>
              <a:t>valor = bool(1) # True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26"/>
          <p:cNvSpPr/>
          <p:nvPr/>
        </p:nvSpPr>
        <p:spPr>
          <a:xfrm>
            <a:off x="397080" y="4206240"/>
            <a:ext cx="112392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333333"/>
                </a:solidFill>
                <a:latin typeface="Noto Sans"/>
                <a:ea typeface="Noto Sans"/>
              </a:rPr>
              <a:t>vazio = bool("") # False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3" name="Image 1" descr="preencoded.png"/>
          <p:cNvPicPr/>
          <p:nvPr/>
        </p:nvPicPr>
        <p:blipFill>
          <a:blip r:embed="rId1"/>
          <a:stretch/>
        </p:blipFill>
        <p:spPr>
          <a:xfrm>
            <a:off x="5179320" y="1980720"/>
            <a:ext cx="3214080" cy="1785240"/>
          </a:xfrm>
          <a:prstGeom prst="rect">
            <a:avLst/>
          </a:prstGeom>
          <a:ln w="0">
            <a:noFill/>
          </a:ln>
        </p:spPr>
      </p:pic>
      <p:sp>
        <p:nvSpPr>
          <p:cNvPr id="174" name=""/>
          <p:cNvSpPr/>
          <p:nvPr/>
        </p:nvSpPr>
        <p:spPr>
          <a:xfrm>
            <a:off x="0" y="720"/>
            <a:ext cx="9143640" cy="64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306998"/>
                </a:solidFill>
                <a:latin typeface="Noto Sans"/>
                <a:ea typeface="Noto Sans"/>
              </a:rPr>
              <a:t>Casting de Dados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"/>
          <p:cNvSpPr/>
          <p:nvPr/>
        </p:nvSpPr>
        <p:spPr>
          <a:xfrm>
            <a:off x="0" y="720000"/>
            <a:ext cx="9179640" cy="71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333333"/>
                </a:solidFill>
                <a:latin typeface="Noto Sans"/>
                <a:ea typeface="Noto Sans"/>
              </a:rPr>
              <a:t> </a:t>
            </a:r>
            <a:r>
              <a:rPr b="1" lang="en-US" sz="1300" spc="-1" strike="noStrike">
                <a:solidFill>
                  <a:srgbClr val="333333"/>
                </a:solidFill>
                <a:latin typeface="Noto Sans"/>
                <a:ea typeface="Noto Sans"/>
              </a:rPr>
              <a:t>Casting é o processo de converter um tipo de dado em outro.  Em Python, isso é especialmente importante ao trabalhar com entrada de dados, já que a função </a:t>
            </a:r>
            <a:r>
              <a:rPr b="1" lang="en-US" sz="1300" spc="-1" strike="noStrike">
                <a:solidFill>
                  <a:srgbClr val="333333"/>
                </a:solidFill>
                <a:latin typeface="ui-monospace"/>
                <a:ea typeface="ui-monospace"/>
              </a:rPr>
              <a:t>input() </a:t>
            </a:r>
            <a:r>
              <a:rPr b="1" lang="en-US" sz="1300" spc="-1" strike="noStrike">
                <a:solidFill>
                  <a:srgbClr val="333333"/>
                </a:solidFill>
                <a:latin typeface="Noto Sans"/>
                <a:ea typeface="Noto Sans"/>
              </a:rPr>
              <a:t>sempre retorna uma string. 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6" name="" descr=""/>
          <p:cNvPicPr/>
          <p:nvPr/>
        </p:nvPicPr>
        <p:blipFill>
          <a:blip r:embed="rId2"/>
          <a:stretch/>
        </p:blipFill>
        <p:spPr>
          <a:xfrm>
            <a:off x="-16920" y="4464000"/>
            <a:ext cx="9179280" cy="702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" descr=""/>
          <p:cNvPicPr/>
          <p:nvPr/>
        </p:nvPicPr>
        <p:blipFill>
          <a:blip r:embed="rId1"/>
          <a:stretch/>
        </p:blipFill>
        <p:spPr>
          <a:xfrm>
            <a:off x="1062000" y="652320"/>
            <a:ext cx="7019640" cy="3838680"/>
          </a:xfrm>
          <a:prstGeom prst="rect">
            <a:avLst/>
          </a:prstGeom>
          <a:ln w="0">
            <a:noFill/>
          </a:ln>
        </p:spPr>
      </p:pic>
      <p:sp>
        <p:nvSpPr>
          <p:cNvPr id="178" name=""/>
          <p:cNvSpPr/>
          <p:nvPr/>
        </p:nvSpPr>
        <p:spPr>
          <a:xfrm>
            <a:off x="360" y="720"/>
            <a:ext cx="9143640" cy="64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306998"/>
                </a:solidFill>
                <a:latin typeface="Noto Sans"/>
                <a:ea typeface="Noto Sans"/>
              </a:rPr>
              <a:t>Google Colab → </a:t>
            </a:r>
            <a:r>
              <a:rPr b="1" lang="en-US" sz="2400" spc="-1" strike="noStrike">
                <a:solidFill>
                  <a:srgbClr val="306998"/>
                </a:solidFill>
                <a:latin typeface="Noto Sans"/>
                <a:ea typeface="Noto Sans"/>
              </a:rPr>
              <a:t>https://colab.google/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9" name="" descr=""/>
          <p:cNvPicPr/>
          <p:nvPr/>
        </p:nvPicPr>
        <p:blipFill>
          <a:blip r:embed="rId2"/>
          <a:stretch/>
        </p:blipFill>
        <p:spPr>
          <a:xfrm>
            <a:off x="-16560" y="4464000"/>
            <a:ext cx="9179280" cy="702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"/>
          <p:cNvSpPr/>
          <p:nvPr/>
        </p:nvSpPr>
        <p:spPr>
          <a:xfrm>
            <a:off x="68760" y="576000"/>
            <a:ext cx="8930880" cy="405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100000"/>
              </a:lnSpc>
              <a:spcAft>
                <a:spcPts val="567"/>
              </a:spcAft>
            </a:pPr>
            <a:r>
              <a:rPr b="0" lang="pt-BR" sz="1300" spc="-1" strike="noStrike">
                <a:solidFill>
                  <a:srgbClr val="000000"/>
                </a:solidFill>
                <a:latin typeface="Arial"/>
              </a:rPr>
              <a:t>a) Ler uma temperatura em graus Celsius e apresentá-la convertida em graus Fahrenheit. A fórmula de conversão é </a:t>
            </a:r>
            <a:br>
              <a:rPr sz="1300"/>
            </a:br>
            <a:r>
              <a:rPr b="0" lang="pt-BR" sz="1300" spc="-1" strike="noStrike">
                <a:solidFill>
                  <a:srgbClr val="000000"/>
                </a:solidFill>
                <a:latin typeface="Arial"/>
              </a:rPr>
              <a:t>                                , sendo F a temperatura em Fahrenheit e C a temperatura em Celsius.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Aft>
                <a:spcPts val="567"/>
              </a:spcAft>
            </a:pP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Aft>
                <a:spcPts val="567"/>
              </a:spcAft>
            </a:pPr>
            <a:r>
              <a:rPr b="0" lang="pt-BR" sz="1300" spc="-1" strike="noStrike">
                <a:solidFill>
                  <a:srgbClr val="000000"/>
                </a:solidFill>
                <a:latin typeface="Arial"/>
              </a:rPr>
              <a:t>b) Ler uma temperatura em graus Fahrenheit e apresentá-la convertida em graus Celsius. A fórmula de conversão é </a:t>
            </a:r>
            <a:br>
              <a:rPr sz="1300"/>
            </a:br>
            <a:r>
              <a:rPr b="0" lang="pt-BR" sz="1300" spc="-1" strike="noStrike">
                <a:solidFill>
                  <a:srgbClr val="000000"/>
                </a:solidFill>
                <a:latin typeface="Arial"/>
              </a:rPr>
              <a:t>C = (F - 32) * (5/9) , sendo F a temperatura em Fahrenheit e C a temperatura em Celsius.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Aft>
                <a:spcPts val="567"/>
              </a:spcAft>
            </a:pPr>
            <a:r>
              <a:rPr b="0" lang="pt-BR" sz="1300" spc="-1" strike="noStrike">
                <a:solidFill>
                  <a:srgbClr val="000000"/>
                </a:solidFill>
                <a:latin typeface="Arial"/>
              </a:rPr>
              <a:t>c) Calcular e apresentar o valor do volume de uma lata de óleo, utilizando a fórmula: Volume = π * Raio 2 * Altura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Aft>
                <a:spcPts val="567"/>
              </a:spcAft>
            </a:pPr>
            <a:r>
              <a:rPr b="0" lang="pt-BR" sz="1300" spc="-1" strike="noStrike">
                <a:solidFill>
                  <a:srgbClr val="000000"/>
                </a:solidFill>
                <a:latin typeface="Arial"/>
              </a:rPr>
              <a:t>d) Efetuar o cálculo da quantidade de litros de combustível gasta em uma viagem, utilizando um automóvel que faz 12 Km por litro. Para obter o cálculo, o usuário deve fornecer o tempo gasto (TEMPO) e a velocidade média (VELOCIDADE) durante a viagem. Desta forma, será possível obter a distância percorrida com a fórmula </a:t>
            </a:r>
            <a:br>
              <a:rPr sz="1300"/>
            </a:br>
            <a:r>
              <a:rPr b="0" lang="pt-BR" sz="1300" spc="-1" strike="noStrike">
                <a:solidFill>
                  <a:srgbClr val="000000"/>
                </a:solidFill>
                <a:latin typeface="Arial"/>
              </a:rPr>
              <a:t>DISTANCIA = TEMPO * VELOCIDADE. Possuindo o valor da distância, basta calcular a quantidade de litros de combustível utilizada na viagem com a fórmula LITROS_USADOS = DISTANCIA / 12. Ao final, o programa deve apresentar os valores da velocidade média (VELOCIDADE), tempo gasto na viagem (TEMPO), a distancia percorrida (DISTANCIA) e a quantidade de litros (LITROS_USADOS) utilizada na viagem.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Aft>
                <a:spcPts val="567"/>
              </a:spcAft>
            </a:pPr>
            <a:r>
              <a:rPr b="0" lang="pt-BR" sz="1300" spc="-1" strike="noStrike">
                <a:solidFill>
                  <a:srgbClr val="000000"/>
                </a:solidFill>
                <a:latin typeface="Arial"/>
              </a:rPr>
              <a:t>e) Efetuar o cálculo e a apresentação do valor de uma prestação em atraso, utilizando a fórmula </a:t>
            </a:r>
            <a:br>
              <a:rPr sz="1300"/>
            </a:br>
            <a:r>
              <a:rPr b="0" lang="pt-BR" sz="1300" spc="-1" strike="noStrike">
                <a:solidFill>
                  <a:srgbClr val="000000"/>
                </a:solidFill>
                <a:latin typeface="Arial"/>
              </a:rPr>
              <a:t>PRESTACAO = VALOR + (VALOR * TAXA/100) * TEMPO.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Aft>
                <a:spcPts val="567"/>
              </a:spcAft>
            </a:pPr>
            <a:r>
              <a:rPr b="0" lang="pt-BR" sz="1300" spc="-1" strike="noStrike">
                <a:solidFill>
                  <a:srgbClr val="000000"/>
                </a:solidFill>
                <a:latin typeface="Arial"/>
              </a:rPr>
              <a:t>f) Ler dois valores (inteiros, reais ou caracteres) para as variáveis A e B, e efetuar a troca dos valores de forma que a variável A passe a possuir o valor da variável B e a variável B passe a possuir o valor da variável A. Apresentar os valores trocados.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1" name="" descr=""/>
          <p:cNvPicPr/>
          <p:nvPr/>
        </p:nvPicPr>
        <p:blipFill>
          <a:blip r:embed="rId1"/>
          <a:stretch/>
        </p:blipFill>
        <p:spPr>
          <a:xfrm>
            <a:off x="22320" y="4470480"/>
            <a:ext cx="9179640" cy="702360"/>
          </a:xfrm>
          <a:prstGeom prst="rect">
            <a:avLst/>
          </a:prstGeom>
          <a:ln w="0">
            <a:noFill/>
          </a:ln>
        </p:spPr>
      </p:pic>
      <p:sp>
        <p:nvSpPr>
          <p:cNvPr id="182" name=""/>
          <p:cNvSpPr/>
          <p:nvPr/>
        </p:nvSpPr>
        <p:spPr>
          <a:xfrm>
            <a:off x="0" y="360"/>
            <a:ext cx="9143640" cy="64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306998"/>
                </a:solidFill>
                <a:latin typeface="Noto Sans"/>
                <a:ea typeface="Noto Sans"/>
              </a:rPr>
              <a:t>Exercícios → </a:t>
            </a:r>
            <a:r>
              <a:rPr b="1" lang="en-US" sz="2400" spc="-1" strike="noStrike">
                <a:solidFill>
                  <a:srgbClr val="306998"/>
                </a:solidFill>
                <a:latin typeface="Noto Sans"/>
                <a:ea typeface="Noto Sans"/>
              </a:rPr>
              <a:t>https://colab.google/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3" name="" descr=""/>
          <p:cNvPicPr/>
          <p:nvPr/>
        </p:nvPicPr>
        <p:blipFill>
          <a:blip r:embed="rId2"/>
          <a:stretch/>
        </p:blipFill>
        <p:spPr>
          <a:xfrm>
            <a:off x="216000" y="828000"/>
            <a:ext cx="1259640" cy="349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"/>
          <p:cNvSpPr/>
          <p:nvPr/>
        </p:nvSpPr>
        <p:spPr>
          <a:xfrm>
            <a:off x="68760" y="540000"/>
            <a:ext cx="8750880" cy="39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100000"/>
              </a:lnSpc>
              <a:spcAft>
                <a:spcPts val="567"/>
              </a:spcAft>
            </a:pPr>
            <a:r>
              <a:rPr b="0" lang="pt-BR" sz="1300" spc="-1" strike="noStrike">
                <a:solidFill>
                  <a:srgbClr val="000000"/>
                </a:solidFill>
                <a:latin typeface="Arial"/>
              </a:rPr>
              <a:t>g) Ler quatro números inteiros e apresentar o resultado da adição e multiplicação, baseando-se na utilização do conceito da propriedade distributiva. Ou seja, se forem lidas as variáveis A, B, C, e D, devem ser somadas e multiplicadas A com B, A com C e A com D. Depois B com C, B com D e por fim C com D. Perceba que será necessário efetuar seis operações de adição e seis operações de multiplicação e apresentar doze resultados de saída.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Aft>
                <a:spcPts val="567"/>
              </a:spcAft>
            </a:pPr>
            <a:r>
              <a:rPr b="0" lang="pt-BR" sz="1300" spc="-1" strike="noStrike">
                <a:solidFill>
                  <a:srgbClr val="000000"/>
                </a:solidFill>
                <a:latin typeface="Arial"/>
              </a:rPr>
              <a:t>h) Elaborar um programa que calcule e apresente o volume de uma caixa retangular, por meio da fórmula </a:t>
            </a:r>
            <a:br>
              <a:rPr sz="1300"/>
            </a:br>
            <a:r>
              <a:rPr b="0" lang="pt-BR" sz="1300" spc="-1" strike="noStrike">
                <a:solidFill>
                  <a:srgbClr val="000000"/>
                </a:solidFill>
                <a:latin typeface="Arial"/>
              </a:rPr>
              <a:t>VOLUME = COMPRIMENTO * LARGURA * ALTURA.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Aft>
                <a:spcPts val="567"/>
              </a:spcAft>
            </a:pPr>
            <a:r>
              <a:rPr b="0" lang="pt-BR" sz="1300" spc="-1" strike="noStrike">
                <a:solidFill>
                  <a:srgbClr val="000000"/>
                </a:solidFill>
                <a:latin typeface="Arial"/>
              </a:rPr>
              <a:t>i) Ler dois inteiros (variáveis A e B) e imprimir o resultado do quadrado da diferença do primeiro valor pelo segundo.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Aft>
                <a:spcPts val="567"/>
              </a:spcAft>
            </a:pPr>
            <a:r>
              <a:rPr b="0" lang="pt-BR" sz="1300" spc="-1" strike="noStrike">
                <a:solidFill>
                  <a:srgbClr val="000000"/>
                </a:solidFill>
                <a:latin typeface="Arial"/>
              </a:rPr>
              <a:t>j) Elaborar um programa que efetue a apresentação do valor da conversão em real de um valor lido em dólar. O programa deve solicitar o valor da cotação do dólar e também a quantidade de dólares disponível com o usuário, para que seja apresentado o valor em moeda brasileira.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Aft>
                <a:spcPts val="567"/>
              </a:spcAft>
            </a:pPr>
            <a:r>
              <a:rPr b="0" lang="pt-BR" sz="1300" spc="-1" strike="noStrike">
                <a:solidFill>
                  <a:srgbClr val="000000"/>
                </a:solidFill>
                <a:latin typeface="Arial"/>
              </a:rPr>
              <a:t>k) Elaborar um programa que efetue a apresentação do valor da conversão em dólar de um valor lido em real. O programa deve solicitar o valor da cotação do dólar e também a quantidade de reais disponível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Aft>
                <a:spcPts val="567"/>
              </a:spcAft>
            </a:pPr>
            <a:r>
              <a:rPr b="0" lang="pt-BR" sz="1300" spc="-1" strike="noStrike">
                <a:solidFill>
                  <a:srgbClr val="000000"/>
                </a:solidFill>
                <a:latin typeface="Arial"/>
              </a:rPr>
              <a:t>com o usuário, para que seja apresentado o valor em moeda americana.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Aft>
                <a:spcPts val="567"/>
              </a:spcAft>
            </a:pPr>
            <a:r>
              <a:rPr b="0" lang="pt-BR" sz="1300" spc="-1" strike="noStrike">
                <a:solidFill>
                  <a:srgbClr val="000000"/>
                </a:solidFill>
                <a:latin typeface="Arial"/>
              </a:rPr>
              <a:t>l) Elaborar um programa que efetue a leitura de três valores (A, B e C) e apresente como resultado final à soma dos quadrados dos três valores lidos.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Aft>
                <a:spcPts val="567"/>
              </a:spcAft>
            </a:pPr>
            <a:r>
              <a:rPr b="0" lang="pt-BR" sz="1300" spc="-1" strike="noStrike">
                <a:solidFill>
                  <a:srgbClr val="000000"/>
                </a:solidFill>
                <a:latin typeface="Arial"/>
              </a:rPr>
              <a:t>m) Elaborar um programa que efetue a leitura de três valores (A,B e C) e apresente como resultado final o quadrado da soma dos três valores lidos.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5" name="" descr=""/>
          <p:cNvPicPr/>
          <p:nvPr/>
        </p:nvPicPr>
        <p:blipFill>
          <a:blip r:embed="rId1"/>
          <a:stretch/>
        </p:blipFill>
        <p:spPr>
          <a:xfrm>
            <a:off x="22320" y="4470480"/>
            <a:ext cx="9179640" cy="702360"/>
          </a:xfrm>
          <a:prstGeom prst="rect">
            <a:avLst/>
          </a:prstGeom>
          <a:ln w="0">
            <a:noFill/>
          </a:ln>
        </p:spPr>
      </p:pic>
      <p:sp>
        <p:nvSpPr>
          <p:cNvPr id="186" name=""/>
          <p:cNvSpPr/>
          <p:nvPr/>
        </p:nvSpPr>
        <p:spPr>
          <a:xfrm>
            <a:off x="0" y="360"/>
            <a:ext cx="9143640" cy="64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306998"/>
                </a:solidFill>
                <a:latin typeface="Noto Sans"/>
                <a:ea typeface="Noto Sans"/>
              </a:rPr>
              <a:t>Exercícios → </a:t>
            </a:r>
            <a:r>
              <a:rPr b="1" lang="en-US" sz="2400" spc="-1" strike="noStrike">
                <a:solidFill>
                  <a:srgbClr val="306998"/>
                </a:solidFill>
                <a:latin typeface="Noto Sans"/>
                <a:ea typeface="Noto Sans"/>
              </a:rPr>
              <a:t>https://colab.google/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2025-09-05T18:25:15Z</dcterms:created>
  <dc:creator>PptxGenJS</dc:creator>
  <dc:description/>
  <dc:language>pt-BR</dc:language>
  <cp:lastModifiedBy/>
  <dcterms:modified xsi:type="dcterms:W3CDTF">2025-09-07T22:06:16Z</dcterms:modified>
  <cp:revision>4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