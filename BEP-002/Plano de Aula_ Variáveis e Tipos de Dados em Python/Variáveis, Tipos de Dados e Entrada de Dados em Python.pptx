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38" y="478631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2907506"/>
            <a:ext cx="642937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Variáveis, Tipos de Dados e Entrada de Dados em Python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3121512" y="4079081"/>
            <a:ext cx="290097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Fundamentos da Programação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 da Aula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057275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4356" y="885825"/>
            <a:ext cx="38647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Compreender os tipos de dados primitivos em Python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714500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4356" y="1543050"/>
            <a:ext cx="38647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Aprender a declarar e utilizar variáveis corretamente</a:t>
            </a:r>
            <a:endParaRPr lang="en-US" sz="13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371725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64356" y="2200275"/>
            <a:ext cx="38647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Dominar a entrada e saída de dados com input() e print()</a:t>
            </a:r>
            <a:endParaRPr lang="en-US" sz="13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028950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64356" y="2857500"/>
            <a:ext cx="38647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Realizar conversão entre diferentes tipos de dados (casting)</a:t>
            </a:r>
            <a:endParaRPr lang="en-US" sz="13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3686175"/>
            <a:ext cx="171450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64356" y="3514725"/>
            <a:ext cx="38647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Aplicar os conceitos em exercícios práticos no Google Colab</a:t>
            </a:r>
            <a:endParaRPr lang="en-US" sz="13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7813" y="1282778"/>
            <a:ext cx="2857500" cy="2492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579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Tipos de Dados Primitivos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85825"/>
            <a:ext cx="4143375" cy="13144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85825"/>
            <a:ext cx="28575" cy="131445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992981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(inteiro)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2906" y="1285875"/>
            <a:ext cx="39290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Números inteiros, positivos ou negativos, sem casas decimais</a:t>
            </a:r>
            <a:endParaRPr lang="en-US" sz="1046" dirty="0"/>
          </a:p>
        </p:txBody>
      </p:sp>
      <p:sp>
        <p:nvSpPr>
          <p:cNvPr id="8" name="Shape 5"/>
          <p:cNvSpPr/>
          <p:nvPr/>
        </p:nvSpPr>
        <p:spPr>
          <a:xfrm>
            <a:off x="392906" y="1785938"/>
            <a:ext cx="3929063" cy="307181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9" name="Text 6"/>
          <p:cNvSpPr/>
          <p:nvPr/>
        </p:nvSpPr>
        <p:spPr>
          <a:xfrm>
            <a:off x="392906" y="1785938"/>
            <a:ext cx="3929063" cy="30718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idade = 25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285750" y="2343150"/>
            <a:ext cx="4143375" cy="11001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" y="2343150"/>
            <a:ext cx="28575" cy="1100138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2" name="Text 9"/>
          <p:cNvSpPr/>
          <p:nvPr/>
        </p:nvSpPr>
        <p:spPr>
          <a:xfrm>
            <a:off x="392906" y="2450306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float (ponto flutuante)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92906" y="2743200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Números reais com casas decimais</a:t>
            </a:r>
            <a:endParaRPr lang="en-US" sz="1046" dirty="0"/>
          </a:p>
        </p:txBody>
      </p:sp>
      <p:sp>
        <p:nvSpPr>
          <p:cNvPr id="14" name="Shape 11"/>
          <p:cNvSpPr/>
          <p:nvPr/>
        </p:nvSpPr>
        <p:spPr>
          <a:xfrm>
            <a:off x="392906" y="3028950"/>
            <a:ext cx="3929063" cy="307181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5" name="Text 12"/>
          <p:cNvSpPr/>
          <p:nvPr/>
        </p:nvSpPr>
        <p:spPr>
          <a:xfrm>
            <a:off x="392906" y="3028950"/>
            <a:ext cx="3929063" cy="30718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altura = 1.75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285750" y="3586163"/>
            <a:ext cx="4143375" cy="11001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4"/>
          <p:cNvSpPr/>
          <p:nvPr/>
        </p:nvSpPr>
        <p:spPr>
          <a:xfrm>
            <a:off x="285750" y="3586163"/>
            <a:ext cx="28575" cy="1100138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8" name="Text 15"/>
          <p:cNvSpPr/>
          <p:nvPr/>
        </p:nvSpPr>
        <p:spPr>
          <a:xfrm>
            <a:off x="392906" y="3693319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 (string)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92906" y="3986213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Sequências de caracteres (texto)</a:t>
            </a:r>
            <a:endParaRPr lang="en-US" sz="1046" dirty="0"/>
          </a:p>
        </p:txBody>
      </p:sp>
      <p:sp>
        <p:nvSpPr>
          <p:cNvPr id="20" name="Shape 17"/>
          <p:cNvSpPr/>
          <p:nvPr/>
        </p:nvSpPr>
        <p:spPr>
          <a:xfrm>
            <a:off x="392906" y="4271963"/>
            <a:ext cx="3929063" cy="307181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1" name="Text 18"/>
          <p:cNvSpPr/>
          <p:nvPr/>
        </p:nvSpPr>
        <p:spPr>
          <a:xfrm>
            <a:off x="392906" y="4271963"/>
            <a:ext cx="3929063" cy="30718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 = "Maria"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285750" y="4829175"/>
            <a:ext cx="4143375" cy="11001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0"/>
          <p:cNvSpPr/>
          <p:nvPr/>
        </p:nvSpPr>
        <p:spPr>
          <a:xfrm>
            <a:off x="285750" y="4829175"/>
            <a:ext cx="28575" cy="1100138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24" name="Text 21"/>
          <p:cNvSpPr/>
          <p:nvPr/>
        </p:nvSpPr>
        <p:spPr>
          <a:xfrm>
            <a:off x="392906" y="4936331"/>
            <a:ext cx="39290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bool (booleano)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92906" y="5229225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Valores lógicos: True ou False</a:t>
            </a:r>
            <a:endParaRPr lang="en-US" sz="1046" dirty="0"/>
          </a:p>
        </p:txBody>
      </p:sp>
      <p:sp>
        <p:nvSpPr>
          <p:cNvPr id="26" name="Shape 23"/>
          <p:cNvSpPr/>
          <p:nvPr/>
        </p:nvSpPr>
        <p:spPr>
          <a:xfrm>
            <a:off x="392906" y="5514975"/>
            <a:ext cx="3929063" cy="307181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7" name="Text 24"/>
          <p:cNvSpPr/>
          <p:nvPr/>
        </p:nvSpPr>
        <p:spPr>
          <a:xfrm>
            <a:off x="392906" y="5514975"/>
            <a:ext cx="3929063" cy="30718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is_estudante = True</a:t>
            </a:r>
            <a:endParaRPr lang="en-US" sz="942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2551686"/>
            <a:ext cx="3571875" cy="18546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4222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Variáveis: Declaração e Uso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são variáveis?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14438"/>
            <a:ext cx="4143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Espaços na memória que armazenam valores que podem ser alterados durante a execução do programa.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85750" y="178593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Regras para nomes de variáveis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2114550"/>
            <a:ext cx="3971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Devem começar com letra ou underscore (_)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457200" y="2386013"/>
            <a:ext cx="3971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Podem conter letras, números e underscore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457200" y="2657475"/>
            <a:ext cx="39719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Não podem ser palavras reservadas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457200" y="2937867"/>
            <a:ext cx="2821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São </a:t>
            </a:r>
            <a:endParaRPr lang="en-US" sz="1046" dirty="0"/>
          </a:p>
        </p:txBody>
      </p:sp>
      <p:sp>
        <p:nvSpPr>
          <p:cNvPr id="11" name="Shape 8"/>
          <p:cNvSpPr/>
          <p:nvPr/>
        </p:nvSpPr>
        <p:spPr>
          <a:xfrm>
            <a:off x="739378" y="2923580"/>
            <a:ext cx="999427" cy="223242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2" name="Text 9"/>
          <p:cNvSpPr/>
          <p:nvPr/>
        </p:nvSpPr>
        <p:spPr>
          <a:xfrm>
            <a:off x="739378" y="2923580"/>
            <a:ext cx="999427" cy="223242"/>
          </a:xfrm>
          <a:prstGeom prst="rect">
            <a:avLst/>
          </a:prstGeom>
          <a:noFill/>
          <a:ln/>
        </p:spPr>
        <p:txBody>
          <a:bodyPr wrap="none" lIns="42545" tIns="17018" rIns="42545" bIns="1701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FFD4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case-sensitive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457200" y="2937867"/>
            <a:ext cx="329614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(maiúsculas e minúsculas são diferentes)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85750" y="3500438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Declaração e atribuição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85750" y="3829050"/>
            <a:ext cx="4143375" cy="942975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6" name="Text 13"/>
          <p:cNvSpPr/>
          <p:nvPr/>
        </p:nvSpPr>
        <p:spPr>
          <a:xfrm>
            <a:off x="371475" y="3923705"/>
            <a:ext cx="9744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nome = "Carlos"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71475" y="4116586"/>
            <a:ext cx="6235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idade = 25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71475" y="4309467"/>
            <a:ext cx="7494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altura = 1.75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71475" y="4502348"/>
            <a:ext cx="11720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is_estudante = True 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285750" y="4914900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Reatribuição de valores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285750" y="5243513"/>
            <a:ext cx="4143375" cy="750094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2" name="Text 19"/>
          <p:cNvSpPr/>
          <p:nvPr/>
        </p:nvSpPr>
        <p:spPr>
          <a:xfrm>
            <a:off x="371475" y="5338167"/>
            <a:ext cx="7615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contador = 0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71475" y="5531048"/>
            <a:ext cx="1449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contador = contador + 1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371475" y="5723930"/>
            <a:ext cx="22514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contador = "fim" # Tipagem dinâmica </a:t>
            </a:r>
            <a:endParaRPr lang="en-US" sz="942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2505977"/>
            <a:ext cx="3571875" cy="20103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Constantes vs. Variáveis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14388"/>
            <a:ext cx="2026620" cy="407194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814388"/>
            <a:ext cx="2026620" cy="4071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Variáveis</a:t>
            </a:r>
            <a:endParaRPr lang="en-US" sz="1238" dirty="0"/>
          </a:p>
        </p:txBody>
      </p:sp>
      <p:sp>
        <p:nvSpPr>
          <p:cNvPr id="6" name="Shape 3"/>
          <p:cNvSpPr/>
          <p:nvPr/>
        </p:nvSpPr>
        <p:spPr>
          <a:xfrm>
            <a:off x="2312370" y="814388"/>
            <a:ext cx="2116755" cy="407194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7" name="Text 4"/>
          <p:cNvSpPr/>
          <p:nvPr/>
        </p:nvSpPr>
        <p:spPr>
          <a:xfrm>
            <a:off x="2312370" y="814388"/>
            <a:ext cx="2116755" cy="40719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Constantes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285750" y="1221581"/>
            <a:ext cx="2026620" cy="60364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Podem mudar de valor durante a execução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312370" y="1221581"/>
            <a:ext cx="2116755" cy="60364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 não deve ser alterado após definição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285750" y="1825228"/>
            <a:ext cx="2026620" cy="82153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Nomenclatura: letras minúsculas com underscores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312370" y="1825228"/>
            <a:ext cx="2116755" cy="82153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Nomenclatura: LETRAS MAIÚSCULAS com underscores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371475" y="2744986"/>
            <a:ext cx="2304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Ex: 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601945" y="2778919"/>
            <a:ext cx="102886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contador = 0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398095" y="2744986"/>
            <a:ext cx="2304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Ex: 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2628565" y="2778919"/>
            <a:ext cx="102886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 = 3.14159</a:t>
            </a:r>
            <a:endParaRPr lang="en-US" sz="1046" dirty="0"/>
          </a:p>
        </p:txBody>
      </p:sp>
      <p:sp>
        <p:nvSpPr>
          <p:cNvPr id="16" name="Shape 13"/>
          <p:cNvSpPr/>
          <p:nvPr/>
        </p:nvSpPr>
        <p:spPr>
          <a:xfrm>
            <a:off x="285750" y="3203972"/>
            <a:ext cx="4143375" cy="15644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4"/>
          <p:cNvSpPr/>
          <p:nvPr/>
        </p:nvSpPr>
        <p:spPr>
          <a:xfrm>
            <a:off x="285750" y="3203972"/>
            <a:ext cx="28575" cy="1564481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8" name="Text 15"/>
          <p:cNvSpPr/>
          <p:nvPr/>
        </p:nvSpPr>
        <p:spPr>
          <a:xfrm>
            <a:off x="392906" y="3311128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Variável (pode mudar)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92906" y="3504009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contador = 0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92906" y="3696891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contador = contador + 1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392906" y="4082653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Constante (por convenção)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392906" y="4275534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 = 3.14159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92906" y="4468416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GRAVIDADE = 9.8</a:t>
            </a:r>
            <a:endParaRPr lang="en-US" sz="942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9" y="1886787"/>
            <a:ext cx="3214688" cy="18092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Saída de Dados: print()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14388"/>
            <a:ext cx="2018109" cy="12358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14388"/>
            <a:ext cx="28575" cy="1235869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6" name="Text 3"/>
          <p:cNvSpPr/>
          <p:nvPr/>
        </p:nvSpPr>
        <p:spPr>
          <a:xfrm>
            <a:off x="371475" y="900113"/>
            <a:ext cx="184665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Impressão Básica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371475" y="1171575"/>
            <a:ext cx="18466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Exibe texto ou valores na tela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371475" y="1400175"/>
            <a:ext cx="1846659" cy="28575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9" name="Text 6"/>
          <p:cNvSpPr/>
          <p:nvPr/>
        </p:nvSpPr>
        <p:spPr>
          <a:xfrm>
            <a:off x="371475" y="1400175"/>
            <a:ext cx="1846659" cy="28575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print("Olá, mundo!")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371475" y="1721644"/>
            <a:ext cx="1846659" cy="2428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Shape 8"/>
          <p:cNvSpPr/>
          <p:nvPr/>
        </p:nvSpPr>
        <p:spPr>
          <a:xfrm>
            <a:off x="371475" y="1721644"/>
            <a:ext cx="21431" cy="242888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2" name="Text 9"/>
          <p:cNvSpPr/>
          <p:nvPr/>
        </p:nvSpPr>
        <p:spPr>
          <a:xfrm>
            <a:off x="371475" y="1721644"/>
            <a:ext cx="1846659" cy="242888"/>
          </a:xfrm>
          <a:prstGeom prst="rect">
            <a:avLst/>
          </a:prstGeom>
          <a:noFill/>
          <a:ln/>
        </p:spPr>
        <p:txBody>
          <a:bodyPr wrap="none" lIns="68072" tIns="42545" rIns="68072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Olá, mundo!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2411016" y="814388"/>
            <a:ext cx="2018109" cy="14073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1"/>
          <p:cNvSpPr/>
          <p:nvPr/>
        </p:nvSpPr>
        <p:spPr>
          <a:xfrm>
            <a:off x="2411016" y="814388"/>
            <a:ext cx="28575" cy="1407319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5" name="Text 12"/>
          <p:cNvSpPr/>
          <p:nvPr/>
        </p:nvSpPr>
        <p:spPr>
          <a:xfrm>
            <a:off x="2496741" y="900113"/>
            <a:ext cx="184665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Impressão de Variáveis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2496741" y="1171575"/>
            <a:ext cx="18466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Exibe o conteúdo de variáveis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2496741" y="1400175"/>
            <a:ext cx="1846659" cy="4572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8" name="Text 15"/>
          <p:cNvSpPr/>
          <p:nvPr/>
        </p:nvSpPr>
        <p:spPr>
          <a:xfrm>
            <a:off x="2553891" y="1464469"/>
            <a:ext cx="7278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 = "Ana"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2553891" y="1635919"/>
            <a:ext cx="6386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print(nome)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2496741" y="1893094"/>
            <a:ext cx="1846659" cy="2428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1" name="Shape 18"/>
          <p:cNvSpPr/>
          <p:nvPr/>
        </p:nvSpPr>
        <p:spPr>
          <a:xfrm>
            <a:off x="2496741" y="1893094"/>
            <a:ext cx="21431" cy="242888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2" name="Text 19"/>
          <p:cNvSpPr/>
          <p:nvPr/>
        </p:nvSpPr>
        <p:spPr>
          <a:xfrm>
            <a:off x="2496741" y="1893094"/>
            <a:ext cx="1846659" cy="242888"/>
          </a:xfrm>
          <a:prstGeom prst="rect">
            <a:avLst/>
          </a:prstGeom>
          <a:noFill/>
          <a:ln/>
        </p:spPr>
        <p:txBody>
          <a:bodyPr wrap="none" lIns="68072" tIns="42545" rIns="68072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</a:t>
            </a:r>
            <a:endParaRPr lang="en-US" sz="837" dirty="0"/>
          </a:p>
        </p:txBody>
      </p:sp>
      <p:sp>
        <p:nvSpPr>
          <p:cNvPr id="23" name="Shape 20"/>
          <p:cNvSpPr/>
          <p:nvPr/>
        </p:nvSpPr>
        <p:spPr>
          <a:xfrm>
            <a:off x="285750" y="2889647"/>
            <a:ext cx="2018109" cy="16430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Shape 21"/>
          <p:cNvSpPr/>
          <p:nvPr/>
        </p:nvSpPr>
        <p:spPr>
          <a:xfrm>
            <a:off x="285750" y="2889647"/>
            <a:ext cx="28575" cy="1643063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25" name="Text 22"/>
          <p:cNvSpPr/>
          <p:nvPr/>
        </p:nvSpPr>
        <p:spPr>
          <a:xfrm>
            <a:off x="371475" y="2975372"/>
            <a:ext cx="184665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Concatenação de Strings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371475" y="3482578"/>
            <a:ext cx="18466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Une textos com o operador +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371475" y="3711178"/>
            <a:ext cx="1846659" cy="4572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8" name="Text 25"/>
          <p:cNvSpPr/>
          <p:nvPr/>
        </p:nvSpPr>
        <p:spPr>
          <a:xfrm>
            <a:off x="428625" y="3775472"/>
            <a:ext cx="8661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 = "Carlos"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428625" y="3946922"/>
            <a:ext cx="13487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print("Olá, " + nome + "!")</a:t>
            </a:r>
            <a:endParaRPr lang="en-US" sz="837" dirty="0"/>
          </a:p>
        </p:txBody>
      </p:sp>
      <p:sp>
        <p:nvSpPr>
          <p:cNvPr id="30" name="Shape 27"/>
          <p:cNvSpPr/>
          <p:nvPr/>
        </p:nvSpPr>
        <p:spPr>
          <a:xfrm>
            <a:off x="371475" y="4204097"/>
            <a:ext cx="1846659" cy="2428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1" name="Shape 28"/>
          <p:cNvSpPr/>
          <p:nvPr/>
        </p:nvSpPr>
        <p:spPr>
          <a:xfrm>
            <a:off x="371475" y="4204097"/>
            <a:ext cx="21431" cy="242888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32" name="Text 29"/>
          <p:cNvSpPr/>
          <p:nvPr/>
        </p:nvSpPr>
        <p:spPr>
          <a:xfrm>
            <a:off x="371475" y="4204097"/>
            <a:ext cx="1846659" cy="242888"/>
          </a:xfrm>
          <a:prstGeom prst="rect">
            <a:avLst/>
          </a:prstGeom>
          <a:noFill/>
          <a:ln/>
        </p:spPr>
        <p:txBody>
          <a:bodyPr wrap="none" lIns="68072" tIns="42545" rIns="68072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Olá, Carlos!</a:t>
            </a:r>
            <a:endParaRPr lang="en-US" sz="837" dirty="0"/>
          </a:p>
        </p:txBody>
      </p:sp>
      <p:sp>
        <p:nvSpPr>
          <p:cNvPr id="33" name="Shape 30"/>
          <p:cNvSpPr/>
          <p:nvPr/>
        </p:nvSpPr>
        <p:spPr>
          <a:xfrm>
            <a:off x="2411016" y="2889647"/>
            <a:ext cx="2018109" cy="19431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Shape 31"/>
          <p:cNvSpPr/>
          <p:nvPr/>
        </p:nvSpPr>
        <p:spPr>
          <a:xfrm>
            <a:off x="2411016" y="2889647"/>
            <a:ext cx="28575" cy="194310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35" name="Text 32"/>
          <p:cNvSpPr/>
          <p:nvPr/>
        </p:nvSpPr>
        <p:spPr>
          <a:xfrm>
            <a:off x="2496741" y="2975372"/>
            <a:ext cx="184665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F-strings (Python 3.6+)</a:t>
            </a:r>
            <a:endParaRPr lang="en-US" sz="1238" dirty="0"/>
          </a:p>
        </p:txBody>
      </p:sp>
      <p:sp>
        <p:nvSpPr>
          <p:cNvPr id="36" name="Text 33"/>
          <p:cNvSpPr/>
          <p:nvPr/>
        </p:nvSpPr>
        <p:spPr>
          <a:xfrm>
            <a:off x="2496741" y="3246834"/>
            <a:ext cx="184665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Formatação moderna recomendada</a:t>
            </a:r>
            <a:endParaRPr lang="en-US" sz="942" dirty="0"/>
          </a:p>
        </p:txBody>
      </p:sp>
      <p:sp>
        <p:nvSpPr>
          <p:cNvPr id="37" name="Shape 34"/>
          <p:cNvSpPr/>
          <p:nvPr/>
        </p:nvSpPr>
        <p:spPr>
          <a:xfrm>
            <a:off x="2496741" y="3668316"/>
            <a:ext cx="1846659" cy="8001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38" name="Text 35"/>
          <p:cNvSpPr/>
          <p:nvPr/>
        </p:nvSpPr>
        <p:spPr>
          <a:xfrm>
            <a:off x="2553891" y="3732609"/>
            <a:ext cx="8366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 = "Maria"</a:t>
            </a:r>
            <a:endParaRPr lang="en-US" sz="837" dirty="0"/>
          </a:p>
        </p:txBody>
      </p:sp>
      <p:sp>
        <p:nvSpPr>
          <p:cNvPr id="39" name="Text 36"/>
          <p:cNvSpPr/>
          <p:nvPr/>
        </p:nvSpPr>
        <p:spPr>
          <a:xfrm>
            <a:off x="2553891" y="3904059"/>
            <a:ext cx="5542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idade = 30</a:t>
            </a:r>
            <a:endParaRPr lang="en-US" sz="837" dirty="0"/>
          </a:p>
        </p:txBody>
      </p:sp>
      <p:sp>
        <p:nvSpPr>
          <p:cNvPr id="40" name="Text 37"/>
          <p:cNvSpPr/>
          <p:nvPr/>
        </p:nvSpPr>
        <p:spPr>
          <a:xfrm>
            <a:off x="2553891" y="4075509"/>
            <a:ext cx="14415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print(f"{nome} tem {idade} </a:t>
            </a:r>
            <a:endParaRPr lang="en-US" sz="837" dirty="0"/>
          </a:p>
        </p:txBody>
      </p:sp>
      <p:sp>
        <p:nvSpPr>
          <p:cNvPr id="41" name="Text 38"/>
          <p:cNvSpPr/>
          <p:nvPr/>
        </p:nvSpPr>
        <p:spPr>
          <a:xfrm>
            <a:off x="2553891" y="4246959"/>
            <a:ext cx="370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anos.")</a:t>
            </a:r>
            <a:endParaRPr lang="en-US" sz="837" dirty="0"/>
          </a:p>
        </p:txBody>
      </p:sp>
      <p:sp>
        <p:nvSpPr>
          <p:cNvPr id="42" name="Shape 39"/>
          <p:cNvSpPr/>
          <p:nvPr/>
        </p:nvSpPr>
        <p:spPr>
          <a:xfrm>
            <a:off x="2496741" y="4504134"/>
            <a:ext cx="1846659" cy="24288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43" name="Shape 40"/>
          <p:cNvSpPr/>
          <p:nvPr/>
        </p:nvSpPr>
        <p:spPr>
          <a:xfrm>
            <a:off x="2496741" y="4504134"/>
            <a:ext cx="21431" cy="242888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4" name="Text 41"/>
          <p:cNvSpPr/>
          <p:nvPr/>
        </p:nvSpPr>
        <p:spPr>
          <a:xfrm>
            <a:off x="2496741" y="4504134"/>
            <a:ext cx="1846659" cy="242888"/>
          </a:xfrm>
          <a:prstGeom prst="rect">
            <a:avLst/>
          </a:prstGeom>
          <a:noFill/>
          <a:ln/>
        </p:spPr>
        <p:txBody>
          <a:bodyPr wrap="none" lIns="68072" tIns="42545" rIns="68072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Maria tem 30 anos.</a:t>
            </a:r>
            <a:endParaRPr lang="en-US" sz="837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9" y="1931938"/>
            <a:ext cx="3214688" cy="18082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Entrada de Dados: input()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1493044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é a função input()?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809155"/>
            <a:ext cx="6265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função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912279" y="1843088"/>
            <a:ext cx="60018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input()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1512466" y="1809155"/>
            <a:ext cx="27800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permite que seu programa receba dados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2027039"/>
            <a:ext cx="288336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digitados pelo usuário durante a execução.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2368153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Sintaxe básica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85750" y="2682478"/>
            <a:ext cx="4143375" cy="5572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" y="2682478"/>
            <a:ext cx="28575" cy="557213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2" name="Text 9"/>
          <p:cNvSpPr/>
          <p:nvPr/>
        </p:nvSpPr>
        <p:spPr>
          <a:xfrm>
            <a:off x="371475" y="2777133"/>
            <a:ext cx="20467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nome = input("Digite seu nome: ")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71475" y="2970014"/>
            <a:ext cx="12812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print(f"Olá, {nome}!") 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285750" y="3382566"/>
            <a:ext cx="4143375" cy="796528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5" name="Shape 12"/>
          <p:cNvSpPr/>
          <p:nvPr/>
        </p:nvSpPr>
        <p:spPr>
          <a:xfrm>
            <a:off x="285750" y="3382566"/>
            <a:ext cx="28575" cy="796528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6" name="Text 13"/>
          <p:cNvSpPr/>
          <p:nvPr/>
        </p:nvSpPr>
        <p:spPr>
          <a:xfrm>
            <a:off x="371475" y="3468291"/>
            <a:ext cx="3971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Importante!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371475" y="3677245"/>
            <a:ext cx="6265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função 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998004" y="3711178"/>
            <a:ext cx="60018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input()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1598191" y="3677245"/>
            <a:ext cx="14600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sempre retorna uma 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3058251" y="3677245"/>
            <a:ext cx="4257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string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3484029" y="3677245"/>
            <a:ext cx="5780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mesmo 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371475" y="3895130"/>
            <a:ext cx="22827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 o usuário digita números. </a:t>
            </a:r>
            <a:endParaRPr lang="en-US" sz="1046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1871663"/>
            <a:ext cx="3429000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85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Casting de Dados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6173"/>
            <a:ext cx="41139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Casting é o processo de converter um tipo de dado em outro.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285750" y="1016198"/>
            <a:ext cx="38433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 Python, isso é especialmente importante ao trabalhar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85750" y="1216223"/>
            <a:ext cx="26429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 entrada de dados, já que a função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928658" y="1250156"/>
            <a:ext cx="60018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input()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3528845" y="1216223"/>
            <a:ext cx="5443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sempre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1434108"/>
            <a:ext cx="13088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retorna uma string. 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285750" y="1775222"/>
            <a:ext cx="4143375" cy="73580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" y="1775222"/>
            <a:ext cx="28575" cy="73580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2" name="Text 9"/>
          <p:cNvSpPr/>
          <p:nvPr/>
        </p:nvSpPr>
        <p:spPr>
          <a:xfrm>
            <a:off x="357188" y="1846659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int()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357188" y="2103834"/>
            <a:ext cx="8414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idade_str = "25"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357188" y="2275284"/>
            <a:ext cx="25902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idade = int(idade_str) # Converte para inteiro: 25</a:t>
            </a:r>
            <a:endParaRPr lang="en-US" sz="837" dirty="0"/>
          </a:p>
        </p:txBody>
      </p:sp>
      <p:sp>
        <p:nvSpPr>
          <p:cNvPr id="15" name="Shape 12"/>
          <p:cNvSpPr/>
          <p:nvPr/>
        </p:nvSpPr>
        <p:spPr>
          <a:xfrm>
            <a:off x="285750" y="2582466"/>
            <a:ext cx="4143375" cy="73580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3"/>
          <p:cNvSpPr/>
          <p:nvPr/>
        </p:nvSpPr>
        <p:spPr>
          <a:xfrm>
            <a:off x="285750" y="2582466"/>
            <a:ext cx="28575" cy="73580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17" name="Text 14"/>
          <p:cNvSpPr/>
          <p:nvPr/>
        </p:nvSpPr>
        <p:spPr>
          <a:xfrm>
            <a:off x="357188" y="2653903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float()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357188" y="2911078"/>
            <a:ext cx="10079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preco_str = "19.99"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357188" y="3082528"/>
            <a:ext cx="27575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preco = float(preco_str) # Converte para float: 19.99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285750" y="3389709"/>
            <a:ext cx="4143375" cy="73580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8"/>
          <p:cNvSpPr/>
          <p:nvPr/>
        </p:nvSpPr>
        <p:spPr>
          <a:xfrm>
            <a:off x="285750" y="3389709"/>
            <a:ext cx="28575" cy="73580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22" name="Text 19"/>
          <p:cNvSpPr/>
          <p:nvPr/>
        </p:nvSpPr>
        <p:spPr>
          <a:xfrm>
            <a:off x="357188" y="3461147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str()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357188" y="3718322"/>
            <a:ext cx="682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numero = 42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357188" y="3889772"/>
            <a:ext cx="25593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texto = str(numero) # Converte para string: "42"</a:t>
            </a:r>
            <a:endParaRPr lang="en-US" sz="837" dirty="0"/>
          </a:p>
        </p:txBody>
      </p:sp>
      <p:sp>
        <p:nvSpPr>
          <p:cNvPr id="25" name="Shape 22"/>
          <p:cNvSpPr/>
          <p:nvPr/>
        </p:nvSpPr>
        <p:spPr>
          <a:xfrm>
            <a:off x="285750" y="4196953"/>
            <a:ext cx="4143375" cy="73580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Shape 23"/>
          <p:cNvSpPr/>
          <p:nvPr/>
        </p:nvSpPr>
        <p:spPr>
          <a:xfrm>
            <a:off x="285750" y="4196953"/>
            <a:ext cx="28575" cy="73580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27" name="Text 24"/>
          <p:cNvSpPr/>
          <p:nvPr/>
        </p:nvSpPr>
        <p:spPr>
          <a:xfrm>
            <a:off x="357188" y="4268391"/>
            <a:ext cx="4000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bool()</a:t>
            </a:r>
            <a:endParaRPr lang="en-US" sz="1046" dirty="0"/>
          </a:p>
        </p:txBody>
      </p:sp>
      <p:sp>
        <p:nvSpPr>
          <p:cNvPr id="28" name="Text 25"/>
          <p:cNvSpPr/>
          <p:nvPr/>
        </p:nvSpPr>
        <p:spPr>
          <a:xfrm>
            <a:off x="357188" y="4525566"/>
            <a:ext cx="11383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 = bool(1) # True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357188" y="4697016"/>
            <a:ext cx="12047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vazio = bool("") # False</a:t>
            </a:r>
            <a:endParaRPr lang="en-US" sz="837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9" y="1980605"/>
            <a:ext cx="3214688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721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Exercícios Práticos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42975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81" y="885825"/>
            <a:ext cx="26041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Identificação de Tipos de Dados 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00063" y="1214438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Identificar o tipo de diferentes variáveis usando a função type()</a:t>
            </a:r>
            <a:endParaRPr lang="en-US" sz="942" dirty="0"/>
          </a:p>
        </p:txBody>
      </p:sp>
      <p:sp>
        <p:nvSpPr>
          <p:cNvPr id="7" name="Text 3"/>
          <p:cNvSpPr/>
          <p:nvPr/>
        </p:nvSpPr>
        <p:spPr>
          <a:xfrm>
            <a:off x="500063" y="1478756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Analisar como o tipo afeta o comportamento das operações</a:t>
            </a:r>
            <a:endParaRPr lang="en-US" sz="94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871663"/>
            <a:ext cx="125016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2203" y="1814513"/>
            <a:ext cx="318109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Declaração e Manipulação de Variáveis 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00063" y="2143125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Criar variáveis para armazenar diferentes tipos de informações</a:t>
            </a:r>
            <a:endParaRPr lang="en-US" sz="942" dirty="0"/>
          </a:p>
        </p:txBody>
      </p:sp>
      <p:sp>
        <p:nvSpPr>
          <p:cNvPr id="11" name="Text 6"/>
          <p:cNvSpPr/>
          <p:nvPr/>
        </p:nvSpPr>
        <p:spPr>
          <a:xfrm>
            <a:off x="500063" y="2407444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Praticar a reatribuição de valores e observar a tipagem dinâmica</a:t>
            </a:r>
            <a:endParaRPr lang="en-US" sz="94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800350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0063" y="2743200"/>
            <a:ext cx="208432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Entrada e Saída de Dados 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00063" y="3071813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Receber dados do usuário com input() e exibir com print()</a:t>
            </a:r>
            <a:endParaRPr lang="en-US" sz="942" dirty="0"/>
          </a:p>
        </p:txBody>
      </p:sp>
      <p:sp>
        <p:nvSpPr>
          <p:cNvPr id="15" name="Text 9"/>
          <p:cNvSpPr/>
          <p:nvPr/>
        </p:nvSpPr>
        <p:spPr>
          <a:xfrm>
            <a:off x="500063" y="3336131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Criar mensagens personalizadas usando f-strings</a:t>
            </a:r>
            <a:endParaRPr lang="en-US" sz="942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729038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0063" y="3671888"/>
            <a:ext cx="142785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Casting de Dados 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500063" y="4000500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Converter strings para números para realizar operações matemáticas</a:t>
            </a:r>
            <a:endParaRPr lang="en-US" sz="942" dirty="0"/>
          </a:p>
        </p:txBody>
      </p:sp>
      <p:sp>
        <p:nvSpPr>
          <p:cNvPr id="19" name="Text 12"/>
          <p:cNvSpPr/>
          <p:nvPr/>
        </p:nvSpPr>
        <p:spPr>
          <a:xfrm>
            <a:off x="500063" y="4457700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Desenvolver uma calculadora simples com entrada do usuário</a:t>
            </a:r>
            <a:endParaRPr lang="en-US" sz="942" dirty="0"/>
          </a:p>
        </p:txBody>
      </p:sp>
      <p:sp>
        <p:nvSpPr>
          <p:cNvPr id="20" name="Shape 13"/>
          <p:cNvSpPr/>
          <p:nvPr/>
        </p:nvSpPr>
        <p:spPr>
          <a:xfrm>
            <a:off x="285750" y="4793456"/>
            <a:ext cx="4143375" cy="7929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4"/>
          <p:cNvSpPr/>
          <p:nvPr/>
        </p:nvSpPr>
        <p:spPr>
          <a:xfrm>
            <a:off x="285750" y="4793456"/>
            <a:ext cx="28575" cy="792956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2" name="Text 15"/>
          <p:cNvSpPr/>
          <p:nvPr/>
        </p:nvSpPr>
        <p:spPr>
          <a:xfrm>
            <a:off x="392906" y="4909542"/>
            <a:ext cx="6645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Ambiente:</a:t>
            </a:r>
            <a:endParaRPr lang="en-US" sz="942" dirty="0"/>
          </a:p>
        </p:txBody>
      </p:sp>
      <p:sp>
        <p:nvSpPr>
          <p:cNvPr id="23" name="Text 16"/>
          <p:cNvSpPr/>
          <p:nvPr/>
        </p:nvSpPr>
        <p:spPr>
          <a:xfrm>
            <a:off x="1057470" y="4909542"/>
            <a:ext cx="28582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Todos os exercícios serão realizados no Google </a:t>
            </a:r>
            <a:endParaRPr lang="en-US" sz="942" dirty="0"/>
          </a:p>
        </p:txBody>
      </p:sp>
      <p:sp>
        <p:nvSpPr>
          <p:cNvPr id="24" name="Text 17"/>
          <p:cNvSpPr/>
          <p:nvPr/>
        </p:nvSpPr>
        <p:spPr>
          <a:xfrm>
            <a:off x="392906" y="5102423"/>
            <a:ext cx="34159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Colab, permitindo prática imediata e feedback visual dos </a:t>
            </a:r>
            <a:endParaRPr lang="en-US" sz="942" dirty="0"/>
          </a:p>
        </p:txBody>
      </p:sp>
      <p:sp>
        <p:nvSpPr>
          <p:cNvPr id="25" name="Text 18"/>
          <p:cNvSpPr/>
          <p:nvPr/>
        </p:nvSpPr>
        <p:spPr>
          <a:xfrm>
            <a:off x="392906" y="5295305"/>
            <a:ext cx="6688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resultados. </a:t>
            </a:r>
            <a:endParaRPr lang="en-US" sz="942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696585"/>
            <a:ext cx="3571875" cy="30790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506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Conclusão e Próximos Passos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42975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0063" y="885825"/>
            <a:ext cx="17878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Conceitos Aprendidos 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00063" y="1251942"/>
            <a:ext cx="179523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Tipos de dados primitivos: </a:t>
            </a:r>
            <a:endParaRPr lang="en-US" sz="1046" dirty="0"/>
          </a:p>
        </p:txBody>
      </p:sp>
      <p:sp>
        <p:nvSpPr>
          <p:cNvPr id="7" name="Text 3"/>
          <p:cNvSpPr/>
          <p:nvPr/>
        </p:nvSpPr>
        <p:spPr>
          <a:xfrm>
            <a:off x="2295292" y="1251942"/>
            <a:ext cx="1836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2478909" y="1251942"/>
            <a:ext cx="754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046" dirty="0"/>
          </a:p>
        </p:txBody>
      </p:sp>
      <p:sp>
        <p:nvSpPr>
          <p:cNvPr id="9" name="Text 5"/>
          <p:cNvSpPr/>
          <p:nvPr/>
        </p:nvSpPr>
        <p:spPr>
          <a:xfrm>
            <a:off x="2554365" y="1251942"/>
            <a:ext cx="3136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float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2867992" y="1251942"/>
            <a:ext cx="754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2943448" y="1251942"/>
            <a:ext cx="18462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3128070" y="1251942"/>
            <a:ext cx="754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046" dirty="0"/>
          </a:p>
        </p:txBody>
      </p:sp>
      <p:sp>
        <p:nvSpPr>
          <p:cNvPr id="13" name="Text 9"/>
          <p:cNvSpPr/>
          <p:nvPr/>
        </p:nvSpPr>
        <p:spPr>
          <a:xfrm>
            <a:off x="3203525" y="1251942"/>
            <a:ext cx="3014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bool</a:t>
            </a:r>
            <a:endParaRPr lang="en-US" sz="1046" dirty="0"/>
          </a:p>
        </p:txBody>
      </p:sp>
      <p:sp>
        <p:nvSpPr>
          <p:cNvPr id="14" name="Text 10"/>
          <p:cNvSpPr/>
          <p:nvPr/>
        </p:nvSpPr>
        <p:spPr>
          <a:xfrm>
            <a:off x="500063" y="1535906"/>
            <a:ext cx="3929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Declaração e uso de variáveis em Python</a:t>
            </a:r>
            <a:endParaRPr lang="en-US" sz="1046" dirty="0"/>
          </a:p>
        </p:txBody>
      </p:sp>
      <p:sp>
        <p:nvSpPr>
          <p:cNvPr id="15" name="Text 11"/>
          <p:cNvSpPr/>
          <p:nvPr/>
        </p:nvSpPr>
        <p:spPr>
          <a:xfrm>
            <a:off x="500063" y="1823442"/>
            <a:ext cx="21554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Entrada de dados com a função </a:t>
            </a:r>
            <a:endParaRPr lang="en-US" sz="1046" dirty="0"/>
          </a:p>
        </p:txBody>
      </p:sp>
      <p:sp>
        <p:nvSpPr>
          <p:cNvPr id="16" name="Text 12"/>
          <p:cNvSpPr/>
          <p:nvPr/>
        </p:nvSpPr>
        <p:spPr>
          <a:xfrm>
            <a:off x="2655494" y="1823442"/>
            <a:ext cx="45136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input()</a:t>
            </a:r>
            <a:endParaRPr lang="en-US" sz="1046" dirty="0"/>
          </a:p>
        </p:txBody>
      </p:sp>
      <p:sp>
        <p:nvSpPr>
          <p:cNvPr id="17" name="Text 13"/>
          <p:cNvSpPr/>
          <p:nvPr/>
        </p:nvSpPr>
        <p:spPr>
          <a:xfrm>
            <a:off x="500063" y="2109192"/>
            <a:ext cx="19952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Saída de dados com a função </a:t>
            </a:r>
            <a:endParaRPr lang="en-US" sz="1046" dirty="0"/>
          </a:p>
        </p:txBody>
      </p:sp>
      <p:sp>
        <p:nvSpPr>
          <p:cNvPr id="18" name="Text 14"/>
          <p:cNvSpPr/>
          <p:nvPr/>
        </p:nvSpPr>
        <p:spPr>
          <a:xfrm>
            <a:off x="2495317" y="2109192"/>
            <a:ext cx="42206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print()</a:t>
            </a:r>
            <a:endParaRPr lang="en-US" sz="1046" dirty="0"/>
          </a:p>
        </p:txBody>
      </p:sp>
      <p:sp>
        <p:nvSpPr>
          <p:cNvPr id="19" name="Text 15"/>
          <p:cNvSpPr/>
          <p:nvPr/>
        </p:nvSpPr>
        <p:spPr>
          <a:xfrm>
            <a:off x="500063" y="2393156"/>
            <a:ext cx="3929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Conversão entre tipos de dados (casting)</a:t>
            </a:r>
            <a:endParaRPr lang="en-US" sz="1046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828925"/>
            <a:ext cx="125016" cy="1428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2203" y="2771775"/>
            <a:ext cx="136646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0699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Próximos Passos 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00063" y="3136106"/>
            <a:ext cx="3929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Operadores aritméticos, relacionais e lógicos</a:t>
            </a:r>
            <a:endParaRPr lang="en-US" sz="1046" dirty="0"/>
          </a:p>
        </p:txBody>
      </p:sp>
      <p:sp>
        <p:nvSpPr>
          <p:cNvPr id="23" name="Text 18"/>
          <p:cNvSpPr/>
          <p:nvPr/>
        </p:nvSpPr>
        <p:spPr>
          <a:xfrm>
            <a:off x="500063" y="3421856"/>
            <a:ext cx="3929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Estruturas condicionais (if, elif, else)</a:t>
            </a:r>
            <a:endParaRPr lang="en-US" sz="1046" dirty="0"/>
          </a:p>
        </p:txBody>
      </p:sp>
      <p:sp>
        <p:nvSpPr>
          <p:cNvPr id="24" name="Text 19"/>
          <p:cNvSpPr/>
          <p:nvPr/>
        </p:nvSpPr>
        <p:spPr>
          <a:xfrm>
            <a:off x="500063" y="3707606"/>
            <a:ext cx="3929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Estruturas de repetição (for, while)</a:t>
            </a:r>
            <a:endParaRPr lang="en-US" sz="1046" dirty="0"/>
          </a:p>
        </p:txBody>
      </p:sp>
      <p:sp>
        <p:nvSpPr>
          <p:cNvPr id="25" name="Text 20"/>
          <p:cNvSpPr/>
          <p:nvPr/>
        </p:nvSpPr>
        <p:spPr>
          <a:xfrm>
            <a:off x="500063" y="3993356"/>
            <a:ext cx="3929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Estruturas de dados compostas (listas, tuplas, dicionários)</a:t>
            </a:r>
            <a:endParaRPr lang="en-US" sz="1046" dirty="0"/>
          </a:p>
        </p:txBody>
      </p:sp>
      <p:sp>
        <p:nvSpPr>
          <p:cNvPr id="26" name="Shape 21"/>
          <p:cNvSpPr/>
          <p:nvPr/>
        </p:nvSpPr>
        <p:spPr>
          <a:xfrm>
            <a:off x="285750" y="4371975"/>
            <a:ext cx="4143375" cy="7929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Shape 22"/>
          <p:cNvSpPr/>
          <p:nvPr/>
        </p:nvSpPr>
        <p:spPr>
          <a:xfrm>
            <a:off x="285750" y="4371975"/>
            <a:ext cx="28575" cy="792956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28" name="Text 23"/>
          <p:cNvSpPr/>
          <p:nvPr/>
        </p:nvSpPr>
        <p:spPr>
          <a:xfrm>
            <a:off x="285750" y="4371975"/>
            <a:ext cx="4143375" cy="7929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indent="0" marL="0">
              <a:buNone/>
            </a:pPr>
            <a:r>
              <a:rPr lang="en-US" sz="94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"A programação é uma jornada de aprendizado contínuo. Continue praticando os conceitos aprendidos hoje para construir uma base sólida para os próximos desafios." </a:t>
            </a:r>
            <a:endParaRPr lang="en-US" sz="942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219" y="2120745"/>
            <a:ext cx="3214688" cy="18092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2025-09-05T18:25:15Z</dcterms:created>
  <dcterms:modified xsi:type="dcterms:W3CDTF">2025-09-05T18:25:15Z</dcterms:modified>
</cp:coreProperties>
</file>