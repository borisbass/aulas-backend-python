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313" y="300038"/>
            <a:ext cx="2143125" cy="214312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57313" y="2728913"/>
            <a:ext cx="6429375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Estruturas Condicionais (if, elif, else) em Python</a:t>
            </a:r>
            <a:endParaRPr lang="en-US" sz="2700" dirty="0"/>
          </a:p>
        </p:txBody>
      </p:sp>
      <p:sp>
        <p:nvSpPr>
          <p:cNvPr id="5" name="Text 1"/>
          <p:cNvSpPr/>
          <p:nvPr/>
        </p:nvSpPr>
        <p:spPr>
          <a:xfrm>
            <a:off x="1357313" y="3971925"/>
            <a:ext cx="642937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Aprenda a implementar decisões e diferentes fluxos de execução baseados em condições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Objetivos da Aula</a:t>
            </a:r>
            <a:endParaRPr lang="en-US" sz="2025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107281"/>
            <a:ext cx="171450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64356" y="957263"/>
            <a:ext cx="3864769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Compreender o conceito de estruturas condicionais e sua importância na programação</a:t>
            </a:r>
            <a:endParaRPr lang="en-US" sz="1238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1639491"/>
            <a:ext cx="171450" cy="17145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64356" y="1607344"/>
            <a:ext cx="3558648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Aprender a sintaxe e o uso da estrutura básica if</a:t>
            </a:r>
            <a:endParaRPr lang="en-US" sz="1238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2171700"/>
            <a:ext cx="171450" cy="17145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564356" y="2021681"/>
            <a:ext cx="3864769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Dominar a estrutura if-else para criar fluxos alternativos</a:t>
            </a:r>
            <a:endParaRPr lang="en-US" sz="1238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2821781"/>
            <a:ext cx="171450" cy="17145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564356" y="2671763"/>
            <a:ext cx="3864769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Implementar estruturas if-elif-else para múltiplas condições</a:t>
            </a:r>
            <a:endParaRPr lang="en-US" sz="1238" dirty="0"/>
          </a:p>
        </p:txBody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750" y="3471863"/>
            <a:ext cx="171450" cy="17145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564356" y="3321844"/>
            <a:ext cx="3864769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Conhecer e aplicar boas práticas na escrita de condicionais</a:t>
            </a:r>
            <a:endParaRPr lang="en-US" sz="1238" dirty="0"/>
          </a:p>
        </p:txBody>
      </p:sp>
      <p:pic>
        <p:nvPicPr>
          <p:cNvPr id="1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57813" y="1750219"/>
            <a:ext cx="2857500" cy="14287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Introdução às Estruturas Condicionais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957263"/>
            <a:ext cx="41433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 que são Estruturas Condicionais?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285750" y="1330523"/>
            <a:ext cx="399765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Estruturas condicionais são blocos de código que permitem </a:t>
            </a:r>
            <a:endParaRPr lang="en-US" sz="1046" dirty="0"/>
          </a:p>
        </p:txBody>
      </p:sp>
      <p:sp>
        <p:nvSpPr>
          <p:cNvPr id="6" name="Text 3"/>
          <p:cNvSpPr/>
          <p:nvPr/>
        </p:nvSpPr>
        <p:spPr>
          <a:xfrm>
            <a:off x="285750" y="1544836"/>
            <a:ext cx="135717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ao programa tomar </a:t>
            </a:r>
            <a:endParaRPr lang="en-US" sz="1046" dirty="0"/>
          </a:p>
        </p:txBody>
      </p:sp>
      <p:sp>
        <p:nvSpPr>
          <p:cNvPr id="7" name="Text 4"/>
          <p:cNvSpPr/>
          <p:nvPr/>
        </p:nvSpPr>
        <p:spPr>
          <a:xfrm>
            <a:off x="1642923" y="1544836"/>
            <a:ext cx="6068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4299E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decisões</a:t>
            </a:r>
            <a:endParaRPr lang="en-US" sz="1046" dirty="0"/>
          </a:p>
        </p:txBody>
      </p:sp>
      <p:sp>
        <p:nvSpPr>
          <p:cNvPr id="8" name="Text 5"/>
          <p:cNvSpPr/>
          <p:nvPr/>
        </p:nvSpPr>
        <p:spPr>
          <a:xfrm>
            <a:off x="2249723" y="1544836"/>
            <a:ext cx="187210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 executar diferentes ações </a:t>
            </a:r>
            <a:endParaRPr lang="en-US" sz="1046" dirty="0"/>
          </a:p>
        </p:txBody>
      </p:sp>
      <p:sp>
        <p:nvSpPr>
          <p:cNvPr id="9" name="Text 6"/>
          <p:cNvSpPr/>
          <p:nvPr/>
        </p:nvSpPr>
        <p:spPr>
          <a:xfrm>
            <a:off x="285750" y="1759148"/>
            <a:ext cx="93128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 base em </a:t>
            </a:r>
            <a:endParaRPr lang="en-US" sz="1046" dirty="0"/>
          </a:p>
        </p:txBody>
      </p:sp>
      <p:sp>
        <p:nvSpPr>
          <p:cNvPr id="10" name="Text 7"/>
          <p:cNvSpPr/>
          <p:nvPr/>
        </p:nvSpPr>
        <p:spPr>
          <a:xfrm>
            <a:off x="1217033" y="1759148"/>
            <a:ext cx="15212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4299E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condições específicas</a:t>
            </a:r>
            <a:endParaRPr lang="en-US" sz="1046" dirty="0"/>
          </a:p>
        </p:txBody>
      </p:sp>
      <p:sp>
        <p:nvSpPr>
          <p:cNvPr id="11" name="Text 8"/>
          <p:cNvSpPr/>
          <p:nvPr/>
        </p:nvSpPr>
        <p:spPr>
          <a:xfrm>
            <a:off x="2738233" y="1759148"/>
            <a:ext cx="3831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 </a:t>
            </a:r>
            <a:endParaRPr lang="en-US" sz="1046" dirty="0"/>
          </a:p>
        </p:txBody>
      </p:sp>
      <p:sp>
        <p:nvSpPr>
          <p:cNvPr id="12" name="Text 9"/>
          <p:cNvSpPr/>
          <p:nvPr/>
        </p:nvSpPr>
        <p:spPr>
          <a:xfrm>
            <a:off x="285750" y="2107406"/>
            <a:ext cx="41433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Por que são importantes?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285750" y="2480667"/>
            <a:ext cx="190495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• Permitem criar programas </a:t>
            </a:r>
            <a:endParaRPr lang="en-US" sz="1046" dirty="0"/>
          </a:p>
        </p:txBody>
      </p:sp>
      <p:sp>
        <p:nvSpPr>
          <p:cNvPr id="14" name="Text 11"/>
          <p:cNvSpPr/>
          <p:nvPr/>
        </p:nvSpPr>
        <p:spPr>
          <a:xfrm>
            <a:off x="2190703" y="2480667"/>
            <a:ext cx="73095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4299E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dinâmicos</a:t>
            </a:r>
            <a:endParaRPr lang="en-US" sz="1046" dirty="0"/>
          </a:p>
        </p:txBody>
      </p:sp>
      <p:sp>
        <p:nvSpPr>
          <p:cNvPr id="15" name="Text 12"/>
          <p:cNvSpPr/>
          <p:nvPr/>
        </p:nvSpPr>
        <p:spPr>
          <a:xfrm>
            <a:off x="2921654" y="2480667"/>
            <a:ext cx="121817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que respondem a </a:t>
            </a:r>
            <a:endParaRPr lang="en-US" sz="1046" dirty="0"/>
          </a:p>
        </p:txBody>
      </p:sp>
      <p:sp>
        <p:nvSpPr>
          <p:cNvPr id="16" name="Text 13"/>
          <p:cNvSpPr/>
          <p:nvPr/>
        </p:nvSpPr>
        <p:spPr>
          <a:xfrm>
            <a:off x="285750" y="2694980"/>
            <a:ext cx="134659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diferentes situações</a:t>
            </a:r>
            <a:endParaRPr lang="en-US" sz="1046" dirty="0"/>
          </a:p>
        </p:txBody>
      </p:sp>
      <p:sp>
        <p:nvSpPr>
          <p:cNvPr id="17" name="Text 14"/>
          <p:cNvSpPr/>
          <p:nvPr/>
        </p:nvSpPr>
        <p:spPr>
          <a:xfrm>
            <a:off x="285750" y="2909292"/>
            <a:ext cx="171265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• Possibilitam controlar o </a:t>
            </a:r>
            <a:endParaRPr lang="en-US" sz="1046" dirty="0"/>
          </a:p>
        </p:txBody>
      </p:sp>
      <p:sp>
        <p:nvSpPr>
          <p:cNvPr id="18" name="Text 15"/>
          <p:cNvSpPr/>
          <p:nvPr/>
        </p:nvSpPr>
        <p:spPr>
          <a:xfrm>
            <a:off x="1998408" y="2909292"/>
            <a:ext cx="127130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4299E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fluxo de execução</a:t>
            </a:r>
            <a:endParaRPr lang="en-US" sz="1046" dirty="0"/>
          </a:p>
        </p:txBody>
      </p:sp>
      <p:sp>
        <p:nvSpPr>
          <p:cNvPr id="19" name="Text 16"/>
          <p:cNvSpPr/>
          <p:nvPr/>
        </p:nvSpPr>
        <p:spPr>
          <a:xfrm>
            <a:off x="3269717" y="2909292"/>
            <a:ext cx="91699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do programa</a:t>
            </a:r>
            <a:endParaRPr lang="en-US" sz="1046" dirty="0"/>
          </a:p>
        </p:txBody>
      </p:sp>
      <p:sp>
        <p:nvSpPr>
          <p:cNvPr id="20" name="Text 17"/>
          <p:cNvSpPr/>
          <p:nvPr/>
        </p:nvSpPr>
        <p:spPr>
          <a:xfrm>
            <a:off x="285750" y="3123605"/>
            <a:ext cx="259106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• São fundamentais para implementar </a:t>
            </a:r>
            <a:endParaRPr lang="en-US" sz="1046" dirty="0"/>
          </a:p>
        </p:txBody>
      </p:sp>
      <p:sp>
        <p:nvSpPr>
          <p:cNvPr id="21" name="Text 18"/>
          <p:cNvSpPr/>
          <p:nvPr/>
        </p:nvSpPr>
        <p:spPr>
          <a:xfrm>
            <a:off x="2876810" y="3123605"/>
            <a:ext cx="42577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4299E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lógica</a:t>
            </a:r>
            <a:endParaRPr lang="en-US" sz="1046" dirty="0"/>
          </a:p>
        </p:txBody>
      </p:sp>
      <p:sp>
        <p:nvSpPr>
          <p:cNvPr id="22" name="Text 19"/>
          <p:cNvSpPr/>
          <p:nvPr/>
        </p:nvSpPr>
        <p:spPr>
          <a:xfrm>
            <a:off x="3302589" y="3123605"/>
            <a:ext cx="15490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 </a:t>
            </a:r>
            <a:endParaRPr lang="en-US" sz="1046" dirty="0"/>
          </a:p>
        </p:txBody>
      </p:sp>
      <p:sp>
        <p:nvSpPr>
          <p:cNvPr id="23" name="Text 20"/>
          <p:cNvSpPr/>
          <p:nvPr/>
        </p:nvSpPr>
        <p:spPr>
          <a:xfrm>
            <a:off x="3457491" y="3123605"/>
            <a:ext cx="66824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4299E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regras de </a:t>
            </a:r>
            <a:endParaRPr lang="en-US" sz="1046" dirty="0"/>
          </a:p>
        </p:txBody>
      </p:sp>
      <p:sp>
        <p:nvSpPr>
          <p:cNvPr id="24" name="Text 21"/>
          <p:cNvSpPr/>
          <p:nvPr/>
        </p:nvSpPr>
        <p:spPr>
          <a:xfrm>
            <a:off x="285750" y="3337917"/>
            <a:ext cx="56265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4299E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negócio</a:t>
            </a:r>
            <a:endParaRPr lang="en-US" sz="1046" dirty="0"/>
          </a:p>
        </p:txBody>
      </p:sp>
      <p:sp>
        <p:nvSpPr>
          <p:cNvPr id="25" name="Shape 22"/>
          <p:cNvSpPr/>
          <p:nvPr/>
        </p:nvSpPr>
        <p:spPr>
          <a:xfrm>
            <a:off x="285750" y="3686175"/>
            <a:ext cx="4143375" cy="98583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6" name="Shape 23"/>
          <p:cNvSpPr/>
          <p:nvPr/>
        </p:nvSpPr>
        <p:spPr>
          <a:xfrm>
            <a:off x="285750" y="3686175"/>
            <a:ext cx="28575" cy="985838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27" name="Text 24"/>
          <p:cNvSpPr/>
          <p:nvPr/>
        </p:nvSpPr>
        <p:spPr>
          <a:xfrm>
            <a:off x="392906" y="3802261"/>
            <a:ext cx="60462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Analogia:</a:t>
            </a:r>
            <a:endParaRPr lang="en-US" sz="942" dirty="0"/>
          </a:p>
        </p:txBody>
      </p:sp>
      <p:sp>
        <p:nvSpPr>
          <p:cNvPr id="28" name="Text 25"/>
          <p:cNvSpPr/>
          <p:nvPr/>
        </p:nvSpPr>
        <p:spPr>
          <a:xfrm>
            <a:off x="997530" y="3802261"/>
            <a:ext cx="266975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As estruturas condicionais funcionam como </a:t>
            </a:r>
            <a:endParaRPr lang="en-US" sz="942" dirty="0"/>
          </a:p>
        </p:txBody>
      </p:sp>
      <p:sp>
        <p:nvSpPr>
          <p:cNvPr id="29" name="Text 26"/>
          <p:cNvSpPr/>
          <p:nvPr/>
        </p:nvSpPr>
        <p:spPr>
          <a:xfrm>
            <a:off x="392906" y="3995142"/>
            <a:ext cx="343251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"bifurcações" em uma estrada. Dependendo da condição </a:t>
            </a:r>
            <a:endParaRPr lang="en-US" sz="942" dirty="0"/>
          </a:p>
        </p:txBody>
      </p:sp>
      <p:sp>
        <p:nvSpPr>
          <p:cNvPr id="30" name="Text 27"/>
          <p:cNvSpPr/>
          <p:nvPr/>
        </p:nvSpPr>
        <p:spPr>
          <a:xfrm>
            <a:off x="392906" y="4188023"/>
            <a:ext cx="383731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(sinalização), o motorista (programa) segue por um caminho ou </a:t>
            </a:r>
            <a:endParaRPr lang="en-US" sz="942" dirty="0"/>
          </a:p>
        </p:txBody>
      </p:sp>
      <p:sp>
        <p:nvSpPr>
          <p:cNvPr id="31" name="Text 28"/>
          <p:cNvSpPr/>
          <p:nvPr/>
        </p:nvSpPr>
        <p:spPr>
          <a:xfrm>
            <a:off x="392906" y="4380905"/>
            <a:ext cx="36648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outro. </a:t>
            </a:r>
            <a:endParaRPr lang="en-US" sz="942" dirty="0"/>
          </a:p>
        </p:txBody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4374" y="1207294"/>
            <a:ext cx="2064376" cy="32146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Estrutura Básica if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1110183"/>
            <a:ext cx="417909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Sintaxe do if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285750" y="1440582"/>
            <a:ext cx="78969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 estrutura </a:t>
            </a:r>
            <a:endParaRPr lang="en-US" sz="1046" dirty="0"/>
          </a:p>
        </p:txBody>
      </p:sp>
      <p:sp>
        <p:nvSpPr>
          <p:cNvPr id="6" name="Text 3"/>
          <p:cNvSpPr/>
          <p:nvPr/>
        </p:nvSpPr>
        <p:spPr>
          <a:xfrm>
            <a:off x="1075441" y="1440582"/>
            <a:ext cx="9889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4299E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if</a:t>
            </a:r>
            <a:endParaRPr lang="en-US" sz="1046" dirty="0"/>
          </a:p>
        </p:txBody>
      </p:sp>
      <p:sp>
        <p:nvSpPr>
          <p:cNvPr id="7" name="Text 4"/>
          <p:cNvSpPr/>
          <p:nvPr/>
        </p:nvSpPr>
        <p:spPr>
          <a:xfrm>
            <a:off x="1174338" y="1440582"/>
            <a:ext cx="274205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executa um bloco de código apenas se a </a:t>
            </a:r>
            <a:endParaRPr lang="en-US" sz="1046" dirty="0"/>
          </a:p>
        </p:txBody>
      </p:sp>
      <p:sp>
        <p:nvSpPr>
          <p:cNvPr id="8" name="Text 5"/>
          <p:cNvSpPr/>
          <p:nvPr/>
        </p:nvSpPr>
        <p:spPr>
          <a:xfrm>
            <a:off x="285750" y="1640607"/>
            <a:ext cx="173495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condição especificada for </a:t>
            </a:r>
            <a:endParaRPr lang="en-US" sz="1046" dirty="0"/>
          </a:p>
        </p:txBody>
      </p:sp>
      <p:sp>
        <p:nvSpPr>
          <p:cNvPr id="9" name="Text 6"/>
          <p:cNvSpPr/>
          <p:nvPr/>
        </p:nvSpPr>
        <p:spPr>
          <a:xfrm>
            <a:off x="2020705" y="1640607"/>
            <a:ext cx="31876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4299E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True</a:t>
            </a:r>
            <a:endParaRPr lang="en-US" sz="1046" dirty="0"/>
          </a:p>
        </p:txBody>
      </p:sp>
      <p:sp>
        <p:nvSpPr>
          <p:cNvPr id="10" name="Text 7"/>
          <p:cNvSpPr/>
          <p:nvPr/>
        </p:nvSpPr>
        <p:spPr>
          <a:xfrm>
            <a:off x="2339467" y="1640607"/>
            <a:ext cx="3831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 </a:t>
            </a:r>
            <a:endParaRPr lang="en-US" sz="1046" dirty="0"/>
          </a:p>
        </p:txBody>
      </p:sp>
      <p:sp>
        <p:nvSpPr>
          <p:cNvPr id="11" name="Shape 8"/>
          <p:cNvSpPr/>
          <p:nvPr/>
        </p:nvSpPr>
        <p:spPr>
          <a:xfrm>
            <a:off x="285750" y="1910283"/>
            <a:ext cx="4179094" cy="811485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2" name="Text 9"/>
          <p:cNvSpPr/>
          <p:nvPr/>
        </p:nvSpPr>
        <p:spPr>
          <a:xfrm>
            <a:off x="371475" y="1997794"/>
            <a:ext cx="86182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# Sintaxe básica</a:t>
            </a:r>
            <a:endParaRPr lang="en-US" sz="837" dirty="0"/>
          </a:p>
        </p:txBody>
      </p:sp>
      <p:sp>
        <p:nvSpPr>
          <p:cNvPr id="13" name="Text 10"/>
          <p:cNvSpPr/>
          <p:nvPr/>
        </p:nvSpPr>
        <p:spPr>
          <a:xfrm>
            <a:off x="371475" y="2157803"/>
            <a:ext cx="61173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if condição:</a:t>
            </a:r>
            <a:endParaRPr lang="en-US" sz="837" dirty="0"/>
          </a:p>
        </p:txBody>
      </p:sp>
      <p:sp>
        <p:nvSpPr>
          <p:cNvPr id="14" name="Text 11"/>
          <p:cNvSpPr/>
          <p:nvPr/>
        </p:nvSpPr>
        <p:spPr>
          <a:xfrm>
            <a:off x="371475" y="2317812"/>
            <a:ext cx="153802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# Bloco de código indentado</a:t>
            </a:r>
            <a:endParaRPr lang="en-US" sz="837" dirty="0"/>
          </a:p>
        </p:txBody>
      </p:sp>
      <p:sp>
        <p:nvSpPr>
          <p:cNvPr id="15" name="Text 12"/>
          <p:cNvSpPr/>
          <p:nvPr/>
        </p:nvSpPr>
        <p:spPr>
          <a:xfrm>
            <a:off x="371475" y="2477821"/>
            <a:ext cx="177519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# executado se condição for True </a:t>
            </a:r>
            <a:endParaRPr lang="en-US" sz="837" dirty="0"/>
          </a:p>
        </p:txBody>
      </p:sp>
      <p:sp>
        <p:nvSpPr>
          <p:cNvPr id="16" name="Text 13"/>
          <p:cNvSpPr/>
          <p:nvPr/>
        </p:nvSpPr>
        <p:spPr>
          <a:xfrm>
            <a:off x="285750" y="2828925"/>
            <a:ext cx="417909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Exemplo Prático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285750" y="3157538"/>
            <a:ext cx="4179094" cy="811485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8" name="Text 15"/>
          <p:cNvSpPr/>
          <p:nvPr/>
        </p:nvSpPr>
        <p:spPr>
          <a:xfrm>
            <a:off x="371475" y="3245048"/>
            <a:ext cx="55425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idade = 18</a:t>
            </a:r>
            <a:endParaRPr lang="en-US" sz="837" dirty="0"/>
          </a:p>
        </p:txBody>
      </p:sp>
      <p:sp>
        <p:nvSpPr>
          <p:cNvPr id="19" name="Text 16"/>
          <p:cNvSpPr/>
          <p:nvPr/>
        </p:nvSpPr>
        <p:spPr>
          <a:xfrm>
            <a:off x="371475" y="3565066"/>
            <a:ext cx="74878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if idade &gt;= 18:</a:t>
            </a:r>
            <a:endParaRPr lang="en-US" sz="837" dirty="0"/>
          </a:p>
        </p:txBody>
      </p:sp>
      <p:sp>
        <p:nvSpPr>
          <p:cNvPr id="20" name="Text 17"/>
          <p:cNvSpPr/>
          <p:nvPr/>
        </p:nvSpPr>
        <p:spPr>
          <a:xfrm>
            <a:off x="371475" y="3725075"/>
            <a:ext cx="164205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print("Você é maior de idade.") </a:t>
            </a:r>
            <a:endParaRPr lang="en-US" sz="837" dirty="0"/>
          </a:p>
        </p:txBody>
      </p:sp>
      <p:sp>
        <p:nvSpPr>
          <p:cNvPr id="21" name="Shape 18"/>
          <p:cNvSpPr/>
          <p:nvPr/>
        </p:nvSpPr>
        <p:spPr>
          <a:xfrm>
            <a:off x="285750" y="4076179"/>
            <a:ext cx="4179094" cy="485775"/>
          </a:xfrm>
          <a:prstGeom prst="rect">
            <a:avLst/>
          </a:prstGeom>
          <a:solidFill>
            <a:srgbClr val="EBF8FF"/>
          </a:solidFill>
          <a:ln/>
        </p:spPr>
      </p:sp>
      <p:sp>
        <p:nvSpPr>
          <p:cNvPr id="22" name="Shape 19"/>
          <p:cNvSpPr/>
          <p:nvPr/>
        </p:nvSpPr>
        <p:spPr>
          <a:xfrm>
            <a:off x="285750" y="4076179"/>
            <a:ext cx="28575" cy="485775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23" name="Text 20"/>
          <p:cNvSpPr/>
          <p:nvPr/>
        </p:nvSpPr>
        <p:spPr>
          <a:xfrm>
            <a:off x="357188" y="4154760"/>
            <a:ext cx="69517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Importante:</a:t>
            </a:r>
            <a:endParaRPr lang="en-US" sz="837" dirty="0"/>
          </a:p>
        </p:txBody>
      </p:sp>
      <p:sp>
        <p:nvSpPr>
          <p:cNvPr id="24" name="Text 21"/>
          <p:cNvSpPr/>
          <p:nvPr/>
        </p:nvSpPr>
        <p:spPr>
          <a:xfrm>
            <a:off x="1052364" y="4154760"/>
            <a:ext cx="294473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Em Python, a indentação define o bloco de código que </a:t>
            </a:r>
            <a:endParaRPr lang="en-US" sz="837" dirty="0"/>
          </a:p>
        </p:txBody>
      </p:sp>
      <p:sp>
        <p:nvSpPr>
          <p:cNvPr id="25" name="Text 22"/>
          <p:cNvSpPr/>
          <p:nvPr/>
        </p:nvSpPr>
        <p:spPr>
          <a:xfrm>
            <a:off x="357188" y="4326210"/>
            <a:ext cx="242602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pertence ao if. Use 4 espaços para cada nível. </a:t>
            </a:r>
            <a:endParaRPr lang="en-US" sz="837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9953" y="2036973"/>
            <a:ext cx="2857500" cy="15981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65070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Estrutura Básica if-else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885825"/>
            <a:ext cx="417909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Sintaxe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285750" y="1250156"/>
            <a:ext cx="4179094" cy="137160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6" name="Text 3"/>
          <p:cNvSpPr/>
          <p:nvPr/>
        </p:nvSpPr>
        <p:spPr>
          <a:xfrm>
            <a:off x="392906" y="1366242"/>
            <a:ext cx="68822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if condição: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392906" y="1559123"/>
            <a:ext cx="243481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# bloco de código se a condição for True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392906" y="1752005"/>
            <a:ext cx="255299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# executa quando a condição é verdadeira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392906" y="1944886"/>
            <a:ext cx="27428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else: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392906" y="2137767"/>
            <a:ext cx="247081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# bloco de código se a condição for False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392906" y="2330648"/>
            <a:ext cx="21892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# executa quando a condição é falsa 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285750" y="2764631"/>
            <a:ext cx="417909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Exemplo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285750" y="3128963"/>
            <a:ext cx="4179094" cy="137160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4" name="Text 11"/>
          <p:cNvSpPr/>
          <p:nvPr/>
        </p:nvSpPr>
        <p:spPr>
          <a:xfrm>
            <a:off x="392906" y="3245048"/>
            <a:ext cx="76756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numero = 10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392906" y="3630811"/>
            <a:ext cx="83930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if numero &gt; 0: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392906" y="3823692"/>
            <a:ext cx="169968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print("O número é positivo")</a:t>
            </a:r>
            <a:endParaRPr lang="en-US" sz="942" dirty="0"/>
          </a:p>
        </p:txBody>
      </p:sp>
      <p:sp>
        <p:nvSpPr>
          <p:cNvPr id="17" name="Text 14"/>
          <p:cNvSpPr/>
          <p:nvPr/>
        </p:nvSpPr>
        <p:spPr>
          <a:xfrm>
            <a:off x="392906" y="4016573"/>
            <a:ext cx="27428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else:</a:t>
            </a:r>
            <a:endParaRPr lang="en-US" sz="942" dirty="0"/>
          </a:p>
        </p:txBody>
      </p:sp>
      <p:sp>
        <p:nvSpPr>
          <p:cNvPr id="18" name="Text 15"/>
          <p:cNvSpPr/>
          <p:nvPr/>
        </p:nvSpPr>
        <p:spPr>
          <a:xfrm>
            <a:off x="392906" y="4209455"/>
            <a:ext cx="22366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print("O número é zero ou negativo") </a:t>
            </a:r>
            <a:endParaRPr lang="en-US" sz="942" dirty="0"/>
          </a:p>
        </p:txBody>
      </p:sp>
      <p:sp>
        <p:nvSpPr>
          <p:cNvPr id="19" name="Shape 16"/>
          <p:cNvSpPr/>
          <p:nvPr/>
        </p:nvSpPr>
        <p:spPr>
          <a:xfrm>
            <a:off x="285750" y="4643438"/>
            <a:ext cx="4179094" cy="721519"/>
          </a:xfrm>
          <a:prstGeom prst="rect">
            <a:avLst/>
          </a:prstGeom>
          <a:solidFill>
            <a:srgbClr val="EBF8FF"/>
          </a:solidFill>
          <a:ln/>
        </p:spPr>
      </p:sp>
      <p:sp>
        <p:nvSpPr>
          <p:cNvPr id="20" name="Shape 17"/>
          <p:cNvSpPr/>
          <p:nvPr/>
        </p:nvSpPr>
        <p:spPr>
          <a:xfrm>
            <a:off x="285750" y="4643438"/>
            <a:ext cx="28575" cy="721519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21" name="Text 18"/>
          <p:cNvSpPr/>
          <p:nvPr/>
        </p:nvSpPr>
        <p:spPr>
          <a:xfrm>
            <a:off x="392906" y="4723805"/>
            <a:ext cx="78207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Importante:</a:t>
            </a:r>
            <a:endParaRPr lang="en-US" sz="942" dirty="0"/>
          </a:p>
        </p:txBody>
      </p:sp>
      <p:sp>
        <p:nvSpPr>
          <p:cNvPr id="22" name="Text 19"/>
          <p:cNvSpPr/>
          <p:nvPr/>
        </p:nvSpPr>
        <p:spPr>
          <a:xfrm>
            <a:off x="1174979" y="4723805"/>
            <a:ext cx="7441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 estrutura </a:t>
            </a:r>
            <a:endParaRPr lang="en-US" sz="942" dirty="0"/>
          </a:p>
        </p:txBody>
      </p:sp>
      <p:sp>
        <p:nvSpPr>
          <p:cNvPr id="23" name="Text 20"/>
          <p:cNvSpPr/>
          <p:nvPr/>
        </p:nvSpPr>
        <p:spPr>
          <a:xfrm>
            <a:off x="1919129" y="4723805"/>
            <a:ext cx="38551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4299E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if-else</a:t>
            </a:r>
            <a:endParaRPr lang="en-US" sz="942" dirty="0"/>
          </a:p>
        </p:txBody>
      </p:sp>
      <p:sp>
        <p:nvSpPr>
          <p:cNvPr id="24" name="Text 21"/>
          <p:cNvSpPr/>
          <p:nvPr/>
        </p:nvSpPr>
        <p:spPr>
          <a:xfrm>
            <a:off x="2304641" y="4723805"/>
            <a:ext cx="172128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permite criar dois caminhos </a:t>
            </a:r>
            <a:endParaRPr lang="en-US" sz="942" dirty="0"/>
          </a:p>
        </p:txBody>
      </p:sp>
      <p:sp>
        <p:nvSpPr>
          <p:cNvPr id="25" name="Text 22"/>
          <p:cNvSpPr/>
          <p:nvPr/>
        </p:nvSpPr>
        <p:spPr>
          <a:xfrm>
            <a:off x="392906" y="4916686"/>
            <a:ext cx="260917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alternativos de execução. Se a condição do </a:t>
            </a:r>
            <a:endParaRPr lang="en-US" sz="942" dirty="0"/>
          </a:p>
        </p:txBody>
      </p:sp>
      <p:sp>
        <p:nvSpPr>
          <p:cNvPr id="26" name="Text 23"/>
          <p:cNvSpPr/>
          <p:nvPr/>
        </p:nvSpPr>
        <p:spPr>
          <a:xfrm>
            <a:off x="3002077" y="4916686"/>
            <a:ext cx="8899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4299E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if</a:t>
            </a:r>
            <a:endParaRPr lang="en-US" sz="942" dirty="0"/>
          </a:p>
        </p:txBody>
      </p:sp>
      <p:sp>
        <p:nvSpPr>
          <p:cNvPr id="27" name="Text 24"/>
          <p:cNvSpPr/>
          <p:nvPr/>
        </p:nvSpPr>
        <p:spPr>
          <a:xfrm>
            <a:off x="3091067" y="4916686"/>
            <a:ext cx="119395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não for satisfeita, o </a:t>
            </a:r>
            <a:endParaRPr lang="en-US" sz="942" dirty="0"/>
          </a:p>
        </p:txBody>
      </p:sp>
      <p:sp>
        <p:nvSpPr>
          <p:cNvPr id="28" name="Text 25"/>
          <p:cNvSpPr/>
          <p:nvPr/>
        </p:nvSpPr>
        <p:spPr>
          <a:xfrm>
            <a:off x="392906" y="5109567"/>
            <a:ext cx="36302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bloco </a:t>
            </a:r>
            <a:endParaRPr lang="en-US" sz="942" dirty="0"/>
          </a:p>
        </p:txBody>
      </p:sp>
      <p:sp>
        <p:nvSpPr>
          <p:cNvPr id="29" name="Text 26"/>
          <p:cNvSpPr/>
          <p:nvPr/>
        </p:nvSpPr>
        <p:spPr>
          <a:xfrm>
            <a:off x="755926" y="5109567"/>
            <a:ext cx="25513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4299E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else</a:t>
            </a:r>
            <a:endParaRPr lang="en-US" sz="942" dirty="0"/>
          </a:p>
        </p:txBody>
      </p:sp>
      <p:sp>
        <p:nvSpPr>
          <p:cNvPr id="30" name="Text 27"/>
          <p:cNvSpPr/>
          <p:nvPr/>
        </p:nvSpPr>
        <p:spPr>
          <a:xfrm>
            <a:off x="1011064" y="5109567"/>
            <a:ext cx="98268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será executado. </a:t>
            </a:r>
            <a:endParaRPr lang="en-US" sz="942" dirty="0"/>
          </a:p>
        </p:txBody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1359" y="2220311"/>
            <a:ext cx="3214688" cy="181015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3462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Estrutura Básica if-elif-else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885825"/>
            <a:ext cx="417909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Sintaxe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285750" y="1250156"/>
            <a:ext cx="4179094" cy="197441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6" name="Text 3"/>
          <p:cNvSpPr/>
          <p:nvPr/>
        </p:nvSpPr>
        <p:spPr>
          <a:xfrm>
            <a:off x="392906" y="1359098"/>
            <a:ext cx="67712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if condição1:</a:t>
            </a:r>
            <a:endParaRPr lang="en-US" sz="837" dirty="0"/>
          </a:p>
        </p:txBody>
      </p:sp>
      <p:sp>
        <p:nvSpPr>
          <p:cNvPr id="7" name="Text 4"/>
          <p:cNvSpPr/>
          <p:nvPr/>
        </p:nvSpPr>
        <p:spPr>
          <a:xfrm>
            <a:off x="392906" y="1519107"/>
            <a:ext cx="272068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# bloco de código executado se condição1 for True</a:t>
            </a:r>
            <a:endParaRPr lang="en-US" sz="837" dirty="0"/>
          </a:p>
        </p:txBody>
      </p:sp>
      <p:sp>
        <p:nvSpPr>
          <p:cNvPr id="8" name="Text 5"/>
          <p:cNvSpPr/>
          <p:nvPr/>
        </p:nvSpPr>
        <p:spPr>
          <a:xfrm>
            <a:off x="392906" y="1679116"/>
            <a:ext cx="77107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elif condição2:</a:t>
            </a:r>
            <a:endParaRPr lang="en-US" sz="837" dirty="0"/>
          </a:p>
        </p:txBody>
      </p:sp>
      <p:sp>
        <p:nvSpPr>
          <p:cNvPr id="9" name="Text 6"/>
          <p:cNvSpPr/>
          <p:nvPr/>
        </p:nvSpPr>
        <p:spPr>
          <a:xfrm>
            <a:off x="392906" y="1839125"/>
            <a:ext cx="27526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# bloco de código executado se condição1 for False</a:t>
            </a:r>
            <a:endParaRPr lang="en-US" sz="837" dirty="0"/>
          </a:p>
        </p:txBody>
      </p:sp>
      <p:sp>
        <p:nvSpPr>
          <p:cNvPr id="10" name="Text 7"/>
          <p:cNvSpPr/>
          <p:nvPr/>
        </p:nvSpPr>
        <p:spPr>
          <a:xfrm>
            <a:off x="392906" y="1999134"/>
            <a:ext cx="120095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# e condição2 for True</a:t>
            </a:r>
            <a:endParaRPr lang="en-US" sz="837" dirty="0"/>
          </a:p>
        </p:txBody>
      </p:sp>
      <p:sp>
        <p:nvSpPr>
          <p:cNvPr id="11" name="Text 8"/>
          <p:cNvSpPr/>
          <p:nvPr/>
        </p:nvSpPr>
        <p:spPr>
          <a:xfrm>
            <a:off x="392906" y="2159143"/>
            <a:ext cx="77107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elif condição3:</a:t>
            </a:r>
            <a:endParaRPr lang="en-US" sz="837" dirty="0"/>
          </a:p>
        </p:txBody>
      </p:sp>
      <p:sp>
        <p:nvSpPr>
          <p:cNvPr id="12" name="Text 9"/>
          <p:cNvSpPr/>
          <p:nvPr/>
        </p:nvSpPr>
        <p:spPr>
          <a:xfrm>
            <a:off x="392906" y="2319151"/>
            <a:ext cx="293728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# bloco de código executado se condição1 e condição2</a:t>
            </a:r>
            <a:endParaRPr lang="en-US" sz="837" dirty="0"/>
          </a:p>
        </p:txBody>
      </p:sp>
      <p:sp>
        <p:nvSpPr>
          <p:cNvPr id="13" name="Text 10"/>
          <p:cNvSpPr/>
          <p:nvPr/>
        </p:nvSpPr>
        <p:spPr>
          <a:xfrm>
            <a:off x="392906" y="2479160"/>
            <a:ext cx="18572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# forem False e condição3 for True</a:t>
            </a:r>
            <a:endParaRPr lang="en-US" sz="837" dirty="0"/>
          </a:p>
        </p:txBody>
      </p:sp>
      <p:sp>
        <p:nvSpPr>
          <p:cNvPr id="14" name="Text 11"/>
          <p:cNvSpPr/>
          <p:nvPr/>
        </p:nvSpPr>
        <p:spPr>
          <a:xfrm>
            <a:off x="392906" y="2639169"/>
            <a:ext cx="24380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else:</a:t>
            </a:r>
            <a:endParaRPr lang="en-US" sz="837" dirty="0"/>
          </a:p>
        </p:txBody>
      </p:sp>
      <p:sp>
        <p:nvSpPr>
          <p:cNvPr id="15" name="Text 12"/>
          <p:cNvSpPr/>
          <p:nvPr/>
        </p:nvSpPr>
        <p:spPr>
          <a:xfrm>
            <a:off x="392906" y="2799178"/>
            <a:ext cx="273304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# bloco de código executado se todas as condições</a:t>
            </a:r>
            <a:endParaRPr lang="en-US" sz="837" dirty="0"/>
          </a:p>
        </p:txBody>
      </p:sp>
      <p:sp>
        <p:nvSpPr>
          <p:cNvPr id="16" name="Text 13"/>
          <p:cNvSpPr/>
          <p:nvPr/>
        </p:nvSpPr>
        <p:spPr>
          <a:xfrm>
            <a:off x="392906" y="2959187"/>
            <a:ext cx="131034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# anteriores forem False </a:t>
            </a:r>
            <a:endParaRPr lang="en-US" sz="837" dirty="0"/>
          </a:p>
        </p:txBody>
      </p:sp>
      <p:sp>
        <p:nvSpPr>
          <p:cNvPr id="17" name="Text 14"/>
          <p:cNvSpPr/>
          <p:nvPr/>
        </p:nvSpPr>
        <p:spPr>
          <a:xfrm>
            <a:off x="285750" y="3331722"/>
            <a:ext cx="417909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Características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285750" y="3704983"/>
            <a:ext cx="8179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• </a:t>
            </a:r>
            <a:endParaRPr lang="en-US" sz="942" dirty="0"/>
          </a:p>
        </p:txBody>
      </p:sp>
      <p:sp>
        <p:nvSpPr>
          <p:cNvPr id="19" name="Text 16"/>
          <p:cNvSpPr/>
          <p:nvPr/>
        </p:nvSpPr>
        <p:spPr>
          <a:xfrm>
            <a:off x="367540" y="3704983"/>
            <a:ext cx="20421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4299E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elif</a:t>
            </a:r>
            <a:endParaRPr lang="en-US" sz="942" dirty="0"/>
          </a:p>
        </p:txBody>
      </p:sp>
      <p:sp>
        <p:nvSpPr>
          <p:cNvPr id="20" name="Text 17"/>
          <p:cNvSpPr/>
          <p:nvPr/>
        </p:nvSpPr>
        <p:spPr>
          <a:xfrm>
            <a:off x="571751" y="3704983"/>
            <a:ext cx="151877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é a contração de "else if"</a:t>
            </a:r>
            <a:endParaRPr lang="en-US" sz="942" dirty="0"/>
          </a:p>
        </p:txBody>
      </p:sp>
      <p:sp>
        <p:nvSpPr>
          <p:cNvPr id="21" name="Text 18"/>
          <p:cNvSpPr/>
          <p:nvPr/>
        </p:nvSpPr>
        <p:spPr>
          <a:xfrm>
            <a:off x="285750" y="3897864"/>
            <a:ext cx="94925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• Você pode ter </a:t>
            </a:r>
            <a:endParaRPr lang="en-US" sz="942" dirty="0"/>
          </a:p>
        </p:txBody>
      </p:sp>
      <p:sp>
        <p:nvSpPr>
          <p:cNvPr id="22" name="Text 19"/>
          <p:cNvSpPr/>
          <p:nvPr/>
        </p:nvSpPr>
        <p:spPr>
          <a:xfrm>
            <a:off x="1235004" y="3897864"/>
            <a:ext cx="8467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4299E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múltiplos elif</a:t>
            </a:r>
            <a:endParaRPr lang="en-US" sz="942" dirty="0"/>
          </a:p>
        </p:txBody>
      </p:sp>
      <p:sp>
        <p:nvSpPr>
          <p:cNvPr id="23" name="Text 20"/>
          <p:cNvSpPr/>
          <p:nvPr/>
        </p:nvSpPr>
        <p:spPr>
          <a:xfrm>
            <a:off x="2081761" y="3897864"/>
            <a:ext cx="87131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em sequência</a:t>
            </a:r>
            <a:endParaRPr lang="en-US" sz="942" dirty="0"/>
          </a:p>
        </p:txBody>
      </p:sp>
      <p:sp>
        <p:nvSpPr>
          <p:cNvPr id="24" name="Text 21"/>
          <p:cNvSpPr/>
          <p:nvPr/>
        </p:nvSpPr>
        <p:spPr>
          <a:xfrm>
            <a:off x="285750" y="4090746"/>
            <a:ext cx="57867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• O bloco </a:t>
            </a:r>
            <a:endParaRPr lang="en-US" sz="942" dirty="0"/>
          </a:p>
        </p:txBody>
      </p:sp>
      <p:sp>
        <p:nvSpPr>
          <p:cNvPr id="25" name="Text 22"/>
          <p:cNvSpPr/>
          <p:nvPr/>
        </p:nvSpPr>
        <p:spPr>
          <a:xfrm>
            <a:off x="864422" y="4090746"/>
            <a:ext cx="25513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4299E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else</a:t>
            </a:r>
            <a:endParaRPr lang="en-US" sz="942" dirty="0"/>
          </a:p>
        </p:txBody>
      </p:sp>
      <p:sp>
        <p:nvSpPr>
          <p:cNvPr id="26" name="Text 23"/>
          <p:cNvSpPr/>
          <p:nvPr/>
        </p:nvSpPr>
        <p:spPr>
          <a:xfrm>
            <a:off x="1119560" y="4090746"/>
            <a:ext cx="65376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é opcional</a:t>
            </a:r>
            <a:endParaRPr lang="en-US" sz="942" dirty="0"/>
          </a:p>
        </p:txBody>
      </p:sp>
      <p:sp>
        <p:nvSpPr>
          <p:cNvPr id="27" name="Text 24"/>
          <p:cNvSpPr/>
          <p:nvPr/>
        </p:nvSpPr>
        <p:spPr>
          <a:xfrm>
            <a:off x="285750" y="4283627"/>
            <a:ext cx="56220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• Apenas </a:t>
            </a:r>
            <a:endParaRPr lang="en-US" sz="942" dirty="0"/>
          </a:p>
        </p:txBody>
      </p:sp>
      <p:sp>
        <p:nvSpPr>
          <p:cNvPr id="28" name="Text 25"/>
          <p:cNvSpPr/>
          <p:nvPr/>
        </p:nvSpPr>
        <p:spPr>
          <a:xfrm>
            <a:off x="847958" y="4283627"/>
            <a:ext cx="59011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4299E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um bloco</a:t>
            </a:r>
            <a:endParaRPr lang="en-US" sz="942" dirty="0"/>
          </a:p>
        </p:txBody>
      </p:sp>
      <p:sp>
        <p:nvSpPr>
          <p:cNvPr id="29" name="Text 26"/>
          <p:cNvSpPr/>
          <p:nvPr/>
        </p:nvSpPr>
        <p:spPr>
          <a:xfrm>
            <a:off x="1438070" y="4283627"/>
            <a:ext cx="301538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será executado: o primeiro cuja condição for True </a:t>
            </a:r>
            <a:endParaRPr lang="en-US" sz="942" dirty="0"/>
          </a:p>
        </p:txBody>
      </p:sp>
      <p:sp>
        <p:nvSpPr>
          <p:cNvPr id="30" name="Shape 27"/>
          <p:cNvSpPr/>
          <p:nvPr/>
        </p:nvSpPr>
        <p:spPr>
          <a:xfrm>
            <a:off x="285750" y="4574735"/>
            <a:ext cx="4179094" cy="485775"/>
          </a:xfrm>
          <a:prstGeom prst="rect">
            <a:avLst/>
          </a:prstGeom>
          <a:solidFill>
            <a:srgbClr val="EBF8FF"/>
          </a:solidFill>
          <a:ln/>
        </p:spPr>
      </p:sp>
      <p:sp>
        <p:nvSpPr>
          <p:cNvPr id="31" name="Shape 28"/>
          <p:cNvSpPr/>
          <p:nvPr/>
        </p:nvSpPr>
        <p:spPr>
          <a:xfrm>
            <a:off x="285750" y="4574735"/>
            <a:ext cx="28575" cy="485775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32" name="Text 29"/>
          <p:cNvSpPr/>
          <p:nvPr/>
        </p:nvSpPr>
        <p:spPr>
          <a:xfrm>
            <a:off x="392906" y="4653316"/>
            <a:ext cx="27980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Dica:</a:t>
            </a:r>
            <a:endParaRPr lang="en-US" sz="837" dirty="0"/>
          </a:p>
        </p:txBody>
      </p:sp>
      <p:sp>
        <p:nvSpPr>
          <p:cNvPr id="33" name="Text 30"/>
          <p:cNvSpPr/>
          <p:nvPr/>
        </p:nvSpPr>
        <p:spPr>
          <a:xfrm>
            <a:off x="672712" y="4653316"/>
            <a:ext cx="324270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Use if-elif-else quando precisar verificar múltiplas condições </a:t>
            </a:r>
            <a:endParaRPr lang="en-US" sz="837" dirty="0"/>
          </a:p>
        </p:txBody>
      </p:sp>
      <p:sp>
        <p:nvSpPr>
          <p:cNvPr id="34" name="Text 31"/>
          <p:cNvSpPr/>
          <p:nvPr/>
        </p:nvSpPr>
        <p:spPr>
          <a:xfrm>
            <a:off x="392906" y="4824766"/>
            <a:ext cx="366516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mutuamente exclusivas, onde apenas uma ação deve ser executada. </a:t>
            </a:r>
            <a:endParaRPr lang="en-US" sz="837" dirty="0"/>
          </a:p>
        </p:txBody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1359" y="1780915"/>
            <a:ext cx="3214688" cy="238450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4606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Operadores Lógicos em Condicionais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814388"/>
            <a:ext cx="501491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and (E lógico)</a:t>
            </a:r>
            <a:endParaRPr lang="en-US" sz="1238" dirty="0"/>
          </a:p>
        </p:txBody>
      </p:sp>
      <p:sp>
        <p:nvSpPr>
          <p:cNvPr id="5" name="Text 2"/>
          <p:cNvSpPr/>
          <p:nvPr/>
        </p:nvSpPr>
        <p:spPr>
          <a:xfrm>
            <a:off x="285750" y="1082278"/>
            <a:ext cx="4576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Retorna </a:t>
            </a:r>
            <a:endParaRPr lang="en-US" sz="837" dirty="0"/>
          </a:p>
        </p:txBody>
      </p:sp>
      <p:sp>
        <p:nvSpPr>
          <p:cNvPr id="6" name="Text 3"/>
          <p:cNvSpPr/>
          <p:nvPr/>
        </p:nvSpPr>
        <p:spPr>
          <a:xfrm>
            <a:off x="743424" y="1082278"/>
            <a:ext cx="25502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4299E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True</a:t>
            </a:r>
            <a:endParaRPr lang="en-US" sz="837" dirty="0"/>
          </a:p>
        </p:txBody>
      </p:sp>
      <p:sp>
        <p:nvSpPr>
          <p:cNvPr id="7" name="Text 4"/>
          <p:cNvSpPr/>
          <p:nvPr/>
        </p:nvSpPr>
        <p:spPr>
          <a:xfrm>
            <a:off x="998451" y="1082278"/>
            <a:ext cx="17867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se </a:t>
            </a:r>
            <a:endParaRPr lang="en-US" sz="837" dirty="0"/>
          </a:p>
        </p:txBody>
      </p:sp>
      <p:sp>
        <p:nvSpPr>
          <p:cNvPr id="8" name="Text 5"/>
          <p:cNvSpPr/>
          <p:nvPr/>
        </p:nvSpPr>
        <p:spPr>
          <a:xfrm>
            <a:off x="1177128" y="1082278"/>
            <a:ext cx="37948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ambas</a:t>
            </a:r>
            <a:endParaRPr lang="en-US" sz="837" dirty="0"/>
          </a:p>
        </p:txBody>
      </p:sp>
      <p:sp>
        <p:nvSpPr>
          <p:cNvPr id="9" name="Text 6"/>
          <p:cNvSpPr/>
          <p:nvPr/>
        </p:nvSpPr>
        <p:spPr>
          <a:xfrm>
            <a:off x="1556612" y="1082278"/>
            <a:ext cx="176068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as condições forem verdadeiras.</a:t>
            </a:r>
            <a:endParaRPr lang="en-US" sz="837" dirty="0"/>
          </a:p>
        </p:txBody>
      </p:sp>
      <p:sp>
        <p:nvSpPr>
          <p:cNvPr id="10" name="Shape 7"/>
          <p:cNvSpPr/>
          <p:nvPr/>
        </p:nvSpPr>
        <p:spPr>
          <a:xfrm>
            <a:off x="285750" y="1270136"/>
            <a:ext cx="5014913" cy="892969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1" name="Text 8"/>
          <p:cNvSpPr/>
          <p:nvPr/>
        </p:nvSpPr>
        <p:spPr>
          <a:xfrm>
            <a:off x="357188" y="1348718"/>
            <a:ext cx="48496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idade = 25</a:t>
            </a:r>
            <a:endParaRPr lang="en-US" sz="732" dirty="0"/>
          </a:p>
        </p:txBody>
      </p:sp>
      <p:sp>
        <p:nvSpPr>
          <p:cNvPr id="12" name="Text 9"/>
          <p:cNvSpPr/>
          <p:nvPr/>
        </p:nvSpPr>
        <p:spPr>
          <a:xfrm>
            <a:off x="357188" y="1498736"/>
            <a:ext cx="9089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tem_carteira = True</a:t>
            </a:r>
            <a:endParaRPr lang="en-US" sz="732" dirty="0"/>
          </a:p>
        </p:txBody>
      </p:sp>
      <p:sp>
        <p:nvSpPr>
          <p:cNvPr id="13" name="Text 10"/>
          <p:cNvSpPr/>
          <p:nvPr/>
        </p:nvSpPr>
        <p:spPr>
          <a:xfrm>
            <a:off x="357188" y="1798774"/>
            <a:ext cx="147618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if idade &gt;= 18 and tem_carteira:</a:t>
            </a:r>
            <a:endParaRPr lang="en-US" sz="732" dirty="0"/>
          </a:p>
        </p:txBody>
      </p:sp>
      <p:sp>
        <p:nvSpPr>
          <p:cNvPr id="14" name="Text 11"/>
          <p:cNvSpPr/>
          <p:nvPr/>
        </p:nvSpPr>
        <p:spPr>
          <a:xfrm>
            <a:off x="357188" y="1948793"/>
            <a:ext cx="92012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print("Pode dirigir") </a:t>
            </a:r>
            <a:endParaRPr lang="en-US" sz="732" dirty="0"/>
          </a:p>
        </p:txBody>
      </p:sp>
      <p:sp>
        <p:nvSpPr>
          <p:cNvPr id="15" name="Text 12"/>
          <p:cNvSpPr/>
          <p:nvPr/>
        </p:nvSpPr>
        <p:spPr>
          <a:xfrm>
            <a:off x="285750" y="2341699"/>
            <a:ext cx="501491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or (OU lógico)</a:t>
            </a:r>
            <a:endParaRPr lang="en-US" sz="1238" dirty="0"/>
          </a:p>
        </p:txBody>
      </p:sp>
      <p:sp>
        <p:nvSpPr>
          <p:cNvPr id="16" name="Text 13"/>
          <p:cNvSpPr/>
          <p:nvPr/>
        </p:nvSpPr>
        <p:spPr>
          <a:xfrm>
            <a:off x="285750" y="2609590"/>
            <a:ext cx="4576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Retorna </a:t>
            </a:r>
            <a:endParaRPr lang="en-US" sz="837" dirty="0"/>
          </a:p>
        </p:txBody>
      </p:sp>
      <p:sp>
        <p:nvSpPr>
          <p:cNvPr id="17" name="Text 14"/>
          <p:cNvSpPr/>
          <p:nvPr/>
        </p:nvSpPr>
        <p:spPr>
          <a:xfrm>
            <a:off x="743424" y="2609590"/>
            <a:ext cx="25502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4299E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True</a:t>
            </a:r>
            <a:endParaRPr lang="en-US" sz="837" dirty="0"/>
          </a:p>
        </p:txBody>
      </p:sp>
      <p:sp>
        <p:nvSpPr>
          <p:cNvPr id="18" name="Text 15"/>
          <p:cNvSpPr/>
          <p:nvPr/>
        </p:nvSpPr>
        <p:spPr>
          <a:xfrm>
            <a:off x="998451" y="2609590"/>
            <a:ext cx="17867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se </a:t>
            </a:r>
            <a:endParaRPr lang="en-US" sz="837" dirty="0"/>
          </a:p>
        </p:txBody>
      </p:sp>
      <p:sp>
        <p:nvSpPr>
          <p:cNvPr id="19" name="Text 16"/>
          <p:cNvSpPr/>
          <p:nvPr/>
        </p:nvSpPr>
        <p:spPr>
          <a:xfrm>
            <a:off x="1177128" y="2609590"/>
            <a:ext cx="94378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pelo menos uma</a:t>
            </a:r>
            <a:endParaRPr lang="en-US" sz="837" dirty="0"/>
          </a:p>
        </p:txBody>
      </p:sp>
      <p:sp>
        <p:nvSpPr>
          <p:cNvPr id="20" name="Text 17"/>
          <p:cNvSpPr/>
          <p:nvPr/>
        </p:nvSpPr>
        <p:spPr>
          <a:xfrm>
            <a:off x="2120912" y="2609590"/>
            <a:ext cx="160717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das condições for verdadeira.</a:t>
            </a:r>
            <a:endParaRPr lang="en-US" sz="837" dirty="0"/>
          </a:p>
        </p:txBody>
      </p:sp>
      <p:sp>
        <p:nvSpPr>
          <p:cNvPr id="21" name="Shape 18"/>
          <p:cNvSpPr/>
          <p:nvPr/>
        </p:nvSpPr>
        <p:spPr>
          <a:xfrm>
            <a:off x="285750" y="2797448"/>
            <a:ext cx="5014913" cy="892969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22" name="Text 19"/>
          <p:cNvSpPr/>
          <p:nvPr/>
        </p:nvSpPr>
        <p:spPr>
          <a:xfrm>
            <a:off x="357188" y="2876029"/>
            <a:ext cx="95614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eh_estudante = True</a:t>
            </a:r>
            <a:endParaRPr lang="en-US" sz="732" dirty="0"/>
          </a:p>
        </p:txBody>
      </p:sp>
      <p:sp>
        <p:nvSpPr>
          <p:cNvPr id="23" name="Text 20"/>
          <p:cNvSpPr/>
          <p:nvPr/>
        </p:nvSpPr>
        <p:spPr>
          <a:xfrm>
            <a:off x="357188" y="3026048"/>
            <a:ext cx="76622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eh_idoso = False</a:t>
            </a:r>
            <a:endParaRPr lang="en-US" sz="732" dirty="0"/>
          </a:p>
        </p:txBody>
      </p:sp>
      <p:sp>
        <p:nvSpPr>
          <p:cNvPr id="24" name="Text 21"/>
          <p:cNvSpPr/>
          <p:nvPr/>
        </p:nvSpPr>
        <p:spPr>
          <a:xfrm>
            <a:off x="357188" y="3326085"/>
            <a:ext cx="132248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if eh_estudante or eh_idoso:</a:t>
            </a:r>
            <a:endParaRPr lang="en-US" sz="732" dirty="0"/>
          </a:p>
        </p:txBody>
      </p:sp>
      <p:sp>
        <p:nvSpPr>
          <p:cNvPr id="25" name="Text 22"/>
          <p:cNvSpPr/>
          <p:nvPr/>
        </p:nvSpPr>
        <p:spPr>
          <a:xfrm>
            <a:off x="357188" y="3476104"/>
            <a:ext cx="143999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print("Tem direito a desconto") </a:t>
            </a:r>
            <a:endParaRPr lang="en-US" sz="732" dirty="0"/>
          </a:p>
        </p:txBody>
      </p:sp>
      <p:sp>
        <p:nvSpPr>
          <p:cNvPr id="26" name="Text 23"/>
          <p:cNvSpPr/>
          <p:nvPr/>
        </p:nvSpPr>
        <p:spPr>
          <a:xfrm>
            <a:off x="285750" y="3869010"/>
            <a:ext cx="501491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not (NÃO lógico)</a:t>
            </a:r>
            <a:endParaRPr lang="en-US" sz="1238" dirty="0"/>
          </a:p>
        </p:txBody>
      </p:sp>
      <p:sp>
        <p:nvSpPr>
          <p:cNvPr id="27" name="Text 24"/>
          <p:cNvSpPr/>
          <p:nvPr/>
        </p:nvSpPr>
        <p:spPr>
          <a:xfrm>
            <a:off x="285750" y="4136901"/>
            <a:ext cx="222017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Inverte o valor booleano, transformando </a:t>
            </a:r>
            <a:endParaRPr lang="en-US" sz="837" dirty="0"/>
          </a:p>
        </p:txBody>
      </p:sp>
      <p:sp>
        <p:nvSpPr>
          <p:cNvPr id="28" name="Text 25"/>
          <p:cNvSpPr/>
          <p:nvPr/>
        </p:nvSpPr>
        <p:spPr>
          <a:xfrm>
            <a:off x="2505921" y="4136901"/>
            <a:ext cx="25502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4299E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True</a:t>
            </a:r>
            <a:endParaRPr lang="en-US" sz="837" dirty="0"/>
          </a:p>
        </p:txBody>
      </p:sp>
      <p:sp>
        <p:nvSpPr>
          <p:cNvPr id="29" name="Text 26"/>
          <p:cNvSpPr/>
          <p:nvPr/>
        </p:nvSpPr>
        <p:spPr>
          <a:xfrm>
            <a:off x="2760948" y="4136901"/>
            <a:ext cx="23077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em </a:t>
            </a:r>
            <a:endParaRPr lang="en-US" sz="837" dirty="0"/>
          </a:p>
        </p:txBody>
      </p:sp>
      <p:sp>
        <p:nvSpPr>
          <p:cNvPr id="30" name="Text 27"/>
          <p:cNvSpPr/>
          <p:nvPr/>
        </p:nvSpPr>
        <p:spPr>
          <a:xfrm>
            <a:off x="2991724" y="4136901"/>
            <a:ext cx="29102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4299E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False</a:t>
            </a:r>
            <a:endParaRPr lang="en-US" sz="837" dirty="0"/>
          </a:p>
        </p:txBody>
      </p:sp>
      <p:sp>
        <p:nvSpPr>
          <p:cNvPr id="31" name="Text 28"/>
          <p:cNvSpPr/>
          <p:nvPr/>
        </p:nvSpPr>
        <p:spPr>
          <a:xfrm>
            <a:off x="3282748" y="4136901"/>
            <a:ext cx="68683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 vice-versa.</a:t>
            </a:r>
            <a:endParaRPr lang="en-US" sz="837" dirty="0"/>
          </a:p>
        </p:txBody>
      </p:sp>
      <p:sp>
        <p:nvSpPr>
          <p:cNvPr id="32" name="Shape 29"/>
          <p:cNvSpPr/>
          <p:nvPr/>
        </p:nvSpPr>
        <p:spPr>
          <a:xfrm>
            <a:off x="285750" y="4324759"/>
            <a:ext cx="5014913" cy="74295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33" name="Text 30"/>
          <p:cNvSpPr/>
          <p:nvPr/>
        </p:nvSpPr>
        <p:spPr>
          <a:xfrm>
            <a:off x="357188" y="4403341"/>
            <a:ext cx="104764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esta_chovendo = False</a:t>
            </a:r>
            <a:endParaRPr lang="en-US" sz="732" dirty="0"/>
          </a:p>
        </p:txBody>
      </p:sp>
      <p:sp>
        <p:nvSpPr>
          <p:cNvPr id="34" name="Text 31"/>
          <p:cNvSpPr/>
          <p:nvPr/>
        </p:nvSpPr>
        <p:spPr>
          <a:xfrm>
            <a:off x="357188" y="4703378"/>
            <a:ext cx="9977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if not esta_chovendo:</a:t>
            </a:r>
            <a:endParaRPr lang="en-US" sz="732" dirty="0"/>
          </a:p>
        </p:txBody>
      </p:sp>
      <p:sp>
        <p:nvSpPr>
          <p:cNvPr id="35" name="Text 32"/>
          <p:cNvSpPr/>
          <p:nvPr/>
        </p:nvSpPr>
        <p:spPr>
          <a:xfrm>
            <a:off x="357188" y="4853397"/>
            <a:ext cx="119046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print("Vamos ao parque") </a:t>
            </a:r>
            <a:endParaRPr lang="en-US" sz="732" dirty="0"/>
          </a:p>
        </p:txBody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0" y="2106262"/>
            <a:ext cx="2714597" cy="17767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Boas Práticas na Escrita de Condicionais</a:t>
            </a:r>
            <a:endParaRPr lang="en-US" sz="2025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857250"/>
            <a:ext cx="128588" cy="1285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85775" y="814388"/>
            <a:ext cx="248175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Use nomes de variáveis descritivos </a:t>
            </a:r>
            <a:endParaRPr lang="en-US" sz="1046" dirty="0"/>
          </a:p>
        </p:txBody>
      </p:sp>
      <p:sp>
        <p:nvSpPr>
          <p:cNvPr id="6" name="Text 2"/>
          <p:cNvSpPr/>
          <p:nvPr/>
        </p:nvSpPr>
        <p:spPr>
          <a:xfrm>
            <a:off x="500063" y="1064419"/>
            <a:ext cx="4800600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Escolha nomes que indiquem claramente o propósito da condição. </a:t>
            </a:r>
            <a:endParaRPr lang="en-US" sz="837" dirty="0"/>
          </a:p>
        </p:txBody>
      </p:sp>
      <p:sp>
        <p:nvSpPr>
          <p:cNvPr id="7" name="Shape 3"/>
          <p:cNvSpPr/>
          <p:nvPr/>
        </p:nvSpPr>
        <p:spPr>
          <a:xfrm>
            <a:off x="500063" y="1248705"/>
            <a:ext cx="4800600" cy="264319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8" name="Shape 4"/>
          <p:cNvSpPr/>
          <p:nvPr/>
        </p:nvSpPr>
        <p:spPr>
          <a:xfrm>
            <a:off x="500063" y="1248705"/>
            <a:ext cx="28575" cy="264319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9" name="Text 5"/>
          <p:cNvSpPr/>
          <p:nvPr/>
        </p:nvSpPr>
        <p:spPr>
          <a:xfrm>
            <a:off x="500063" y="1248705"/>
            <a:ext cx="4800600" cy="26431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if idade &gt;= 18: # Claro e descritivo </a:t>
            </a:r>
            <a:endParaRPr lang="en-US" sz="732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1735931"/>
            <a:ext cx="128588" cy="1285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85775" y="1693069"/>
            <a:ext cx="183195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Evite condições negativas </a:t>
            </a:r>
            <a:endParaRPr lang="en-US" sz="1046" dirty="0"/>
          </a:p>
        </p:txBody>
      </p:sp>
      <p:sp>
        <p:nvSpPr>
          <p:cNvPr id="12" name="Text 7"/>
          <p:cNvSpPr/>
          <p:nvPr/>
        </p:nvSpPr>
        <p:spPr>
          <a:xfrm>
            <a:off x="500063" y="1943100"/>
            <a:ext cx="4800600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Condições positivas são mais fáceis de entender. </a:t>
            </a:r>
            <a:endParaRPr lang="en-US" sz="837" dirty="0"/>
          </a:p>
        </p:txBody>
      </p:sp>
      <p:sp>
        <p:nvSpPr>
          <p:cNvPr id="13" name="Shape 8"/>
          <p:cNvSpPr/>
          <p:nvPr/>
        </p:nvSpPr>
        <p:spPr>
          <a:xfrm>
            <a:off x="500063" y="2127386"/>
            <a:ext cx="4800600" cy="264319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4" name="Shape 9"/>
          <p:cNvSpPr/>
          <p:nvPr/>
        </p:nvSpPr>
        <p:spPr>
          <a:xfrm>
            <a:off x="500063" y="2127386"/>
            <a:ext cx="28575" cy="264319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15" name="Text 10"/>
          <p:cNvSpPr/>
          <p:nvPr/>
        </p:nvSpPr>
        <p:spPr>
          <a:xfrm>
            <a:off x="500063" y="2127386"/>
            <a:ext cx="4800600" cy="26431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if esta_ativo: # Mais claro </a:t>
            </a:r>
            <a:endParaRPr lang="en-US" sz="732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2614613"/>
            <a:ext cx="128588" cy="12858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85775" y="2571750"/>
            <a:ext cx="242675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Simplifique expressões complexas </a:t>
            </a:r>
            <a:endParaRPr lang="en-US" sz="1046" dirty="0"/>
          </a:p>
        </p:txBody>
      </p:sp>
      <p:sp>
        <p:nvSpPr>
          <p:cNvPr id="18" name="Text 12"/>
          <p:cNvSpPr/>
          <p:nvPr/>
        </p:nvSpPr>
        <p:spPr>
          <a:xfrm>
            <a:off x="500063" y="2821781"/>
            <a:ext cx="4800600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Use variáveis intermediárias para tornar condições complexas mais legíveis. </a:t>
            </a:r>
            <a:endParaRPr lang="en-US" sz="837" dirty="0"/>
          </a:p>
        </p:txBody>
      </p:sp>
      <p:sp>
        <p:nvSpPr>
          <p:cNvPr id="19" name="Shape 13"/>
          <p:cNvSpPr/>
          <p:nvPr/>
        </p:nvSpPr>
        <p:spPr>
          <a:xfrm>
            <a:off x="500063" y="3006068"/>
            <a:ext cx="4800600" cy="564356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20" name="Shape 14"/>
          <p:cNvSpPr/>
          <p:nvPr/>
        </p:nvSpPr>
        <p:spPr>
          <a:xfrm>
            <a:off x="500063" y="3006068"/>
            <a:ext cx="28575" cy="564356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21" name="Text 15"/>
          <p:cNvSpPr/>
          <p:nvPr/>
        </p:nvSpPr>
        <p:spPr>
          <a:xfrm>
            <a:off x="557213" y="3070361"/>
            <a:ext cx="14115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idade_suficiente = idade &gt;= 18</a:t>
            </a:r>
            <a:endParaRPr lang="en-US" sz="732" dirty="0"/>
          </a:p>
        </p:txBody>
      </p:sp>
      <p:sp>
        <p:nvSpPr>
          <p:cNvPr id="22" name="Text 16"/>
          <p:cNvSpPr/>
          <p:nvPr/>
        </p:nvSpPr>
        <p:spPr>
          <a:xfrm>
            <a:off x="557213" y="3220380"/>
            <a:ext cx="200675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tem_documento = possui_rg or possui_cnh</a:t>
            </a:r>
            <a:endParaRPr lang="en-US" sz="732" dirty="0"/>
          </a:p>
        </p:txBody>
      </p:sp>
      <p:sp>
        <p:nvSpPr>
          <p:cNvPr id="23" name="Text 17"/>
          <p:cNvSpPr/>
          <p:nvPr/>
        </p:nvSpPr>
        <p:spPr>
          <a:xfrm>
            <a:off x="557213" y="3370399"/>
            <a:ext cx="187523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if idade_suficiente and tem_documento: </a:t>
            </a:r>
            <a:endParaRPr lang="en-US" sz="732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3793331"/>
            <a:ext cx="128588" cy="12858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85775" y="3750469"/>
            <a:ext cx="256390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Mantenha a indentação consistente </a:t>
            </a:r>
            <a:endParaRPr lang="en-US" sz="1046" dirty="0"/>
          </a:p>
        </p:txBody>
      </p:sp>
      <p:sp>
        <p:nvSpPr>
          <p:cNvPr id="26" name="Text 19"/>
          <p:cNvSpPr/>
          <p:nvPr/>
        </p:nvSpPr>
        <p:spPr>
          <a:xfrm>
            <a:off x="500063" y="4000500"/>
            <a:ext cx="4800600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Em Python, a indentação é parte da sintaxe e define blocos de código. </a:t>
            </a:r>
            <a:endParaRPr lang="en-US" sz="837" dirty="0"/>
          </a:p>
        </p:txBody>
      </p:sp>
      <p:sp>
        <p:nvSpPr>
          <p:cNvPr id="27" name="Shape 20"/>
          <p:cNvSpPr/>
          <p:nvPr/>
        </p:nvSpPr>
        <p:spPr>
          <a:xfrm>
            <a:off x="500063" y="4184786"/>
            <a:ext cx="4800600" cy="564356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28" name="Shape 21"/>
          <p:cNvSpPr/>
          <p:nvPr/>
        </p:nvSpPr>
        <p:spPr>
          <a:xfrm>
            <a:off x="500063" y="4184786"/>
            <a:ext cx="28575" cy="564356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29" name="Text 22"/>
          <p:cNvSpPr/>
          <p:nvPr/>
        </p:nvSpPr>
        <p:spPr>
          <a:xfrm>
            <a:off x="557213" y="4249080"/>
            <a:ext cx="53527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if condicao:</a:t>
            </a:r>
            <a:endParaRPr lang="en-US" sz="732" dirty="0"/>
          </a:p>
        </p:txBody>
      </p:sp>
      <p:sp>
        <p:nvSpPr>
          <p:cNvPr id="30" name="Text 23"/>
          <p:cNvSpPr/>
          <p:nvPr/>
        </p:nvSpPr>
        <p:spPr>
          <a:xfrm>
            <a:off x="557213" y="4399099"/>
            <a:ext cx="124627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# 4 espaços de indentação</a:t>
            </a:r>
            <a:endParaRPr lang="en-US" sz="732" dirty="0"/>
          </a:p>
        </p:txBody>
      </p:sp>
      <p:sp>
        <p:nvSpPr>
          <p:cNvPr id="31" name="Text 24"/>
          <p:cNvSpPr/>
          <p:nvPr/>
        </p:nvSpPr>
        <p:spPr>
          <a:xfrm>
            <a:off x="557213" y="4549118"/>
            <a:ext cx="93552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print("Dentro do if") </a:t>
            </a:r>
            <a:endParaRPr lang="en-US" sz="732" dirty="0"/>
          </a:p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6456" y="2021374"/>
            <a:ext cx="2500285" cy="1407905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705010" y="3500717"/>
            <a:ext cx="296317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i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Código limpo e bem estruturado é mais fácil de entender e manter.</a:t>
            </a:r>
            <a:endParaRPr lang="en-US" sz="732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720352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Exemplos Práticos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885825"/>
            <a:ext cx="501491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1. Verificação de Idade</a:t>
            </a:r>
            <a:endParaRPr lang="en-US" sz="1238" dirty="0"/>
          </a:p>
        </p:txBody>
      </p:sp>
      <p:sp>
        <p:nvSpPr>
          <p:cNvPr id="5" name="Shape 2"/>
          <p:cNvSpPr/>
          <p:nvPr/>
        </p:nvSpPr>
        <p:spPr>
          <a:xfrm>
            <a:off x="285750" y="1193006"/>
            <a:ext cx="5014913" cy="1771538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6" name="Text 3"/>
          <p:cNvSpPr/>
          <p:nvPr/>
        </p:nvSpPr>
        <p:spPr>
          <a:xfrm>
            <a:off x="371475" y="1280517"/>
            <a:ext cx="200404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idade = int(input("Digite sua idade: "))</a:t>
            </a:r>
            <a:endParaRPr lang="en-US" sz="837" dirty="0"/>
          </a:p>
        </p:txBody>
      </p:sp>
      <p:sp>
        <p:nvSpPr>
          <p:cNvPr id="7" name="Text 4"/>
          <p:cNvSpPr/>
          <p:nvPr/>
        </p:nvSpPr>
        <p:spPr>
          <a:xfrm>
            <a:off x="371475" y="1600535"/>
            <a:ext cx="6834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if idade &lt; 12:</a:t>
            </a:r>
            <a:endParaRPr lang="en-US" sz="837" dirty="0"/>
          </a:p>
        </p:txBody>
      </p:sp>
      <p:sp>
        <p:nvSpPr>
          <p:cNvPr id="8" name="Text 5"/>
          <p:cNvSpPr/>
          <p:nvPr/>
        </p:nvSpPr>
        <p:spPr>
          <a:xfrm>
            <a:off x="371475" y="1760544"/>
            <a:ext cx="82228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print("Criança")</a:t>
            </a:r>
            <a:endParaRPr lang="en-US" sz="837" dirty="0"/>
          </a:p>
        </p:txBody>
      </p:sp>
      <p:sp>
        <p:nvSpPr>
          <p:cNvPr id="9" name="Text 6"/>
          <p:cNvSpPr/>
          <p:nvPr/>
        </p:nvSpPr>
        <p:spPr>
          <a:xfrm>
            <a:off x="371475" y="1920553"/>
            <a:ext cx="77735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elif idade &lt; 18:</a:t>
            </a:r>
            <a:endParaRPr lang="en-US" sz="837" dirty="0"/>
          </a:p>
        </p:txBody>
      </p:sp>
      <p:sp>
        <p:nvSpPr>
          <p:cNvPr id="10" name="Text 7"/>
          <p:cNvSpPr/>
          <p:nvPr/>
        </p:nvSpPr>
        <p:spPr>
          <a:xfrm>
            <a:off x="371475" y="2080561"/>
            <a:ext cx="106849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print("Adolescente")</a:t>
            </a:r>
            <a:endParaRPr lang="en-US" sz="837" dirty="0"/>
          </a:p>
        </p:txBody>
      </p:sp>
      <p:sp>
        <p:nvSpPr>
          <p:cNvPr id="11" name="Text 8"/>
          <p:cNvSpPr/>
          <p:nvPr/>
        </p:nvSpPr>
        <p:spPr>
          <a:xfrm>
            <a:off x="371475" y="2240570"/>
            <a:ext cx="77735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elif idade &lt; 65:</a:t>
            </a:r>
            <a:endParaRPr lang="en-US" sz="837" dirty="0"/>
          </a:p>
        </p:txBody>
      </p:sp>
      <p:sp>
        <p:nvSpPr>
          <p:cNvPr id="12" name="Text 9"/>
          <p:cNvSpPr/>
          <p:nvPr/>
        </p:nvSpPr>
        <p:spPr>
          <a:xfrm>
            <a:off x="371475" y="2400579"/>
            <a:ext cx="76547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print("Adulto")</a:t>
            </a:r>
            <a:endParaRPr lang="en-US" sz="837" dirty="0"/>
          </a:p>
        </p:txBody>
      </p:sp>
      <p:sp>
        <p:nvSpPr>
          <p:cNvPr id="13" name="Text 10"/>
          <p:cNvSpPr/>
          <p:nvPr/>
        </p:nvSpPr>
        <p:spPr>
          <a:xfrm>
            <a:off x="371475" y="2560588"/>
            <a:ext cx="24380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else:</a:t>
            </a:r>
            <a:endParaRPr lang="en-US" sz="837" dirty="0"/>
          </a:p>
        </p:txBody>
      </p:sp>
      <p:sp>
        <p:nvSpPr>
          <p:cNvPr id="14" name="Text 11"/>
          <p:cNvSpPr/>
          <p:nvPr/>
        </p:nvSpPr>
        <p:spPr>
          <a:xfrm>
            <a:off x="371475" y="2720597"/>
            <a:ext cx="72171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print("Idoso") </a:t>
            </a:r>
            <a:endParaRPr lang="en-US" sz="837" dirty="0"/>
          </a:p>
        </p:txBody>
      </p:sp>
      <p:sp>
        <p:nvSpPr>
          <p:cNvPr id="15" name="Shape 12"/>
          <p:cNvSpPr/>
          <p:nvPr/>
        </p:nvSpPr>
        <p:spPr>
          <a:xfrm>
            <a:off x="285750" y="3035982"/>
            <a:ext cx="5014913" cy="457200"/>
          </a:xfrm>
          <a:prstGeom prst="rect">
            <a:avLst/>
          </a:prstGeom>
          <a:solidFill>
            <a:srgbClr val="EBF8FF"/>
          </a:solidFill>
          <a:ln/>
        </p:spPr>
      </p:sp>
      <p:sp>
        <p:nvSpPr>
          <p:cNvPr id="16" name="Shape 13"/>
          <p:cNvSpPr/>
          <p:nvPr/>
        </p:nvSpPr>
        <p:spPr>
          <a:xfrm>
            <a:off x="285750" y="3035982"/>
            <a:ext cx="28575" cy="457200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17" name="Text 14"/>
          <p:cNvSpPr/>
          <p:nvPr/>
        </p:nvSpPr>
        <p:spPr>
          <a:xfrm>
            <a:off x="371475" y="3100276"/>
            <a:ext cx="98653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# Para entrada 25:</a:t>
            </a:r>
            <a:endParaRPr lang="en-US" sz="837" dirty="0"/>
          </a:p>
        </p:txBody>
      </p:sp>
      <p:sp>
        <p:nvSpPr>
          <p:cNvPr id="18" name="Text 15"/>
          <p:cNvSpPr/>
          <p:nvPr/>
        </p:nvSpPr>
        <p:spPr>
          <a:xfrm>
            <a:off x="371475" y="3271726"/>
            <a:ext cx="35389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Adulto </a:t>
            </a:r>
            <a:endParaRPr lang="en-US" sz="837" dirty="0"/>
          </a:p>
        </p:txBody>
      </p:sp>
      <p:sp>
        <p:nvSpPr>
          <p:cNvPr id="19" name="Text 16"/>
          <p:cNvSpPr/>
          <p:nvPr/>
        </p:nvSpPr>
        <p:spPr>
          <a:xfrm>
            <a:off x="285750" y="3821795"/>
            <a:ext cx="501491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2. Verificação de Clima</a:t>
            </a:r>
            <a:endParaRPr lang="en-US" sz="1238" dirty="0"/>
          </a:p>
        </p:txBody>
      </p:sp>
      <p:sp>
        <p:nvSpPr>
          <p:cNvPr id="20" name="Shape 17"/>
          <p:cNvSpPr/>
          <p:nvPr/>
        </p:nvSpPr>
        <p:spPr>
          <a:xfrm>
            <a:off x="285750" y="4128976"/>
            <a:ext cx="5014913" cy="1931547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21" name="Text 18"/>
          <p:cNvSpPr/>
          <p:nvPr/>
        </p:nvSpPr>
        <p:spPr>
          <a:xfrm>
            <a:off x="371475" y="4216487"/>
            <a:ext cx="261187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temperatura = float(input("Temperatura atual: "))</a:t>
            </a:r>
            <a:endParaRPr lang="en-US" sz="837" dirty="0"/>
          </a:p>
        </p:txBody>
      </p:sp>
      <p:sp>
        <p:nvSpPr>
          <p:cNvPr id="22" name="Text 19"/>
          <p:cNvSpPr/>
          <p:nvPr/>
        </p:nvSpPr>
        <p:spPr>
          <a:xfrm>
            <a:off x="371475" y="4376496"/>
            <a:ext cx="28586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esta_chovendo = input("Está chovendo? (s/n): ") == "s"</a:t>
            </a:r>
            <a:endParaRPr lang="en-US" sz="837" dirty="0"/>
          </a:p>
        </p:txBody>
      </p:sp>
      <p:sp>
        <p:nvSpPr>
          <p:cNvPr id="23" name="Text 20"/>
          <p:cNvSpPr/>
          <p:nvPr/>
        </p:nvSpPr>
        <p:spPr>
          <a:xfrm>
            <a:off x="371475" y="4696513"/>
            <a:ext cx="233768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if temperatura &gt; 25 and not esta_chovendo:</a:t>
            </a:r>
            <a:endParaRPr lang="en-US" sz="837" dirty="0"/>
          </a:p>
        </p:txBody>
      </p:sp>
      <p:sp>
        <p:nvSpPr>
          <p:cNvPr id="24" name="Text 21"/>
          <p:cNvSpPr/>
          <p:nvPr/>
        </p:nvSpPr>
        <p:spPr>
          <a:xfrm>
            <a:off x="371475" y="4856522"/>
            <a:ext cx="155700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print("Ótimo dia para praia!")</a:t>
            </a:r>
            <a:endParaRPr lang="en-US" sz="837" dirty="0"/>
          </a:p>
        </p:txBody>
      </p:sp>
      <p:sp>
        <p:nvSpPr>
          <p:cNvPr id="25" name="Text 22"/>
          <p:cNvSpPr/>
          <p:nvPr/>
        </p:nvSpPr>
        <p:spPr>
          <a:xfrm>
            <a:off x="371475" y="5016531"/>
            <a:ext cx="222086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elif temperatura &gt; 25 and esta_chovendo:</a:t>
            </a:r>
            <a:endParaRPr lang="en-US" sz="837" dirty="0"/>
          </a:p>
        </p:txBody>
      </p:sp>
      <p:sp>
        <p:nvSpPr>
          <p:cNvPr id="26" name="Text 23"/>
          <p:cNvSpPr/>
          <p:nvPr/>
        </p:nvSpPr>
        <p:spPr>
          <a:xfrm>
            <a:off x="371475" y="5176540"/>
            <a:ext cx="18029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print("Dia quente, mas chuvoso.")</a:t>
            </a:r>
            <a:endParaRPr lang="en-US" sz="837" dirty="0"/>
          </a:p>
        </p:txBody>
      </p:sp>
      <p:sp>
        <p:nvSpPr>
          <p:cNvPr id="27" name="Text 24"/>
          <p:cNvSpPr/>
          <p:nvPr/>
        </p:nvSpPr>
        <p:spPr>
          <a:xfrm>
            <a:off x="371475" y="5336549"/>
            <a:ext cx="228625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elif temperatura &lt;= 25 and esta_chovendo:</a:t>
            </a:r>
            <a:endParaRPr lang="en-US" sz="837" dirty="0"/>
          </a:p>
        </p:txBody>
      </p:sp>
      <p:sp>
        <p:nvSpPr>
          <p:cNvPr id="28" name="Text 25"/>
          <p:cNvSpPr/>
          <p:nvPr/>
        </p:nvSpPr>
        <p:spPr>
          <a:xfrm>
            <a:off x="371475" y="5496558"/>
            <a:ext cx="223766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print("Dia frio e chuvoso. Fique em casa.")</a:t>
            </a:r>
            <a:endParaRPr lang="en-US" sz="837" dirty="0"/>
          </a:p>
        </p:txBody>
      </p:sp>
      <p:sp>
        <p:nvSpPr>
          <p:cNvPr id="29" name="Text 26"/>
          <p:cNvSpPr/>
          <p:nvPr/>
        </p:nvSpPr>
        <p:spPr>
          <a:xfrm>
            <a:off x="371475" y="5656566"/>
            <a:ext cx="24380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else:</a:t>
            </a:r>
            <a:endParaRPr lang="en-US" sz="837" dirty="0"/>
          </a:p>
        </p:txBody>
      </p:sp>
      <p:sp>
        <p:nvSpPr>
          <p:cNvPr id="30" name="Text 27"/>
          <p:cNvSpPr/>
          <p:nvPr/>
        </p:nvSpPr>
        <p:spPr>
          <a:xfrm>
            <a:off x="371475" y="5816575"/>
            <a:ext cx="175245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print("Dia agradável, aproveite!") </a:t>
            </a:r>
            <a:endParaRPr lang="en-US" sz="837" dirty="0"/>
          </a:p>
        </p:txBody>
      </p:sp>
      <p:sp>
        <p:nvSpPr>
          <p:cNvPr id="31" name="Shape 28"/>
          <p:cNvSpPr/>
          <p:nvPr/>
        </p:nvSpPr>
        <p:spPr>
          <a:xfrm>
            <a:off x="285750" y="6131961"/>
            <a:ext cx="5014913" cy="457200"/>
          </a:xfrm>
          <a:prstGeom prst="rect">
            <a:avLst/>
          </a:prstGeom>
          <a:solidFill>
            <a:srgbClr val="EBF8FF"/>
          </a:solidFill>
          <a:ln/>
        </p:spPr>
      </p:sp>
      <p:sp>
        <p:nvSpPr>
          <p:cNvPr id="32" name="Shape 29"/>
          <p:cNvSpPr/>
          <p:nvPr/>
        </p:nvSpPr>
        <p:spPr>
          <a:xfrm>
            <a:off x="285750" y="6131961"/>
            <a:ext cx="28575" cy="457200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33" name="Text 30"/>
          <p:cNvSpPr/>
          <p:nvPr/>
        </p:nvSpPr>
        <p:spPr>
          <a:xfrm>
            <a:off x="371475" y="6196254"/>
            <a:ext cx="212654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# Para temperatura 28 e não chovendo:</a:t>
            </a:r>
            <a:endParaRPr lang="en-US" sz="837" dirty="0"/>
          </a:p>
        </p:txBody>
      </p:sp>
      <p:sp>
        <p:nvSpPr>
          <p:cNvPr id="34" name="Text 31"/>
          <p:cNvSpPr/>
          <p:nvPr/>
        </p:nvSpPr>
        <p:spPr>
          <a:xfrm>
            <a:off x="371475" y="6367704"/>
            <a:ext cx="11362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Ótimo dia para praia! </a:t>
            </a:r>
            <a:endParaRPr lang="en-US" sz="837" dirty="0"/>
          </a:p>
        </p:txBody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7863" y="3037405"/>
            <a:ext cx="2857500" cy="17287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61078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Exercícios Práticos</a:t>
            </a:r>
            <a:endParaRPr lang="en-US" sz="2025" dirty="0"/>
          </a:p>
        </p:txBody>
      </p:sp>
      <p:sp>
        <p:nvSpPr>
          <p:cNvPr id="4" name="Shape 1"/>
          <p:cNvSpPr/>
          <p:nvPr/>
        </p:nvSpPr>
        <p:spPr>
          <a:xfrm>
            <a:off x="285750" y="885825"/>
            <a:ext cx="5014913" cy="143874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5" name="Shape 2"/>
          <p:cNvSpPr/>
          <p:nvPr/>
        </p:nvSpPr>
        <p:spPr>
          <a:xfrm>
            <a:off x="285750" y="885825"/>
            <a:ext cx="28575" cy="1438740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6" name="Text 3"/>
          <p:cNvSpPr/>
          <p:nvPr/>
        </p:nvSpPr>
        <p:spPr>
          <a:xfrm>
            <a:off x="392906" y="992981"/>
            <a:ext cx="480060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1. Verificador de Idade</a:t>
            </a:r>
            <a:endParaRPr lang="en-US" sz="1238" dirty="0"/>
          </a:p>
        </p:txBody>
      </p:sp>
      <p:sp>
        <p:nvSpPr>
          <p:cNvPr id="7" name="Text 4"/>
          <p:cNvSpPr/>
          <p:nvPr/>
        </p:nvSpPr>
        <p:spPr>
          <a:xfrm>
            <a:off x="392906" y="1300163"/>
            <a:ext cx="480060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Crie um programa que solicite a idade do usuário e informe se ele é criança (0-12 anos), adolescente (13-17 anos), adulto (18-59 anos) ou idoso (60+ anos).</a:t>
            </a:r>
            <a:endParaRPr lang="en-US" sz="942" dirty="0"/>
          </a:p>
        </p:txBody>
      </p:sp>
      <p:sp>
        <p:nvSpPr>
          <p:cNvPr id="8" name="Shape 5"/>
          <p:cNvSpPr/>
          <p:nvPr/>
        </p:nvSpPr>
        <p:spPr>
          <a:xfrm>
            <a:off x="392906" y="1731634"/>
            <a:ext cx="4800600" cy="485775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9" name="Text 6"/>
          <p:cNvSpPr/>
          <p:nvPr/>
        </p:nvSpPr>
        <p:spPr>
          <a:xfrm>
            <a:off x="464344" y="1810215"/>
            <a:ext cx="200404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idade = int(input("Digite sua idade: "))</a:t>
            </a:r>
            <a:endParaRPr lang="en-US" sz="837" dirty="0"/>
          </a:p>
        </p:txBody>
      </p:sp>
      <p:sp>
        <p:nvSpPr>
          <p:cNvPr id="10" name="Text 7"/>
          <p:cNvSpPr/>
          <p:nvPr/>
        </p:nvSpPr>
        <p:spPr>
          <a:xfrm>
            <a:off x="464344" y="1981665"/>
            <a:ext cx="263096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# Use estrutura if-elif-else para classificar a idade </a:t>
            </a:r>
            <a:endParaRPr lang="en-US" sz="837" dirty="0"/>
          </a:p>
        </p:txBody>
      </p:sp>
      <p:sp>
        <p:nvSpPr>
          <p:cNvPr id="11" name="Shape 8"/>
          <p:cNvSpPr/>
          <p:nvPr/>
        </p:nvSpPr>
        <p:spPr>
          <a:xfrm>
            <a:off x="285750" y="2467440"/>
            <a:ext cx="5014913" cy="1961657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2" name="Shape 9"/>
          <p:cNvSpPr/>
          <p:nvPr/>
        </p:nvSpPr>
        <p:spPr>
          <a:xfrm>
            <a:off x="285750" y="2467440"/>
            <a:ext cx="28575" cy="1961657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13" name="Text 10"/>
          <p:cNvSpPr/>
          <p:nvPr/>
        </p:nvSpPr>
        <p:spPr>
          <a:xfrm>
            <a:off x="392906" y="2574596"/>
            <a:ext cx="480060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2. Calculadora de IMC</a:t>
            </a:r>
            <a:endParaRPr lang="en-US" sz="1238" dirty="0"/>
          </a:p>
        </p:txBody>
      </p:sp>
      <p:sp>
        <p:nvSpPr>
          <p:cNvPr id="14" name="Text 11"/>
          <p:cNvSpPr/>
          <p:nvPr/>
        </p:nvSpPr>
        <p:spPr>
          <a:xfrm>
            <a:off x="392906" y="2881778"/>
            <a:ext cx="4800600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Desenvolva um programa que calcule o Índice de Massa Corporal (IMC) e classifique o resultado em: abaixo do peso, peso normal, sobrepeso ou obesidade.</a:t>
            </a:r>
            <a:endParaRPr lang="en-US" sz="942" dirty="0"/>
          </a:p>
        </p:txBody>
      </p:sp>
      <p:sp>
        <p:nvSpPr>
          <p:cNvPr id="15" name="Shape 12"/>
          <p:cNvSpPr/>
          <p:nvPr/>
        </p:nvSpPr>
        <p:spPr>
          <a:xfrm>
            <a:off x="392906" y="3493266"/>
            <a:ext cx="4800600" cy="828675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6" name="Text 13"/>
          <p:cNvSpPr/>
          <p:nvPr/>
        </p:nvSpPr>
        <p:spPr>
          <a:xfrm>
            <a:off x="464344" y="3571847"/>
            <a:ext cx="238841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peso = float(input("Digite seu peso em kg: "))</a:t>
            </a:r>
            <a:endParaRPr lang="en-US" sz="837" dirty="0"/>
          </a:p>
        </p:txBody>
      </p:sp>
      <p:sp>
        <p:nvSpPr>
          <p:cNvPr id="17" name="Text 14"/>
          <p:cNvSpPr/>
          <p:nvPr/>
        </p:nvSpPr>
        <p:spPr>
          <a:xfrm>
            <a:off x="464344" y="3743297"/>
            <a:ext cx="274995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altura = float(input("Digite sua altura em metros: "))</a:t>
            </a:r>
            <a:endParaRPr lang="en-US" sz="837" dirty="0"/>
          </a:p>
        </p:txBody>
      </p:sp>
      <p:sp>
        <p:nvSpPr>
          <p:cNvPr id="18" name="Text 15"/>
          <p:cNvSpPr/>
          <p:nvPr/>
        </p:nvSpPr>
        <p:spPr>
          <a:xfrm>
            <a:off x="464344" y="3914747"/>
            <a:ext cx="131057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imc = peso / (altura ** 2)</a:t>
            </a:r>
            <a:endParaRPr lang="en-US" sz="837" dirty="0"/>
          </a:p>
        </p:txBody>
      </p:sp>
      <p:sp>
        <p:nvSpPr>
          <p:cNvPr id="19" name="Text 16"/>
          <p:cNvSpPr/>
          <p:nvPr/>
        </p:nvSpPr>
        <p:spPr>
          <a:xfrm>
            <a:off x="464344" y="4086197"/>
            <a:ext cx="21715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# Use condicionais para classificar o IMC </a:t>
            </a:r>
            <a:endParaRPr lang="en-US" sz="837" dirty="0"/>
          </a:p>
        </p:txBody>
      </p:sp>
      <p:sp>
        <p:nvSpPr>
          <p:cNvPr id="20" name="Shape 17"/>
          <p:cNvSpPr/>
          <p:nvPr/>
        </p:nvSpPr>
        <p:spPr>
          <a:xfrm>
            <a:off x="285750" y="4571972"/>
            <a:ext cx="5014913" cy="161019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1" name="Shape 18"/>
          <p:cNvSpPr/>
          <p:nvPr/>
        </p:nvSpPr>
        <p:spPr>
          <a:xfrm>
            <a:off x="285750" y="4571972"/>
            <a:ext cx="28575" cy="1610190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22" name="Text 19"/>
          <p:cNvSpPr/>
          <p:nvPr/>
        </p:nvSpPr>
        <p:spPr>
          <a:xfrm>
            <a:off x="392906" y="4679128"/>
            <a:ext cx="480060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3. Verificador de Números</a:t>
            </a:r>
            <a:endParaRPr lang="en-US" sz="1238" dirty="0"/>
          </a:p>
        </p:txBody>
      </p:sp>
      <p:sp>
        <p:nvSpPr>
          <p:cNvPr id="23" name="Text 20"/>
          <p:cNvSpPr/>
          <p:nvPr/>
        </p:nvSpPr>
        <p:spPr>
          <a:xfrm>
            <a:off x="392906" y="4986310"/>
            <a:ext cx="480060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Crie um programa que receba um número e verifique se ele é positivo, negativo ou zero, e também se é par ou ímpar.</a:t>
            </a:r>
            <a:endParaRPr lang="en-US" sz="942" dirty="0"/>
          </a:p>
        </p:txBody>
      </p:sp>
      <p:sp>
        <p:nvSpPr>
          <p:cNvPr id="24" name="Shape 21"/>
          <p:cNvSpPr/>
          <p:nvPr/>
        </p:nvSpPr>
        <p:spPr>
          <a:xfrm>
            <a:off x="392906" y="5417781"/>
            <a:ext cx="4800600" cy="657225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25" name="Text 22"/>
          <p:cNvSpPr/>
          <p:nvPr/>
        </p:nvSpPr>
        <p:spPr>
          <a:xfrm>
            <a:off x="464344" y="5496362"/>
            <a:ext cx="224804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numero = int(input("Digite um número: "))</a:t>
            </a:r>
            <a:endParaRPr lang="en-US" sz="837" dirty="0"/>
          </a:p>
        </p:txBody>
      </p:sp>
      <p:sp>
        <p:nvSpPr>
          <p:cNvPr id="26" name="Text 23"/>
          <p:cNvSpPr/>
          <p:nvPr/>
        </p:nvSpPr>
        <p:spPr>
          <a:xfrm>
            <a:off x="464344" y="5667812"/>
            <a:ext cx="20644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# Verifique se é positivo/negativo/zero</a:t>
            </a:r>
            <a:endParaRPr lang="en-US" sz="837" dirty="0"/>
          </a:p>
        </p:txBody>
      </p:sp>
      <p:sp>
        <p:nvSpPr>
          <p:cNvPr id="27" name="Text 24"/>
          <p:cNvSpPr/>
          <p:nvPr/>
        </p:nvSpPr>
        <p:spPr>
          <a:xfrm>
            <a:off x="464344" y="5839262"/>
            <a:ext cx="273909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# Verifique se é par ou ímpar usando o operador % </a:t>
            </a:r>
            <a:endParaRPr lang="en-US" sz="837" dirty="0"/>
          </a:p>
        </p:txBody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0" y="2616371"/>
            <a:ext cx="2714597" cy="1642337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685644" y="4410512"/>
            <a:ext cx="73527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Pratique no </a:t>
            </a:r>
            <a:endParaRPr lang="en-US" sz="942" dirty="0"/>
          </a:p>
        </p:txBody>
      </p:sp>
      <p:sp>
        <p:nvSpPr>
          <p:cNvPr id="30" name="Text 26"/>
          <p:cNvSpPr/>
          <p:nvPr/>
        </p:nvSpPr>
        <p:spPr>
          <a:xfrm>
            <a:off x="6420920" y="4410512"/>
            <a:ext cx="8421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4299E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Google Colab</a:t>
            </a:r>
            <a:endParaRPr lang="en-US" sz="942" dirty="0"/>
          </a:p>
        </p:txBody>
      </p:sp>
      <p:sp>
        <p:nvSpPr>
          <p:cNvPr id="31" name="Text 27"/>
          <p:cNvSpPr/>
          <p:nvPr/>
        </p:nvSpPr>
        <p:spPr>
          <a:xfrm>
            <a:off x="7263045" y="4410512"/>
            <a:ext cx="142450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para fixar os conceitos!</a:t>
            </a:r>
            <a:endParaRPr lang="en-US" sz="94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2025-09-12T18:02:22Z</dcterms:created>
  <dcterms:modified xsi:type="dcterms:W3CDTF">2025-09-12T18:02:22Z</dcterms:modified>
</cp:coreProperties>
</file>