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media/image13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Cliqu</a:t>
            </a: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para </a:t>
            </a: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move</a:t>
            </a: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r o </a:t>
            </a: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slide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Clique para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editar o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formato de </a:t>
            </a: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notas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&lt;cabeçalho&gt;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&lt;data/hora&gt;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6A6A4C00-812E-4533-B0F5-E209B65C2C97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3887B3-B9A9-413D-A6F0-6539C81636C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3203B0-6522-4E17-BD64-C9A4F197742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A1870C-2EB1-448F-9BB7-71597CA2A28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F132DA4-CD4E-4F8A-8674-0C9B6B69ABC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159678-7942-44FF-A172-1657265157C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B9FC42-8991-423E-A58C-FCB02B2D2F5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512981-7ED1-4A75-A10F-470943030DD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1B7DB6-FE41-4A75-AD0E-4B448276C89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D02323-F841-461B-88BB-3DB8F1C2113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7D6A17-44A0-4E56-818D-01A1136DFF8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Clique </a:t>
            </a: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para </a:t>
            </a: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editar </a:t>
            </a: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o </a:t>
            </a: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format</a:t>
            </a: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o do </a:t>
            </a: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texto </a:t>
            </a: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do </a:t>
            </a: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título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491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b="0" lang="pt-B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3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1.png"/><Relationship Id="rId3" Type="http://schemas.openxmlformats.org/officeDocument/2006/relationships/image" Target="../media/image11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1357200" y="2830680"/>
            <a:ext cx="6428880" cy="82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1a365d"/>
                </a:solidFill>
                <a:latin typeface="Noto Sans"/>
                <a:ea typeface="Noto Sans"/>
              </a:rPr>
              <a:t>Estruturas Condicionais (if, elif, else) em Python</a:t>
            </a:r>
            <a:endParaRPr b="0" lang="pt-BR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1357200" y="3879000"/>
            <a:ext cx="6428880" cy="41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2d3748"/>
                </a:solidFill>
                <a:latin typeface="Noto Sans"/>
                <a:ea typeface="Noto Sans"/>
              </a:rPr>
              <a:t>Aprenda a implementar decisões e diferentes fluxos de execução baseados em condições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360" y="4440960"/>
            <a:ext cx="9179640" cy="702720"/>
          </a:xfrm>
          <a:prstGeom prst="rect">
            <a:avLst/>
          </a:prstGeom>
          <a:ln w="0">
            <a:noFill/>
          </a:ln>
        </p:spPr>
      </p:pic>
      <p:pic>
        <p:nvPicPr>
          <p:cNvPr id="11" name="Image 7" descr="preencoded.png"/>
          <p:cNvPicPr/>
          <p:nvPr/>
        </p:nvPicPr>
        <p:blipFill>
          <a:blip r:embed="rId2"/>
          <a:stretch/>
        </p:blipFill>
        <p:spPr>
          <a:xfrm>
            <a:off x="1277280" y="360000"/>
            <a:ext cx="2142720" cy="2142720"/>
          </a:xfrm>
          <a:prstGeom prst="rect">
            <a:avLst/>
          </a:prstGeom>
          <a:ln w="0">
            <a:noFill/>
          </a:ln>
        </p:spPr>
      </p:pic>
      <p:sp>
        <p:nvSpPr>
          <p:cNvPr id="12" name=""/>
          <p:cNvSpPr/>
          <p:nvPr/>
        </p:nvSpPr>
        <p:spPr>
          <a:xfrm>
            <a:off x="6983640" y="13680"/>
            <a:ext cx="2159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1600" spc="-1" strike="noStrike">
                <a:ln>
                  <a:solidFill>
                    <a:srgbClr val="000000"/>
                  </a:solidFill>
                </a:ln>
                <a:solidFill>
                  <a:srgbClr val="ffffff"/>
                </a:solidFill>
                <a:latin typeface="Arial"/>
              </a:rPr>
              <a:t>Prof. Liojes Carneiro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3443760" y="0"/>
            <a:ext cx="225648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Objetivos da Aula</a:t>
            </a:r>
            <a:endParaRPr b="0" lang="pt-BR" sz="202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" name="Image 1" descr="preencoded.png"/>
          <p:cNvPicPr/>
          <p:nvPr/>
        </p:nvPicPr>
        <p:blipFill>
          <a:blip r:embed="rId1"/>
          <a:stretch/>
        </p:blipFill>
        <p:spPr>
          <a:xfrm>
            <a:off x="285840" y="1107360"/>
            <a:ext cx="171000" cy="171000"/>
          </a:xfrm>
          <a:prstGeom prst="rect">
            <a:avLst/>
          </a:prstGeom>
          <a:ln w="0">
            <a:noFill/>
          </a:ln>
        </p:spPr>
      </p:pic>
      <p:sp>
        <p:nvSpPr>
          <p:cNvPr id="15" name="Text 1"/>
          <p:cNvSpPr/>
          <p:nvPr/>
        </p:nvSpPr>
        <p:spPr>
          <a:xfrm>
            <a:off x="564480" y="1003680"/>
            <a:ext cx="38642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40" spc="-1" strike="noStrike">
                <a:solidFill>
                  <a:srgbClr val="000000"/>
                </a:solidFill>
                <a:latin typeface="Noto Sans"/>
                <a:ea typeface="Noto Sans"/>
              </a:rPr>
              <a:t>Compreender o conceito de estruturas condicionais e sua importância na programação</a:t>
            </a:r>
            <a:endParaRPr b="0" lang="pt-BR" sz="124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" name="Image 2" descr="preencoded.png"/>
          <p:cNvPicPr/>
          <p:nvPr/>
        </p:nvPicPr>
        <p:blipFill>
          <a:blip r:embed="rId2"/>
          <a:stretch/>
        </p:blipFill>
        <p:spPr>
          <a:xfrm>
            <a:off x="285840" y="1639440"/>
            <a:ext cx="171000" cy="171000"/>
          </a:xfrm>
          <a:prstGeom prst="rect">
            <a:avLst/>
          </a:prstGeom>
          <a:ln w="0">
            <a:noFill/>
          </a:ln>
        </p:spPr>
      </p:pic>
      <p:sp>
        <p:nvSpPr>
          <p:cNvPr id="17" name="Text 2"/>
          <p:cNvSpPr/>
          <p:nvPr/>
        </p:nvSpPr>
        <p:spPr>
          <a:xfrm>
            <a:off x="565920" y="1630440"/>
            <a:ext cx="355500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40" spc="-1" strike="noStrike">
                <a:solidFill>
                  <a:srgbClr val="000000"/>
                </a:solidFill>
                <a:latin typeface="Noto Sans"/>
                <a:ea typeface="Noto Sans"/>
              </a:rPr>
              <a:t>Aprender a sintaxe e o uso da estrutura básica if</a:t>
            </a:r>
            <a:endParaRPr b="0" lang="pt-BR" sz="124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" name="Image 3" descr="preencoded.png"/>
          <p:cNvPicPr/>
          <p:nvPr/>
        </p:nvPicPr>
        <p:blipFill>
          <a:blip r:embed="rId3"/>
          <a:stretch/>
        </p:blipFill>
        <p:spPr>
          <a:xfrm>
            <a:off x="285840" y="2171880"/>
            <a:ext cx="171000" cy="171000"/>
          </a:xfrm>
          <a:prstGeom prst="rect">
            <a:avLst/>
          </a:prstGeom>
          <a:ln w="0">
            <a:noFill/>
          </a:ln>
        </p:spPr>
      </p:pic>
      <p:sp>
        <p:nvSpPr>
          <p:cNvPr id="19" name="Text 3"/>
          <p:cNvSpPr/>
          <p:nvPr/>
        </p:nvSpPr>
        <p:spPr>
          <a:xfrm>
            <a:off x="564480" y="2068200"/>
            <a:ext cx="38642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40" spc="-1" strike="noStrike">
                <a:solidFill>
                  <a:srgbClr val="000000"/>
                </a:solidFill>
                <a:latin typeface="Noto Sans"/>
                <a:ea typeface="Noto Sans"/>
              </a:rPr>
              <a:t>Dominar a estrutura if-else para criar fluxos alternativos</a:t>
            </a:r>
            <a:endParaRPr b="0" lang="pt-BR" sz="124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" name="Image 4" descr="preencoded.png"/>
          <p:cNvPicPr/>
          <p:nvPr/>
        </p:nvPicPr>
        <p:blipFill>
          <a:blip r:embed="rId4"/>
          <a:stretch/>
        </p:blipFill>
        <p:spPr>
          <a:xfrm>
            <a:off x="285840" y="2821680"/>
            <a:ext cx="171000" cy="171000"/>
          </a:xfrm>
          <a:prstGeom prst="rect">
            <a:avLst/>
          </a:prstGeom>
          <a:ln w="0">
            <a:noFill/>
          </a:ln>
        </p:spPr>
      </p:pic>
      <p:sp>
        <p:nvSpPr>
          <p:cNvPr id="21" name="Text 4"/>
          <p:cNvSpPr/>
          <p:nvPr/>
        </p:nvSpPr>
        <p:spPr>
          <a:xfrm>
            <a:off x="564480" y="2718360"/>
            <a:ext cx="38642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40" spc="-1" strike="noStrike">
                <a:solidFill>
                  <a:srgbClr val="000000"/>
                </a:solidFill>
                <a:latin typeface="Noto Sans"/>
                <a:ea typeface="Noto Sans"/>
              </a:rPr>
              <a:t>Implementar estruturas if-elif-else para múltiplas condições</a:t>
            </a:r>
            <a:endParaRPr b="0" lang="pt-BR" sz="124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" name="Image 5" descr="preencoded.png"/>
          <p:cNvPicPr/>
          <p:nvPr/>
        </p:nvPicPr>
        <p:blipFill>
          <a:blip r:embed="rId5"/>
          <a:stretch/>
        </p:blipFill>
        <p:spPr>
          <a:xfrm>
            <a:off x="285840" y="3471840"/>
            <a:ext cx="171000" cy="171000"/>
          </a:xfrm>
          <a:prstGeom prst="rect">
            <a:avLst/>
          </a:prstGeom>
          <a:ln w="0">
            <a:noFill/>
          </a:ln>
        </p:spPr>
      </p:pic>
      <p:sp>
        <p:nvSpPr>
          <p:cNvPr id="23" name="Text 5"/>
          <p:cNvSpPr/>
          <p:nvPr/>
        </p:nvSpPr>
        <p:spPr>
          <a:xfrm>
            <a:off x="564480" y="3368160"/>
            <a:ext cx="386424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40" spc="-1" strike="noStrike">
                <a:solidFill>
                  <a:srgbClr val="000000"/>
                </a:solidFill>
                <a:latin typeface="Noto Sans"/>
                <a:ea typeface="Noto Sans"/>
              </a:rPr>
              <a:t>Conhecer e aplicar boas práticas na escrita de condicionais</a:t>
            </a:r>
            <a:endParaRPr b="0" lang="pt-BR" sz="124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" name="Image 6" descr="preencoded.png"/>
          <p:cNvPicPr/>
          <p:nvPr/>
        </p:nvPicPr>
        <p:blipFill>
          <a:blip r:embed="rId6"/>
          <a:stretch/>
        </p:blipFill>
        <p:spPr>
          <a:xfrm>
            <a:off x="5357880" y="1750320"/>
            <a:ext cx="2857320" cy="1428480"/>
          </a:xfrm>
          <a:prstGeom prst="rect">
            <a:avLst/>
          </a:prstGeom>
          <a:ln w="0">
            <a:noFill/>
          </a:ln>
        </p:spPr>
      </p:pic>
      <p:pic>
        <p:nvPicPr>
          <p:cNvPr id="25" name="" descr=""/>
          <p:cNvPicPr/>
          <p:nvPr/>
        </p:nvPicPr>
        <p:blipFill>
          <a:blip r:embed="rId7"/>
          <a:stretch/>
        </p:blipFill>
        <p:spPr>
          <a:xfrm>
            <a:off x="720" y="4440960"/>
            <a:ext cx="9179640" cy="70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2122200" y="0"/>
            <a:ext cx="489924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Introdução às Estruturas Condicionais</a:t>
            </a:r>
            <a:endParaRPr b="0" lang="pt-BR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864000" y="550440"/>
            <a:ext cx="29865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a365d"/>
                </a:solidFill>
                <a:latin typeface="Noto Sans"/>
                <a:ea typeface="Noto Sans"/>
              </a:rPr>
              <a:t>O que são Estruturas Condicionais?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2"/>
          <p:cNvSpPr/>
          <p:nvPr/>
        </p:nvSpPr>
        <p:spPr>
          <a:xfrm>
            <a:off x="395640" y="915480"/>
            <a:ext cx="37774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Estruturas condicionais são blocos de código que permitem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3"/>
          <p:cNvSpPr/>
          <p:nvPr/>
        </p:nvSpPr>
        <p:spPr>
          <a:xfrm>
            <a:off x="334080" y="1129680"/>
            <a:ext cx="12600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ao programa tomar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4"/>
          <p:cNvSpPr/>
          <p:nvPr/>
        </p:nvSpPr>
        <p:spPr>
          <a:xfrm>
            <a:off x="1664640" y="1129680"/>
            <a:ext cx="5634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299e1"/>
                </a:solidFill>
                <a:latin typeface="Noto Sans"/>
                <a:ea typeface="Noto Sans"/>
              </a:rPr>
              <a:t>decisões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5"/>
          <p:cNvSpPr/>
          <p:nvPr/>
        </p:nvSpPr>
        <p:spPr>
          <a:xfrm>
            <a:off x="2300040" y="1129680"/>
            <a:ext cx="17704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e executar diferentes ações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6"/>
          <p:cNvSpPr/>
          <p:nvPr/>
        </p:nvSpPr>
        <p:spPr>
          <a:xfrm>
            <a:off x="318600" y="1344240"/>
            <a:ext cx="8650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com base em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Text 7"/>
          <p:cNvSpPr/>
          <p:nvPr/>
        </p:nvSpPr>
        <p:spPr>
          <a:xfrm>
            <a:off x="1271520" y="1344240"/>
            <a:ext cx="14122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299e1"/>
                </a:solidFill>
                <a:latin typeface="Noto Sans"/>
                <a:ea typeface="Noto Sans"/>
              </a:rPr>
              <a:t>condições específicas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8"/>
          <p:cNvSpPr/>
          <p:nvPr/>
        </p:nvSpPr>
        <p:spPr>
          <a:xfrm>
            <a:off x="2723040" y="1344240"/>
            <a:ext cx="684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.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9"/>
          <p:cNvSpPr/>
          <p:nvPr/>
        </p:nvSpPr>
        <p:spPr>
          <a:xfrm>
            <a:off x="1266840" y="1700640"/>
            <a:ext cx="218052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a365d"/>
                </a:solidFill>
                <a:latin typeface="Noto Sans"/>
                <a:ea typeface="Noto Sans"/>
              </a:rPr>
              <a:t>Por que são importantes?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337680" y="2065680"/>
            <a:ext cx="18010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 • </a:t>
            </a: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Permitem criar programas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2216160" y="2065680"/>
            <a:ext cx="6793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299e1"/>
                </a:solidFill>
                <a:latin typeface="Noto Sans"/>
                <a:ea typeface="Noto Sans"/>
              </a:rPr>
              <a:t>dinâmicos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2948760" y="2065680"/>
            <a:ext cx="11638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que respondem a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334440" y="2279880"/>
            <a:ext cx="12492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diferentes situações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330480" y="2494080"/>
            <a:ext cx="16225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 • </a:t>
            </a: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Possibilitam controlar o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2043360" y="2494080"/>
            <a:ext cx="11808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299e1"/>
                </a:solidFill>
                <a:latin typeface="Noto Sans"/>
                <a:ea typeface="Noto Sans"/>
              </a:rPr>
              <a:t>fluxo de execução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3303000" y="2494080"/>
            <a:ext cx="8499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do programa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362160" y="2708640"/>
            <a:ext cx="24379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 • </a:t>
            </a: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São fundamentais para implementar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2891520" y="2708640"/>
            <a:ext cx="3956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299e1"/>
                </a:solidFill>
                <a:latin typeface="Noto Sans"/>
                <a:ea typeface="Noto Sans"/>
              </a:rPr>
              <a:t>lógica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3308400" y="2708640"/>
            <a:ext cx="1429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e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3463920" y="2708640"/>
            <a:ext cx="6548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299e1"/>
                </a:solidFill>
                <a:latin typeface="Noto Sans"/>
                <a:ea typeface="Noto Sans"/>
              </a:rPr>
              <a:t>regras de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305640" y="2922840"/>
            <a:ext cx="5223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299e1"/>
                </a:solidFill>
                <a:latin typeface="Noto Sans"/>
                <a:ea typeface="Noto Sans"/>
              </a:rPr>
              <a:t>negócio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22"/>
          <p:cNvSpPr/>
          <p:nvPr/>
        </p:nvSpPr>
        <p:spPr>
          <a:xfrm>
            <a:off x="285840" y="3254040"/>
            <a:ext cx="4142880" cy="98532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23"/>
          <p:cNvSpPr/>
          <p:nvPr/>
        </p:nvSpPr>
        <p:spPr>
          <a:xfrm>
            <a:off x="285840" y="3254040"/>
            <a:ext cx="28080" cy="985320"/>
          </a:xfrm>
          <a:prstGeom prst="rect">
            <a:avLst/>
          </a:prstGeom>
          <a:solidFill>
            <a:srgbClr val="4299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Text 24"/>
          <p:cNvSpPr/>
          <p:nvPr/>
        </p:nvSpPr>
        <p:spPr>
          <a:xfrm>
            <a:off x="415440" y="3385440"/>
            <a:ext cx="55872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Analogia: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25"/>
          <p:cNvSpPr/>
          <p:nvPr/>
        </p:nvSpPr>
        <p:spPr>
          <a:xfrm>
            <a:off x="1082520" y="3385440"/>
            <a:ext cx="249912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As estruturas condicionais funcionam como 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26"/>
          <p:cNvSpPr/>
          <p:nvPr/>
        </p:nvSpPr>
        <p:spPr>
          <a:xfrm>
            <a:off x="506520" y="3578400"/>
            <a:ext cx="320436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"bifurcações" em uma estrada. Dependendo da condição 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7"/>
          <p:cNvSpPr/>
          <p:nvPr/>
        </p:nvSpPr>
        <p:spPr>
          <a:xfrm>
            <a:off x="522000" y="3771000"/>
            <a:ext cx="357804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(sinalização), o motorista (programa) segue por um caminho ou 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28"/>
          <p:cNvSpPr/>
          <p:nvPr/>
        </p:nvSpPr>
        <p:spPr>
          <a:xfrm>
            <a:off x="391680" y="3963960"/>
            <a:ext cx="36828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outro. 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" name="Image 1" descr="preencoded.png"/>
          <p:cNvPicPr/>
          <p:nvPr/>
        </p:nvPicPr>
        <p:blipFill>
          <a:blip r:embed="rId1"/>
          <a:stretch/>
        </p:blipFill>
        <p:spPr>
          <a:xfrm>
            <a:off x="5754240" y="964800"/>
            <a:ext cx="2063880" cy="3214440"/>
          </a:xfrm>
          <a:prstGeom prst="rect">
            <a:avLst/>
          </a:prstGeom>
          <a:ln w="0">
            <a:noFill/>
          </a:ln>
        </p:spPr>
      </p:pic>
      <p:pic>
        <p:nvPicPr>
          <p:cNvPr id="56" name="" descr=""/>
          <p:cNvPicPr/>
          <p:nvPr/>
        </p:nvPicPr>
        <p:blipFill>
          <a:blip r:embed="rId2"/>
          <a:stretch/>
        </p:blipFill>
        <p:spPr>
          <a:xfrm>
            <a:off x="1080" y="4440960"/>
            <a:ext cx="9179640" cy="70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3394800" y="0"/>
            <a:ext cx="235404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Estrutura Básica if</a:t>
            </a:r>
            <a:endParaRPr b="0" lang="pt-BR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1848960" y="775440"/>
            <a:ext cx="10526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a365d"/>
                </a:solidFill>
                <a:latin typeface="Noto Sans"/>
                <a:ea typeface="Noto Sans"/>
              </a:rPr>
              <a:t>Sintaxe do if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297360" y="1097640"/>
            <a:ext cx="7660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A estrutura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1078200" y="1097640"/>
            <a:ext cx="925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299e1"/>
                </a:solidFill>
                <a:latin typeface="Noto Sans"/>
                <a:ea typeface="Noto Sans"/>
              </a:rPr>
              <a:t>if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1256040" y="1097640"/>
            <a:ext cx="25779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executa um bloco de código apenas se a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347760" y="1297440"/>
            <a:ext cx="161028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condição especificada for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2031480" y="1297440"/>
            <a:ext cx="2966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299e1"/>
                </a:solidFill>
                <a:latin typeface="Noto Sans"/>
                <a:ea typeface="Noto Sans"/>
              </a:rPr>
              <a:t>True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2324520" y="1297440"/>
            <a:ext cx="684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000000"/>
                </a:solidFill>
                <a:latin typeface="Noto Sans"/>
                <a:ea typeface="Noto Sans"/>
              </a:rPr>
              <a:t>.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8"/>
          <p:cNvSpPr/>
          <p:nvPr/>
        </p:nvSpPr>
        <p:spPr>
          <a:xfrm>
            <a:off x="285840" y="1550160"/>
            <a:ext cx="4178880" cy="81108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9"/>
          <p:cNvSpPr/>
          <p:nvPr/>
        </p:nvSpPr>
        <p:spPr>
          <a:xfrm>
            <a:off x="386280" y="1650960"/>
            <a:ext cx="83160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# Sintaxe básica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378000" y="1811160"/>
            <a:ext cx="5983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if condição: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408960" y="1971000"/>
            <a:ext cx="14626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# Bloco de código indentado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402480" y="2131200"/>
            <a:ext cx="17125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# executado se condição for True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1688040" y="2494080"/>
            <a:ext cx="137412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a365d"/>
                </a:solidFill>
                <a:latin typeface="Noto Sans"/>
                <a:ea typeface="Noto Sans"/>
              </a:rPr>
              <a:t>Exemplo Prático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14"/>
          <p:cNvSpPr/>
          <p:nvPr/>
        </p:nvSpPr>
        <p:spPr>
          <a:xfrm>
            <a:off x="285840" y="2797560"/>
            <a:ext cx="4178880" cy="81108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15"/>
          <p:cNvSpPr/>
          <p:nvPr/>
        </p:nvSpPr>
        <p:spPr>
          <a:xfrm>
            <a:off x="375840" y="2898360"/>
            <a:ext cx="545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idade = 18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16"/>
          <p:cNvSpPr/>
          <p:nvPr/>
        </p:nvSpPr>
        <p:spPr>
          <a:xfrm>
            <a:off x="382320" y="3218400"/>
            <a:ext cx="7264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if idade &gt;= 18: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7"/>
          <p:cNvSpPr/>
          <p:nvPr/>
        </p:nvSpPr>
        <p:spPr>
          <a:xfrm>
            <a:off x="398520" y="3378240"/>
            <a:ext cx="158760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print("Você é maior de idade.")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Shape 18"/>
          <p:cNvSpPr/>
          <p:nvPr/>
        </p:nvSpPr>
        <p:spPr>
          <a:xfrm>
            <a:off x="285840" y="3716280"/>
            <a:ext cx="4178880" cy="485280"/>
          </a:xfrm>
          <a:prstGeom prst="rect">
            <a:avLst/>
          </a:prstGeom>
          <a:solidFill>
            <a:srgbClr val="eb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19"/>
          <p:cNvSpPr/>
          <p:nvPr/>
        </p:nvSpPr>
        <p:spPr>
          <a:xfrm>
            <a:off x="285840" y="3716280"/>
            <a:ext cx="28080" cy="485280"/>
          </a:xfrm>
          <a:prstGeom prst="rect">
            <a:avLst/>
          </a:prstGeom>
          <a:solidFill>
            <a:srgbClr val="4299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 20"/>
          <p:cNvSpPr/>
          <p:nvPr/>
        </p:nvSpPr>
        <p:spPr>
          <a:xfrm>
            <a:off x="380160" y="3808080"/>
            <a:ext cx="6487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Importante: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21"/>
          <p:cNvSpPr/>
          <p:nvPr/>
        </p:nvSpPr>
        <p:spPr>
          <a:xfrm>
            <a:off x="1136160" y="3808080"/>
            <a:ext cx="27763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Em Python, a indentação define o bloco de código que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22"/>
          <p:cNvSpPr/>
          <p:nvPr/>
        </p:nvSpPr>
        <p:spPr>
          <a:xfrm>
            <a:off x="424080" y="3979440"/>
            <a:ext cx="22917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pertence ao if. Use 4 espaços para cada nível.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Image 1" descr="preencoded.png"/>
          <p:cNvPicPr/>
          <p:nvPr/>
        </p:nvPicPr>
        <p:blipFill>
          <a:blip r:embed="rId1"/>
          <a:stretch/>
        </p:blipFill>
        <p:spPr>
          <a:xfrm>
            <a:off x="5339880" y="2036880"/>
            <a:ext cx="2857320" cy="1597680"/>
          </a:xfrm>
          <a:prstGeom prst="rect">
            <a:avLst/>
          </a:prstGeom>
          <a:ln w="0">
            <a:noFill/>
          </a:ln>
        </p:spPr>
      </p:pic>
      <p:pic>
        <p:nvPicPr>
          <p:cNvPr id="81" name="" descr=""/>
          <p:cNvPicPr/>
          <p:nvPr/>
        </p:nvPicPr>
        <p:blipFill>
          <a:blip r:embed="rId2"/>
          <a:stretch/>
        </p:blipFill>
        <p:spPr>
          <a:xfrm>
            <a:off x="1440" y="4440960"/>
            <a:ext cx="9179640" cy="70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3097800" y="0"/>
            <a:ext cx="294840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Estrutura Básica if-else</a:t>
            </a:r>
            <a:endParaRPr b="0" lang="pt-BR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2059200" y="479160"/>
            <a:ext cx="6321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a365d"/>
                </a:solidFill>
                <a:latin typeface="Noto Sans"/>
                <a:ea typeface="Noto Sans"/>
              </a:rPr>
              <a:t>Sintaxe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2"/>
          <p:cNvSpPr/>
          <p:nvPr/>
        </p:nvSpPr>
        <p:spPr>
          <a:xfrm>
            <a:off x="285840" y="818280"/>
            <a:ext cx="4178880" cy="137124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3"/>
          <p:cNvSpPr/>
          <p:nvPr/>
        </p:nvSpPr>
        <p:spPr>
          <a:xfrm>
            <a:off x="403200" y="949320"/>
            <a:ext cx="66708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if condição: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4"/>
          <p:cNvSpPr/>
          <p:nvPr/>
        </p:nvSpPr>
        <p:spPr>
          <a:xfrm>
            <a:off x="469440" y="1142280"/>
            <a:ext cx="228096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# bloco de código se a condição for True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5"/>
          <p:cNvSpPr/>
          <p:nvPr/>
        </p:nvSpPr>
        <p:spPr>
          <a:xfrm>
            <a:off x="473760" y="1335240"/>
            <a:ext cx="239076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# executa quando a condição é verdadeira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388080" y="1527840"/>
            <a:ext cx="28332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else: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7"/>
          <p:cNvSpPr/>
          <p:nvPr/>
        </p:nvSpPr>
        <p:spPr>
          <a:xfrm>
            <a:off x="470520" y="1720800"/>
            <a:ext cx="231480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# bloco de código se a condição for False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8"/>
          <p:cNvSpPr/>
          <p:nvPr/>
        </p:nvSpPr>
        <p:spPr>
          <a:xfrm>
            <a:off x="443880" y="1913760"/>
            <a:ext cx="208620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# executa quando a condição é falsa 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9"/>
          <p:cNvSpPr/>
          <p:nvPr/>
        </p:nvSpPr>
        <p:spPr>
          <a:xfrm>
            <a:off x="2012760" y="2358000"/>
            <a:ext cx="7250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a365d"/>
                </a:solidFill>
                <a:latin typeface="Noto Sans"/>
                <a:ea typeface="Noto Sans"/>
              </a:rPr>
              <a:t>Exemplo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0"/>
          <p:cNvSpPr/>
          <p:nvPr/>
        </p:nvSpPr>
        <p:spPr>
          <a:xfrm>
            <a:off x="285840" y="2697120"/>
            <a:ext cx="4178880" cy="137124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11"/>
          <p:cNvSpPr/>
          <p:nvPr/>
        </p:nvSpPr>
        <p:spPr>
          <a:xfrm>
            <a:off x="406080" y="2828160"/>
            <a:ext cx="74052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numero = 10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12"/>
          <p:cNvSpPr/>
          <p:nvPr/>
        </p:nvSpPr>
        <p:spPr>
          <a:xfrm>
            <a:off x="408240" y="3214080"/>
            <a:ext cx="80748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if numero &gt; 0: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3"/>
          <p:cNvSpPr/>
          <p:nvPr/>
        </p:nvSpPr>
        <p:spPr>
          <a:xfrm>
            <a:off x="440640" y="3406680"/>
            <a:ext cx="160308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print("O número é positivo")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4"/>
          <p:cNvSpPr/>
          <p:nvPr/>
        </p:nvSpPr>
        <p:spPr>
          <a:xfrm>
            <a:off x="388080" y="3599640"/>
            <a:ext cx="28332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else: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5"/>
          <p:cNvSpPr/>
          <p:nvPr/>
        </p:nvSpPr>
        <p:spPr>
          <a:xfrm>
            <a:off x="445680" y="3792600"/>
            <a:ext cx="213012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e2e8f0"/>
                </a:solidFill>
                <a:latin typeface="Noto Sans"/>
                <a:ea typeface="Noto Sans"/>
              </a:rPr>
              <a:t>print("O número é zero ou negativo") 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16"/>
          <p:cNvSpPr/>
          <p:nvPr/>
        </p:nvSpPr>
        <p:spPr>
          <a:xfrm>
            <a:off x="4821120" y="3348000"/>
            <a:ext cx="4178880" cy="721080"/>
          </a:xfrm>
          <a:prstGeom prst="rect">
            <a:avLst/>
          </a:prstGeom>
          <a:solidFill>
            <a:srgbClr val="eb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17"/>
          <p:cNvSpPr/>
          <p:nvPr/>
        </p:nvSpPr>
        <p:spPr>
          <a:xfrm>
            <a:off x="4821120" y="3348000"/>
            <a:ext cx="28080" cy="721080"/>
          </a:xfrm>
          <a:prstGeom prst="rect">
            <a:avLst/>
          </a:prstGeom>
          <a:solidFill>
            <a:srgbClr val="4299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18"/>
          <p:cNvSpPr/>
          <p:nvPr/>
        </p:nvSpPr>
        <p:spPr>
          <a:xfrm>
            <a:off x="4956840" y="3443760"/>
            <a:ext cx="72360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Importante: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9"/>
          <p:cNvSpPr/>
          <p:nvPr/>
        </p:nvSpPr>
        <p:spPr>
          <a:xfrm>
            <a:off x="5737680" y="3443760"/>
            <a:ext cx="68868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A estrutura 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20"/>
          <p:cNvSpPr/>
          <p:nvPr/>
        </p:nvSpPr>
        <p:spPr>
          <a:xfrm>
            <a:off x="6468840" y="3443760"/>
            <a:ext cx="35604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9" spc="-1" strike="noStrike">
                <a:solidFill>
                  <a:srgbClr val="4299e1"/>
                </a:solidFill>
                <a:latin typeface="Noto Sans"/>
                <a:ea typeface="Noto Sans"/>
              </a:rPr>
              <a:t>if-else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21"/>
          <p:cNvSpPr/>
          <p:nvPr/>
        </p:nvSpPr>
        <p:spPr>
          <a:xfrm>
            <a:off x="6888960" y="3443760"/>
            <a:ext cx="162288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permite criar dois caminhos 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22"/>
          <p:cNvSpPr/>
          <p:nvPr/>
        </p:nvSpPr>
        <p:spPr>
          <a:xfrm>
            <a:off x="5026320" y="3636360"/>
            <a:ext cx="241200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alternativos de execução. Se a condição do 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23"/>
          <p:cNvSpPr/>
          <p:nvPr/>
        </p:nvSpPr>
        <p:spPr>
          <a:xfrm>
            <a:off x="7540560" y="3636360"/>
            <a:ext cx="8172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9" spc="-1" strike="noStrike">
                <a:solidFill>
                  <a:srgbClr val="4299e1"/>
                </a:solidFill>
                <a:latin typeface="Noto Sans"/>
                <a:ea typeface="Noto Sans"/>
              </a:rPr>
              <a:t>if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24"/>
          <p:cNvSpPr/>
          <p:nvPr/>
        </p:nvSpPr>
        <p:spPr>
          <a:xfrm>
            <a:off x="7655400" y="3636360"/>
            <a:ext cx="113508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não for satisfeita, o 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25"/>
          <p:cNvSpPr/>
          <p:nvPr/>
        </p:nvSpPr>
        <p:spPr>
          <a:xfrm>
            <a:off x="4941000" y="3829320"/>
            <a:ext cx="33624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bloco 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26"/>
          <p:cNvSpPr/>
          <p:nvPr/>
        </p:nvSpPr>
        <p:spPr>
          <a:xfrm>
            <a:off x="5300640" y="3829320"/>
            <a:ext cx="23580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9" spc="-1" strike="noStrike">
                <a:solidFill>
                  <a:srgbClr val="4299e1"/>
                </a:solidFill>
                <a:latin typeface="Noto Sans"/>
                <a:ea typeface="Noto Sans"/>
              </a:rPr>
              <a:t>else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27"/>
          <p:cNvSpPr/>
          <p:nvPr/>
        </p:nvSpPr>
        <p:spPr>
          <a:xfrm>
            <a:off x="5567760" y="3829320"/>
            <a:ext cx="93996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será executado. 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Image 1" descr="preencoded.png"/>
          <p:cNvPicPr/>
          <p:nvPr/>
        </p:nvPicPr>
        <p:blipFill>
          <a:blip r:embed="rId1"/>
          <a:stretch/>
        </p:blipFill>
        <p:spPr>
          <a:xfrm>
            <a:off x="5161320" y="1127160"/>
            <a:ext cx="3214440" cy="1809720"/>
          </a:xfrm>
          <a:prstGeom prst="rect">
            <a:avLst/>
          </a:prstGeom>
          <a:ln w="0">
            <a:noFill/>
          </a:ln>
        </p:spPr>
      </p:pic>
      <p:pic>
        <p:nvPicPr>
          <p:cNvPr id="111" name="" descr=""/>
          <p:cNvPicPr/>
          <p:nvPr/>
        </p:nvPicPr>
        <p:blipFill>
          <a:blip r:embed="rId2"/>
          <a:stretch/>
        </p:blipFill>
        <p:spPr>
          <a:xfrm>
            <a:off x="1800" y="4440960"/>
            <a:ext cx="9179640" cy="70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/>
          <p:nvPr/>
        </p:nvSpPr>
        <p:spPr>
          <a:xfrm>
            <a:off x="2852280" y="0"/>
            <a:ext cx="343908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Estrutura Básica if-elif-else</a:t>
            </a:r>
            <a:endParaRPr b="0" lang="pt-BR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2059200" y="587160"/>
            <a:ext cx="6321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a365d"/>
                </a:solidFill>
                <a:latin typeface="Noto Sans"/>
                <a:ea typeface="Noto Sans"/>
              </a:rPr>
              <a:t>Sintaxe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Shape 2"/>
          <p:cNvSpPr/>
          <p:nvPr/>
        </p:nvSpPr>
        <p:spPr>
          <a:xfrm>
            <a:off x="285840" y="926280"/>
            <a:ext cx="4178880" cy="197388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3"/>
          <p:cNvSpPr/>
          <p:nvPr/>
        </p:nvSpPr>
        <p:spPr>
          <a:xfrm>
            <a:off x="401400" y="1048320"/>
            <a:ext cx="6595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if condição1: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4"/>
          <p:cNvSpPr/>
          <p:nvPr/>
        </p:nvSpPr>
        <p:spPr>
          <a:xfrm>
            <a:off x="469080" y="1208520"/>
            <a:ext cx="25675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# bloco de código executado se condição1 for True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5"/>
          <p:cNvSpPr/>
          <p:nvPr/>
        </p:nvSpPr>
        <p:spPr>
          <a:xfrm>
            <a:off x="404280" y="1368360"/>
            <a:ext cx="7477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elif condição2: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6"/>
          <p:cNvSpPr/>
          <p:nvPr/>
        </p:nvSpPr>
        <p:spPr>
          <a:xfrm>
            <a:off x="470520" y="1528560"/>
            <a:ext cx="25963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# bloco de código executado se condição1 for False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7"/>
          <p:cNvSpPr/>
          <p:nvPr/>
        </p:nvSpPr>
        <p:spPr>
          <a:xfrm>
            <a:off x="418680" y="1688400"/>
            <a:ext cx="11487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# e condição2 for True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8"/>
          <p:cNvSpPr/>
          <p:nvPr/>
        </p:nvSpPr>
        <p:spPr>
          <a:xfrm>
            <a:off x="404280" y="1848600"/>
            <a:ext cx="7477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elif condição3: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9"/>
          <p:cNvSpPr/>
          <p:nvPr/>
        </p:nvSpPr>
        <p:spPr>
          <a:xfrm>
            <a:off x="476640" y="2008440"/>
            <a:ext cx="27687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# bloco de código executado se condição1 e condição2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10"/>
          <p:cNvSpPr/>
          <p:nvPr/>
        </p:nvSpPr>
        <p:spPr>
          <a:xfrm>
            <a:off x="440640" y="2168640"/>
            <a:ext cx="17611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# forem False e condição3 for True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1"/>
          <p:cNvSpPr/>
          <p:nvPr/>
        </p:nvSpPr>
        <p:spPr>
          <a:xfrm>
            <a:off x="387360" y="2328480"/>
            <a:ext cx="2541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else: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12"/>
          <p:cNvSpPr/>
          <p:nvPr/>
        </p:nvSpPr>
        <p:spPr>
          <a:xfrm>
            <a:off x="470160" y="2488320"/>
            <a:ext cx="25779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# bloco de código executado se todas as condições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13"/>
          <p:cNvSpPr/>
          <p:nvPr/>
        </p:nvSpPr>
        <p:spPr>
          <a:xfrm>
            <a:off x="408600" y="2648520"/>
            <a:ext cx="127800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# anteriores forem False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14"/>
          <p:cNvSpPr/>
          <p:nvPr/>
        </p:nvSpPr>
        <p:spPr>
          <a:xfrm>
            <a:off x="1741320" y="3033000"/>
            <a:ext cx="12675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1a365d"/>
                </a:solidFill>
                <a:latin typeface="Noto Sans"/>
                <a:ea typeface="Noto Sans"/>
              </a:rPr>
              <a:t>Características</a:t>
            </a:r>
            <a:endParaRPr b="0" lang="pt-B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5"/>
          <p:cNvSpPr/>
          <p:nvPr/>
        </p:nvSpPr>
        <p:spPr>
          <a:xfrm>
            <a:off x="274320" y="3396240"/>
            <a:ext cx="10476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 • 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16"/>
          <p:cNvSpPr/>
          <p:nvPr/>
        </p:nvSpPr>
        <p:spPr>
          <a:xfrm>
            <a:off x="375120" y="3396240"/>
            <a:ext cx="18864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9" spc="-1" strike="noStrike">
                <a:solidFill>
                  <a:srgbClr val="4299e1"/>
                </a:solidFill>
                <a:latin typeface="Noto Sans"/>
                <a:ea typeface="Noto Sans"/>
              </a:rPr>
              <a:t>elif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7"/>
          <p:cNvSpPr/>
          <p:nvPr/>
        </p:nvSpPr>
        <p:spPr>
          <a:xfrm>
            <a:off x="629280" y="3396240"/>
            <a:ext cx="140328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é a contração de "else if"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18"/>
          <p:cNvSpPr/>
          <p:nvPr/>
        </p:nvSpPr>
        <p:spPr>
          <a:xfrm>
            <a:off x="306360" y="3588840"/>
            <a:ext cx="90792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 • </a:t>
            </a: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Você pode ter 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19"/>
          <p:cNvSpPr/>
          <p:nvPr/>
        </p:nvSpPr>
        <p:spPr>
          <a:xfrm>
            <a:off x="1266840" y="3588840"/>
            <a:ext cx="78300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9" spc="-1" strike="noStrike">
                <a:solidFill>
                  <a:srgbClr val="4299e1"/>
                </a:solidFill>
                <a:latin typeface="Noto Sans"/>
                <a:ea typeface="Noto Sans"/>
              </a:rPr>
              <a:t>múltiplos elif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20"/>
          <p:cNvSpPr/>
          <p:nvPr/>
        </p:nvSpPr>
        <p:spPr>
          <a:xfrm>
            <a:off x="2114280" y="3588840"/>
            <a:ext cx="80604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em sequência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21"/>
          <p:cNvSpPr/>
          <p:nvPr/>
        </p:nvSpPr>
        <p:spPr>
          <a:xfrm>
            <a:off x="292320" y="3781800"/>
            <a:ext cx="56484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 • </a:t>
            </a: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O bloco 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 22"/>
          <p:cNvSpPr/>
          <p:nvPr/>
        </p:nvSpPr>
        <p:spPr>
          <a:xfrm>
            <a:off x="873720" y="3781800"/>
            <a:ext cx="23580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9" spc="-1" strike="noStrike">
                <a:solidFill>
                  <a:srgbClr val="4299e1"/>
                </a:solidFill>
                <a:latin typeface="Noto Sans"/>
                <a:ea typeface="Noto Sans"/>
              </a:rPr>
              <a:t>else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23"/>
          <p:cNvSpPr/>
          <p:nvPr/>
        </p:nvSpPr>
        <p:spPr>
          <a:xfrm>
            <a:off x="1143720" y="3781800"/>
            <a:ext cx="60480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é opcional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24"/>
          <p:cNvSpPr/>
          <p:nvPr/>
        </p:nvSpPr>
        <p:spPr>
          <a:xfrm>
            <a:off x="291960" y="3974760"/>
            <a:ext cx="54972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 • </a:t>
            </a: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Apenas 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25"/>
          <p:cNvSpPr/>
          <p:nvPr/>
        </p:nvSpPr>
        <p:spPr>
          <a:xfrm>
            <a:off x="870120" y="3974760"/>
            <a:ext cx="54504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9" spc="-1" strike="noStrike">
                <a:solidFill>
                  <a:srgbClr val="4299e1"/>
                </a:solidFill>
                <a:latin typeface="Noto Sans"/>
                <a:ea typeface="Noto Sans"/>
              </a:rPr>
              <a:t>um bloco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26"/>
          <p:cNvSpPr/>
          <p:nvPr/>
        </p:nvSpPr>
        <p:spPr>
          <a:xfrm>
            <a:off x="1536120" y="3974760"/>
            <a:ext cx="281916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será executado: o primeiro cuja condição for True 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27"/>
          <p:cNvSpPr/>
          <p:nvPr/>
        </p:nvSpPr>
        <p:spPr>
          <a:xfrm>
            <a:off x="4641120" y="3636000"/>
            <a:ext cx="4178880" cy="485280"/>
          </a:xfrm>
          <a:prstGeom prst="rect">
            <a:avLst/>
          </a:prstGeom>
          <a:solidFill>
            <a:srgbClr val="eb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28"/>
          <p:cNvSpPr/>
          <p:nvPr/>
        </p:nvSpPr>
        <p:spPr>
          <a:xfrm>
            <a:off x="4641120" y="3636000"/>
            <a:ext cx="28080" cy="485280"/>
          </a:xfrm>
          <a:prstGeom prst="rect">
            <a:avLst/>
          </a:prstGeom>
          <a:solidFill>
            <a:srgbClr val="4299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29"/>
          <p:cNvSpPr/>
          <p:nvPr/>
        </p:nvSpPr>
        <p:spPr>
          <a:xfrm>
            <a:off x="4756680" y="3727800"/>
            <a:ext cx="2617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Dica: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30"/>
          <p:cNvSpPr/>
          <p:nvPr/>
        </p:nvSpPr>
        <p:spPr>
          <a:xfrm>
            <a:off x="5122440" y="3727800"/>
            <a:ext cx="30535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Use if-elif-else quando precisar verificar múltiplas condições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31"/>
          <p:cNvSpPr/>
          <p:nvPr/>
        </p:nvSpPr>
        <p:spPr>
          <a:xfrm>
            <a:off x="4856040" y="3899160"/>
            <a:ext cx="34484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mutuamente exclusivas, onde apenas uma ação deve ser executada.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4" name="Image 1" descr="preencoded.png"/>
          <p:cNvPicPr/>
          <p:nvPr/>
        </p:nvPicPr>
        <p:blipFill>
          <a:blip r:embed="rId1"/>
          <a:stretch/>
        </p:blipFill>
        <p:spPr>
          <a:xfrm>
            <a:off x="5161320" y="880920"/>
            <a:ext cx="3214440" cy="2384280"/>
          </a:xfrm>
          <a:prstGeom prst="rect">
            <a:avLst/>
          </a:prstGeom>
          <a:ln w="0">
            <a:noFill/>
          </a:ln>
        </p:spPr>
      </p:pic>
      <p:pic>
        <p:nvPicPr>
          <p:cNvPr id="145" name="" descr=""/>
          <p:cNvPicPr/>
          <p:nvPr/>
        </p:nvPicPr>
        <p:blipFill>
          <a:blip r:embed="rId2"/>
          <a:stretch/>
        </p:blipFill>
        <p:spPr>
          <a:xfrm>
            <a:off x="2160" y="4440960"/>
            <a:ext cx="9179640" cy="70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 0"/>
          <p:cNvSpPr/>
          <p:nvPr/>
        </p:nvSpPr>
        <p:spPr>
          <a:xfrm>
            <a:off x="2216880" y="0"/>
            <a:ext cx="471024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Operadores Lógicos em Condicionais</a:t>
            </a:r>
            <a:endParaRPr b="0" lang="pt-BR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2271240" y="477360"/>
            <a:ext cx="104364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40" spc="-1" strike="noStrike">
                <a:solidFill>
                  <a:srgbClr val="1a365d"/>
                </a:solidFill>
                <a:latin typeface="Noto Sans"/>
                <a:ea typeface="Noto Sans"/>
              </a:rPr>
              <a:t>and (E lógico)</a:t>
            </a:r>
            <a:endParaRPr b="0" lang="pt-BR" sz="12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2"/>
          <p:cNvSpPr/>
          <p:nvPr/>
        </p:nvSpPr>
        <p:spPr>
          <a:xfrm>
            <a:off x="300600" y="735480"/>
            <a:ext cx="4276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Retorna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3"/>
          <p:cNvSpPr/>
          <p:nvPr/>
        </p:nvSpPr>
        <p:spPr>
          <a:xfrm>
            <a:off x="751320" y="735480"/>
            <a:ext cx="2386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4299e1"/>
                </a:solidFill>
                <a:latin typeface="Noto Sans"/>
                <a:ea typeface="Noto Sans"/>
              </a:rPr>
              <a:t>True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4"/>
          <p:cNvSpPr/>
          <p:nvPr/>
        </p:nvSpPr>
        <p:spPr>
          <a:xfrm>
            <a:off x="1003680" y="735480"/>
            <a:ext cx="167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se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5"/>
          <p:cNvSpPr/>
          <p:nvPr/>
        </p:nvSpPr>
        <p:spPr>
          <a:xfrm>
            <a:off x="1189440" y="735480"/>
            <a:ext cx="35460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ambas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6"/>
          <p:cNvSpPr/>
          <p:nvPr/>
        </p:nvSpPr>
        <p:spPr>
          <a:xfrm>
            <a:off x="1614960" y="735480"/>
            <a:ext cx="16437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as condições forem verdadeiras.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7"/>
          <p:cNvSpPr/>
          <p:nvPr/>
        </p:nvSpPr>
        <p:spPr>
          <a:xfrm>
            <a:off x="285840" y="910080"/>
            <a:ext cx="5014440" cy="89244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8"/>
          <p:cNvSpPr/>
          <p:nvPr/>
        </p:nvSpPr>
        <p:spPr>
          <a:xfrm>
            <a:off x="362520" y="1000080"/>
            <a:ext cx="473760" cy="11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idade = 25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9"/>
          <p:cNvSpPr/>
          <p:nvPr/>
        </p:nvSpPr>
        <p:spPr>
          <a:xfrm>
            <a:off x="377280" y="1150200"/>
            <a:ext cx="868320" cy="11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tem_carteira = True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0"/>
          <p:cNvSpPr/>
          <p:nvPr/>
        </p:nvSpPr>
        <p:spPr>
          <a:xfrm>
            <a:off x="397080" y="1450440"/>
            <a:ext cx="1395720" cy="11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if idade &gt;= 18 and tem_carteira: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1"/>
          <p:cNvSpPr/>
          <p:nvPr/>
        </p:nvSpPr>
        <p:spPr>
          <a:xfrm>
            <a:off x="365040" y="1600200"/>
            <a:ext cx="903600" cy="11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print("Pode dirigir") 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12"/>
          <p:cNvSpPr/>
          <p:nvPr/>
        </p:nvSpPr>
        <p:spPr>
          <a:xfrm>
            <a:off x="2257560" y="1824840"/>
            <a:ext cx="107100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40" spc="-1" strike="noStrike">
                <a:solidFill>
                  <a:srgbClr val="1a365d"/>
                </a:solidFill>
                <a:latin typeface="Noto Sans"/>
                <a:ea typeface="Noto Sans"/>
              </a:rPr>
              <a:t>or (OU lógico)</a:t>
            </a:r>
            <a:endParaRPr b="0" lang="pt-BR" sz="12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13"/>
          <p:cNvSpPr/>
          <p:nvPr/>
        </p:nvSpPr>
        <p:spPr>
          <a:xfrm>
            <a:off x="300600" y="2082960"/>
            <a:ext cx="4276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Retorna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14"/>
          <p:cNvSpPr/>
          <p:nvPr/>
        </p:nvSpPr>
        <p:spPr>
          <a:xfrm>
            <a:off x="751320" y="2082960"/>
            <a:ext cx="2386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4299e1"/>
                </a:solidFill>
                <a:latin typeface="Noto Sans"/>
                <a:ea typeface="Noto Sans"/>
              </a:rPr>
              <a:t>True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15"/>
          <p:cNvSpPr/>
          <p:nvPr/>
        </p:nvSpPr>
        <p:spPr>
          <a:xfrm>
            <a:off x="1003680" y="2082960"/>
            <a:ext cx="1670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se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16"/>
          <p:cNvSpPr/>
          <p:nvPr/>
        </p:nvSpPr>
        <p:spPr>
          <a:xfrm>
            <a:off x="1208520" y="2082960"/>
            <a:ext cx="8805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pelo menos uma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17"/>
          <p:cNvSpPr/>
          <p:nvPr/>
        </p:nvSpPr>
        <p:spPr>
          <a:xfrm>
            <a:off x="2173680" y="2082960"/>
            <a:ext cx="15004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das condições for verdadeira.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18"/>
          <p:cNvSpPr/>
          <p:nvPr/>
        </p:nvSpPr>
        <p:spPr>
          <a:xfrm>
            <a:off x="285840" y="2257560"/>
            <a:ext cx="5014440" cy="89244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19"/>
          <p:cNvSpPr/>
          <p:nvPr/>
        </p:nvSpPr>
        <p:spPr>
          <a:xfrm>
            <a:off x="378720" y="2347560"/>
            <a:ext cx="912600" cy="11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eh_estudante = True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20"/>
          <p:cNvSpPr/>
          <p:nvPr/>
        </p:nvSpPr>
        <p:spPr>
          <a:xfrm>
            <a:off x="371880" y="2497680"/>
            <a:ext cx="735840" cy="11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eh_idoso = False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21"/>
          <p:cNvSpPr/>
          <p:nvPr/>
        </p:nvSpPr>
        <p:spPr>
          <a:xfrm>
            <a:off x="392040" y="2797560"/>
            <a:ext cx="1252440" cy="11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if eh_estudante or eh_idoso: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22"/>
          <p:cNvSpPr/>
          <p:nvPr/>
        </p:nvSpPr>
        <p:spPr>
          <a:xfrm>
            <a:off x="383400" y="2947680"/>
            <a:ext cx="1386720" cy="11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print("Tem direito a desconto") 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23"/>
          <p:cNvSpPr/>
          <p:nvPr/>
        </p:nvSpPr>
        <p:spPr>
          <a:xfrm>
            <a:off x="2151000" y="3171960"/>
            <a:ext cx="128412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40" spc="-1" strike="noStrike">
                <a:solidFill>
                  <a:srgbClr val="1a365d"/>
                </a:solidFill>
                <a:latin typeface="Noto Sans"/>
                <a:ea typeface="Noto Sans"/>
              </a:rPr>
              <a:t>not (NÃO lógico)</a:t>
            </a:r>
            <a:endParaRPr b="0" lang="pt-BR" sz="12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24"/>
          <p:cNvSpPr/>
          <p:nvPr/>
        </p:nvSpPr>
        <p:spPr>
          <a:xfrm>
            <a:off x="359640" y="3430080"/>
            <a:ext cx="20721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Inverte o valor booleano, transformando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25"/>
          <p:cNvSpPr/>
          <p:nvPr/>
        </p:nvSpPr>
        <p:spPr>
          <a:xfrm>
            <a:off x="2513880" y="3430080"/>
            <a:ext cx="2386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4299e1"/>
                </a:solidFill>
                <a:latin typeface="Noto Sans"/>
                <a:ea typeface="Noto Sans"/>
              </a:rPr>
              <a:t>True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26"/>
          <p:cNvSpPr/>
          <p:nvPr/>
        </p:nvSpPr>
        <p:spPr>
          <a:xfrm>
            <a:off x="2768040" y="3430080"/>
            <a:ext cx="21600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em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27"/>
          <p:cNvSpPr/>
          <p:nvPr/>
        </p:nvSpPr>
        <p:spPr>
          <a:xfrm>
            <a:off x="3000600" y="3430080"/>
            <a:ext cx="2725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39" spc="-1" strike="noStrike">
                <a:solidFill>
                  <a:srgbClr val="4299e1"/>
                </a:solidFill>
                <a:latin typeface="Noto Sans"/>
                <a:ea typeface="Noto Sans"/>
              </a:rPr>
              <a:t>False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28"/>
          <p:cNvSpPr/>
          <p:nvPr/>
        </p:nvSpPr>
        <p:spPr>
          <a:xfrm>
            <a:off x="3305520" y="3430080"/>
            <a:ext cx="6411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e vice-versa.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29"/>
          <p:cNvSpPr/>
          <p:nvPr/>
        </p:nvSpPr>
        <p:spPr>
          <a:xfrm>
            <a:off x="285840" y="3604680"/>
            <a:ext cx="5014440" cy="74268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30"/>
          <p:cNvSpPr/>
          <p:nvPr/>
        </p:nvSpPr>
        <p:spPr>
          <a:xfrm>
            <a:off x="382320" y="3695040"/>
            <a:ext cx="996480" cy="11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esta_chovendo = False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31"/>
          <p:cNvSpPr/>
          <p:nvPr/>
        </p:nvSpPr>
        <p:spPr>
          <a:xfrm>
            <a:off x="380160" y="3994920"/>
            <a:ext cx="950760" cy="11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if not esta_chovendo: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32"/>
          <p:cNvSpPr/>
          <p:nvPr/>
        </p:nvSpPr>
        <p:spPr>
          <a:xfrm>
            <a:off x="375480" y="4145040"/>
            <a:ext cx="1153440" cy="11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print("Vamos ao parque") 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Image 1" descr="preencoded.png"/>
          <p:cNvPicPr/>
          <p:nvPr/>
        </p:nvPicPr>
        <p:blipFill>
          <a:blip r:embed="rId1"/>
          <a:stretch/>
        </p:blipFill>
        <p:spPr>
          <a:xfrm>
            <a:off x="5829480" y="1746360"/>
            <a:ext cx="2714400" cy="177624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2520" y="4440960"/>
            <a:ext cx="9179640" cy="70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/>
          <p:nvPr/>
        </p:nvSpPr>
        <p:spPr>
          <a:xfrm>
            <a:off x="2007360" y="0"/>
            <a:ext cx="512928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Boas Práticas na Escrita de Condicionais</a:t>
            </a:r>
            <a:endParaRPr b="0" lang="pt-BR" sz="202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Image 1" descr="preencoded.png"/>
          <p:cNvPicPr/>
          <p:nvPr/>
        </p:nvPicPr>
        <p:blipFill>
          <a:blip r:embed="rId1"/>
          <a:stretch/>
        </p:blipFill>
        <p:spPr>
          <a:xfrm>
            <a:off x="285840" y="533160"/>
            <a:ext cx="128160" cy="128160"/>
          </a:xfrm>
          <a:prstGeom prst="rect">
            <a:avLst/>
          </a:prstGeom>
          <a:ln w="0">
            <a:noFill/>
          </a:ln>
        </p:spPr>
      </p:pic>
      <p:sp>
        <p:nvSpPr>
          <p:cNvPr id="183" name="Text 1"/>
          <p:cNvSpPr/>
          <p:nvPr/>
        </p:nvSpPr>
        <p:spPr>
          <a:xfrm>
            <a:off x="540720" y="516960"/>
            <a:ext cx="23709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365d"/>
                </a:solidFill>
                <a:latin typeface="Noto Sans"/>
                <a:ea typeface="Noto Sans"/>
              </a:rPr>
              <a:t> </a:t>
            </a:r>
            <a:r>
              <a:rPr b="1" lang="en-US" sz="1050" spc="-1" strike="noStrike">
                <a:solidFill>
                  <a:srgbClr val="1a365d"/>
                </a:solidFill>
                <a:latin typeface="Noto Sans"/>
                <a:ea typeface="Noto Sans"/>
              </a:rPr>
              <a:t>Use nomes de variáveis descritivos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2"/>
          <p:cNvSpPr/>
          <p:nvPr/>
        </p:nvSpPr>
        <p:spPr>
          <a:xfrm>
            <a:off x="1207080" y="750600"/>
            <a:ext cx="338580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Escolha nomes que indiquem claramente o propósito da condição.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3"/>
          <p:cNvSpPr/>
          <p:nvPr/>
        </p:nvSpPr>
        <p:spPr>
          <a:xfrm>
            <a:off x="500040" y="924840"/>
            <a:ext cx="4800240" cy="26388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Shape 4"/>
          <p:cNvSpPr/>
          <p:nvPr/>
        </p:nvSpPr>
        <p:spPr>
          <a:xfrm>
            <a:off x="500040" y="924840"/>
            <a:ext cx="28080" cy="263880"/>
          </a:xfrm>
          <a:prstGeom prst="rect">
            <a:avLst/>
          </a:prstGeom>
          <a:solidFill>
            <a:srgbClr val="38a1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 5"/>
          <p:cNvSpPr/>
          <p:nvPr/>
        </p:nvSpPr>
        <p:spPr>
          <a:xfrm>
            <a:off x="500040" y="944640"/>
            <a:ext cx="480024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56520" bIns="565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if idade &gt;= 18: # Claro e descritivo 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8" name="Image 2" descr="preencoded.png"/>
          <p:cNvPicPr/>
          <p:nvPr/>
        </p:nvPicPr>
        <p:blipFill>
          <a:blip r:embed="rId2"/>
          <a:stretch/>
        </p:blipFill>
        <p:spPr>
          <a:xfrm>
            <a:off x="285840" y="1267920"/>
            <a:ext cx="128160" cy="128160"/>
          </a:xfrm>
          <a:prstGeom prst="rect">
            <a:avLst/>
          </a:prstGeom>
          <a:ln w="0">
            <a:noFill/>
          </a:ln>
        </p:spPr>
      </p:pic>
      <p:sp>
        <p:nvSpPr>
          <p:cNvPr id="189" name="Text 6"/>
          <p:cNvSpPr/>
          <p:nvPr/>
        </p:nvSpPr>
        <p:spPr>
          <a:xfrm>
            <a:off x="516960" y="1251720"/>
            <a:ext cx="17690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365d"/>
                </a:solidFill>
                <a:latin typeface="Noto Sans"/>
                <a:ea typeface="Noto Sans"/>
              </a:rPr>
              <a:t> </a:t>
            </a:r>
            <a:r>
              <a:rPr b="1" lang="en-US" sz="1050" spc="-1" strike="noStrike">
                <a:solidFill>
                  <a:srgbClr val="1a365d"/>
                </a:solidFill>
                <a:latin typeface="Noto Sans"/>
                <a:ea typeface="Noto Sans"/>
              </a:rPr>
              <a:t>Evite condições negativas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7"/>
          <p:cNvSpPr/>
          <p:nvPr/>
        </p:nvSpPr>
        <p:spPr>
          <a:xfrm>
            <a:off x="1661400" y="1485360"/>
            <a:ext cx="24775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Condições positivas são mais fáceis de entender.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8"/>
          <p:cNvSpPr/>
          <p:nvPr/>
        </p:nvSpPr>
        <p:spPr>
          <a:xfrm>
            <a:off x="500040" y="1659240"/>
            <a:ext cx="4800240" cy="26388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Shape 9"/>
          <p:cNvSpPr/>
          <p:nvPr/>
        </p:nvSpPr>
        <p:spPr>
          <a:xfrm>
            <a:off x="500040" y="1659240"/>
            <a:ext cx="28080" cy="263880"/>
          </a:xfrm>
          <a:prstGeom prst="rect">
            <a:avLst/>
          </a:prstGeom>
          <a:solidFill>
            <a:srgbClr val="38a1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10"/>
          <p:cNvSpPr/>
          <p:nvPr/>
        </p:nvSpPr>
        <p:spPr>
          <a:xfrm>
            <a:off x="500040" y="1679040"/>
            <a:ext cx="480024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040" rIns="68040" tIns="56520" bIns="5652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if esta_ativo: # Mais claro 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4" name="Image 3" descr="preencoded.png"/>
          <p:cNvPicPr/>
          <p:nvPr/>
        </p:nvPicPr>
        <p:blipFill>
          <a:blip r:embed="rId3"/>
          <a:stretch/>
        </p:blipFill>
        <p:spPr>
          <a:xfrm>
            <a:off x="285840" y="2002680"/>
            <a:ext cx="128160" cy="128160"/>
          </a:xfrm>
          <a:prstGeom prst="rect">
            <a:avLst/>
          </a:prstGeom>
          <a:ln w="0">
            <a:noFill/>
          </a:ln>
        </p:spPr>
      </p:pic>
      <p:sp>
        <p:nvSpPr>
          <p:cNvPr id="195" name="Text 11"/>
          <p:cNvSpPr/>
          <p:nvPr/>
        </p:nvSpPr>
        <p:spPr>
          <a:xfrm>
            <a:off x="538560" y="1986480"/>
            <a:ext cx="232056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365d"/>
                </a:solidFill>
                <a:latin typeface="Noto Sans"/>
                <a:ea typeface="Noto Sans"/>
              </a:rPr>
              <a:t> </a:t>
            </a:r>
            <a:r>
              <a:rPr b="1" lang="en-US" sz="1050" spc="-1" strike="noStrike">
                <a:solidFill>
                  <a:srgbClr val="1a365d"/>
                </a:solidFill>
                <a:latin typeface="Noto Sans"/>
                <a:ea typeface="Noto Sans"/>
              </a:rPr>
              <a:t>Simplifique expressões complexas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12"/>
          <p:cNvSpPr/>
          <p:nvPr/>
        </p:nvSpPr>
        <p:spPr>
          <a:xfrm>
            <a:off x="971640" y="2219760"/>
            <a:ext cx="38566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Use variáveis intermediárias para tornar condições complexas mais legíveis.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13"/>
          <p:cNvSpPr/>
          <p:nvPr/>
        </p:nvSpPr>
        <p:spPr>
          <a:xfrm>
            <a:off x="500040" y="2394000"/>
            <a:ext cx="4800240" cy="56412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Shape 14"/>
          <p:cNvSpPr/>
          <p:nvPr/>
        </p:nvSpPr>
        <p:spPr>
          <a:xfrm>
            <a:off x="500040" y="2394000"/>
            <a:ext cx="28080" cy="564120"/>
          </a:xfrm>
          <a:prstGeom prst="rect">
            <a:avLst/>
          </a:prstGeom>
          <a:solidFill>
            <a:srgbClr val="38a1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15"/>
          <p:cNvSpPr/>
          <p:nvPr/>
        </p:nvSpPr>
        <p:spPr>
          <a:xfrm>
            <a:off x="595440" y="2469960"/>
            <a:ext cx="1334880" cy="11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idade_suficiente = idade &gt;= 18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16"/>
          <p:cNvSpPr/>
          <p:nvPr/>
        </p:nvSpPr>
        <p:spPr>
          <a:xfrm>
            <a:off x="616320" y="2620080"/>
            <a:ext cx="1887840" cy="11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tem_documento = possui_rg or possui_cnh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17"/>
          <p:cNvSpPr/>
          <p:nvPr/>
        </p:nvSpPr>
        <p:spPr>
          <a:xfrm>
            <a:off x="599400" y="2769840"/>
            <a:ext cx="1790280" cy="11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if idade_suficiente and tem_documento: 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2" name="Image 4" descr="preencoded.png"/>
          <p:cNvPicPr/>
          <p:nvPr/>
        </p:nvPicPr>
        <p:blipFill>
          <a:blip r:embed="rId4"/>
          <a:stretch/>
        </p:blipFill>
        <p:spPr>
          <a:xfrm>
            <a:off x="285840" y="3037320"/>
            <a:ext cx="128160" cy="128160"/>
          </a:xfrm>
          <a:prstGeom prst="rect">
            <a:avLst/>
          </a:prstGeom>
          <a:ln w="0">
            <a:noFill/>
          </a:ln>
        </p:spPr>
      </p:pic>
      <p:sp>
        <p:nvSpPr>
          <p:cNvPr id="203" name="Text 18"/>
          <p:cNvSpPr/>
          <p:nvPr/>
        </p:nvSpPr>
        <p:spPr>
          <a:xfrm>
            <a:off x="543960" y="3021120"/>
            <a:ext cx="244692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1a365d"/>
                </a:solidFill>
                <a:latin typeface="Noto Sans"/>
                <a:ea typeface="Noto Sans"/>
              </a:rPr>
              <a:t> </a:t>
            </a:r>
            <a:r>
              <a:rPr b="1" lang="en-US" sz="1050" spc="-1" strike="noStrike">
                <a:solidFill>
                  <a:srgbClr val="1a365d"/>
                </a:solidFill>
                <a:latin typeface="Noto Sans"/>
                <a:ea typeface="Noto Sans"/>
              </a:rPr>
              <a:t>Mantenha a indentação consistente </a:t>
            </a:r>
            <a:endParaRPr b="0" lang="pt-B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9"/>
          <p:cNvSpPr/>
          <p:nvPr/>
        </p:nvSpPr>
        <p:spPr>
          <a:xfrm>
            <a:off x="1123200" y="3254760"/>
            <a:ext cx="35535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Em Python, a indentação é parte da sintaxe e define blocos de código.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20"/>
          <p:cNvSpPr/>
          <p:nvPr/>
        </p:nvSpPr>
        <p:spPr>
          <a:xfrm>
            <a:off x="500040" y="3428640"/>
            <a:ext cx="4800240" cy="56412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21"/>
          <p:cNvSpPr/>
          <p:nvPr/>
        </p:nvSpPr>
        <p:spPr>
          <a:xfrm>
            <a:off x="500040" y="3428640"/>
            <a:ext cx="28080" cy="564120"/>
          </a:xfrm>
          <a:prstGeom prst="rect">
            <a:avLst/>
          </a:prstGeom>
          <a:solidFill>
            <a:srgbClr val="38a1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22"/>
          <p:cNvSpPr/>
          <p:nvPr/>
        </p:nvSpPr>
        <p:spPr>
          <a:xfrm>
            <a:off x="564120" y="3504600"/>
            <a:ext cx="520920" cy="11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if condicao: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23"/>
          <p:cNvSpPr/>
          <p:nvPr/>
        </p:nvSpPr>
        <p:spPr>
          <a:xfrm>
            <a:off x="588960" y="3654720"/>
            <a:ext cx="1182240" cy="11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# 4 espaços de indentação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24"/>
          <p:cNvSpPr/>
          <p:nvPr/>
        </p:nvSpPr>
        <p:spPr>
          <a:xfrm>
            <a:off x="566280" y="3804480"/>
            <a:ext cx="917280" cy="11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730" spc="-1" strike="noStrike">
                <a:solidFill>
                  <a:srgbClr val="e2e8f0"/>
                </a:solidFill>
                <a:latin typeface="Noto Sans"/>
                <a:ea typeface="Noto Sans"/>
              </a:rPr>
              <a:t>print("Dentro do if") 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0" name="Image 5" descr="preencoded.png"/>
          <p:cNvPicPr/>
          <p:nvPr/>
        </p:nvPicPr>
        <p:blipFill>
          <a:blip r:embed="rId5"/>
          <a:stretch/>
        </p:blipFill>
        <p:spPr>
          <a:xfrm>
            <a:off x="5936400" y="2021400"/>
            <a:ext cx="2499840" cy="1407600"/>
          </a:xfrm>
          <a:prstGeom prst="rect">
            <a:avLst/>
          </a:prstGeom>
          <a:ln w="0">
            <a:noFill/>
          </a:ln>
        </p:spPr>
      </p:pic>
      <p:sp>
        <p:nvSpPr>
          <p:cNvPr id="211" name="Text 25"/>
          <p:cNvSpPr/>
          <p:nvPr/>
        </p:nvSpPr>
        <p:spPr>
          <a:xfrm>
            <a:off x="5808600" y="3519360"/>
            <a:ext cx="2755080" cy="11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730" spc="-1" strike="noStrike">
                <a:solidFill>
                  <a:srgbClr val="000000"/>
                </a:solidFill>
                <a:latin typeface="Noto Sans"/>
                <a:ea typeface="Noto Sans"/>
              </a:rPr>
              <a:t>Código limpo e bem estruturado é mais fácil de entender e manter.</a:t>
            </a:r>
            <a:endParaRPr b="0" lang="pt-BR" sz="7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2" name="" descr=""/>
          <p:cNvPicPr/>
          <p:nvPr/>
        </p:nvPicPr>
        <p:blipFill>
          <a:blip r:embed="rId6"/>
          <a:stretch/>
        </p:blipFill>
        <p:spPr>
          <a:xfrm>
            <a:off x="2880" y="4440960"/>
            <a:ext cx="9179640" cy="70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ext 0"/>
          <p:cNvSpPr/>
          <p:nvPr/>
        </p:nvSpPr>
        <p:spPr>
          <a:xfrm>
            <a:off x="3407760" y="0"/>
            <a:ext cx="232812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Exemplos Práticos</a:t>
            </a:r>
            <a:endParaRPr b="0" lang="pt-BR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1"/>
          <p:cNvSpPr/>
          <p:nvPr/>
        </p:nvSpPr>
        <p:spPr>
          <a:xfrm>
            <a:off x="1420920" y="765000"/>
            <a:ext cx="176436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40" spc="-1" strike="noStrike">
                <a:solidFill>
                  <a:srgbClr val="1a365d"/>
                </a:solidFill>
                <a:latin typeface="Noto Sans"/>
                <a:ea typeface="Noto Sans"/>
              </a:rPr>
              <a:t>1. Verificação de Idade</a:t>
            </a:r>
            <a:endParaRPr b="0" lang="pt-BR" sz="12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2"/>
          <p:cNvSpPr/>
          <p:nvPr/>
        </p:nvSpPr>
        <p:spPr>
          <a:xfrm>
            <a:off x="285840" y="1049040"/>
            <a:ext cx="4034160" cy="193896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3"/>
          <p:cNvSpPr/>
          <p:nvPr/>
        </p:nvSpPr>
        <p:spPr>
          <a:xfrm>
            <a:off x="424080" y="1149840"/>
            <a:ext cx="18982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idade = int(input("Digite sua idade: "))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4"/>
          <p:cNvSpPr/>
          <p:nvPr/>
        </p:nvSpPr>
        <p:spPr>
          <a:xfrm>
            <a:off x="380160" y="1469880"/>
            <a:ext cx="6656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if idade &lt; 12: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5"/>
          <p:cNvSpPr/>
          <p:nvPr/>
        </p:nvSpPr>
        <p:spPr>
          <a:xfrm>
            <a:off x="384840" y="1629720"/>
            <a:ext cx="7948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print("Criança")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6"/>
          <p:cNvSpPr/>
          <p:nvPr/>
        </p:nvSpPr>
        <p:spPr>
          <a:xfrm>
            <a:off x="383040" y="1789920"/>
            <a:ext cx="7538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elif idade &lt; 18: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7"/>
          <p:cNvSpPr/>
          <p:nvPr/>
        </p:nvSpPr>
        <p:spPr>
          <a:xfrm>
            <a:off x="392760" y="1949760"/>
            <a:ext cx="10252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print("Adolescente")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8"/>
          <p:cNvSpPr/>
          <p:nvPr/>
        </p:nvSpPr>
        <p:spPr>
          <a:xfrm>
            <a:off x="383040" y="2109960"/>
            <a:ext cx="7538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elif idade &lt; 65: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9"/>
          <p:cNvSpPr/>
          <p:nvPr/>
        </p:nvSpPr>
        <p:spPr>
          <a:xfrm>
            <a:off x="383040" y="2269800"/>
            <a:ext cx="74160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print("Adulto")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 10"/>
          <p:cNvSpPr/>
          <p:nvPr/>
        </p:nvSpPr>
        <p:spPr>
          <a:xfrm>
            <a:off x="366120" y="2430000"/>
            <a:ext cx="2541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else: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11"/>
          <p:cNvSpPr/>
          <p:nvPr/>
        </p:nvSpPr>
        <p:spPr>
          <a:xfrm>
            <a:off x="368280" y="2589840"/>
            <a:ext cx="7279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print("Idoso")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5" name=""/>
          <p:cNvGrpSpPr/>
          <p:nvPr/>
        </p:nvGrpSpPr>
        <p:grpSpPr>
          <a:xfrm>
            <a:off x="285840" y="3071880"/>
            <a:ext cx="4034160" cy="456840"/>
            <a:chOff x="285840" y="3071880"/>
            <a:chExt cx="4034160" cy="456840"/>
          </a:xfrm>
        </p:grpSpPr>
        <p:sp>
          <p:nvSpPr>
            <p:cNvPr id="226" name="Shape 12"/>
            <p:cNvSpPr/>
            <p:nvPr/>
          </p:nvSpPr>
          <p:spPr>
            <a:xfrm>
              <a:off x="285840" y="3071880"/>
              <a:ext cx="4034160" cy="456840"/>
            </a:xfrm>
            <a:prstGeom prst="rect">
              <a:avLst/>
            </a:prstGeom>
            <a:solidFill>
              <a:srgbClr val="ebf8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7" name="Shape 13"/>
            <p:cNvSpPr/>
            <p:nvPr/>
          </p:nvSpPr>
          <p:spPr>
            <a:xfrm>
              <a:off x="285840" y="3071880"/>
              <a:ext cx="28080" cy="456840"/>
            </a:xfrm>
            <a:prstGeom prst="rect">
              <a:avLst/>
            </a:prstGeom>
            <a:solidFill>
              <a:srgbClr val="4299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pt-BR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8" name="Text 14"/>
            <p:cNvSpPr/>
            <p:nvPr/>
          </p:nvSpPr>
          <p:spPr>
            <a:xfrm>
              <a:off x="389880" y="3149640"/>
              <a:ext cx="948960" cy="12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839" spc="-1" strike="noStrike">
                  <a:solidFill>
                    <a:srgbClr val="000000"/>
                  </a:solidFill>
                  <a:latin typeface="Noto Sans"/>
                  <a:ea typeface="Noto Sans"/>
                </a:rPr>
                <a:t> </a:t>
              </a:r>
              <a:r>
                <a:rPr b="0" lang="en-US" sz="839" spc="-1" strike="noStrike">
                  <a:solidFill>
                    <a:srgbClr val="000000"/>
                  </a:solidFill>
                  <a:latin typeface="Noto Sans"/>
                  <a:ea typeface="Noto Sans"/>
                </a:rPr>
                <a:t># Para entrada 25:</a:t>
              </a:r>
              <a:endParaRPr b="0" lang="pt-BR" sz="839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9" name="Text 15"/>
            <p:cNvSpPr/>
            <p:nvPr/>
          </p:nvSpPr>
          <p:spPr>
            <a:xfrm>
              <a:off x="356400" y="3321000"/>
              <a:ext cx="383760" cy="12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ctr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839" spc="-1" strike="noStrike">
                  <a:solidFill>
                    <a:srgbClr val="000000"/>
                  </a:solidFill>
                  <a:latin typeface="Noto Sans"/>
                  <a:ea typeface="Noto Sans"/>
                </a:rPr>
                <a:t> </a:t>
              </a:r>
              <a:r>
                <a:rPr b="0" lang="en-US" sz="839" spc="-1" strike="noStrike">
                  <a:solidFill>
                    <a:srgbClr val="000000"/>
                  </a:solidFill>
                  <a:latin typeface="Noto Sans"/>
                  <a:ea typeface="Noto Sans"/>
                </a:rPr>
                <a:t>Adulto </a:t>
              </a:r>
              <a:endParaRPr b="0" lang="pt-BR" sz="839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30" name="Text 16"/>
          <p:cNvSpPr/>
          <p:nvPr/>
        </p:nvSpPr>
        <p:spPr>
          <a:xfrm>
            <a:off x="5792040" y="784080"/>
            <a:ext cx="176148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40" spc="-1" strike="noStrike">
                <a:solidFill>
                  <a:srgbClr val="1a365d"/>
                </a:solidFill>
                <a:latin typeface="Noto Sans"/>
                <a:ea typeface="Noto Sans"/>
              </a:rPr>
              <a:t>2. Verificação de Clima</a:t>
            </a:r>
            <a:endParaRPr b="0" lang="pt-BR" sz="12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7"/>
          <p:cNvSpPr/>
          <p:nvPr/>
        </p:nvSpPr>
        <p:spPr>
          <a:xfrm>
            <a:off x="4525560" y="1068120"/>
            <a:ext cx="4294440" cy="193104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18"/>
          <p:cNvSpPr/>
          <p:nvPr/>
        </p:nvSpPr>
        <p:spPr>
          <a:xfrm>
            <a:off x="4684320" y="1168920"/>
            <a:ext cx="24652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temperatura = float(input("Temperatura atual: "))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19"/>
          <p:cNvSpPr/>
          <p:nvPr/>
        </p:nvSpPr>
        <p:spPr>
          <a:xfrm>
            <a:off x="4692600" y="1329120"/>
            <a:ext cx="26953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esta_chovendo = input("Está chovendo? (s/n): ") == "s"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20"/>
          <p:cNvSpPr/>
          <p:nvPr/>
        </p:nvSpPr>
        <p:spPr>
          <a:xfrm>
            <a:off x="4675320" y="1649160"/>
            <a:ext cx="22093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if temperatura &gt; 25 and not esta_chovendo: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21"/>
          <p:cNvSpPr/>
          <p:nvPr/>
        </p:nvSpPr>
        <p:spPr>
          <a:xfrm>
            <a:off x="4649040" y="1809000"/>
            <a:ext cx="14806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print("Ótimo dia para praia!")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22"/>
          <p:cNvSpPr/>
          <p:nvPr/>
        </p:nvSpPr>
        <p:spPr>
          <a:xfrm>
            <a:off x="4671000" y="1969200"/>
            <a:ext cx="21009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elif temperatura &gt; 25 and esta_chovendo: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23"/>
          <p:cNvSpPr/>
          <p:nvPr/>
        </p:nvSpPr>
        <p:spPr>
          <a:xfrm>
            <a:off x="4656960" y="2129040"/>
            <a:ext cx="17110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print("Dia quente, mas chuvoso.")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24"/>
          <p:cNvSpPr/>
          <p:nvPr/>
        </p:nvSpPr>
        <p:spPr>
          <a:xfrm>
            <a:off x="4673160" y="2289240"/>
            <a:ext cx="21621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elif temperatura &lt;= 25 and esta_chovendo: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25"/>
          <p:cNvSpPr/>
          <p:nvPr/>
        </p:nvSpPr>
        <p:spPr>
          <a:xfrm>
            <a:off x="4671720" y="2449080"/>
            <a:ext cx="21164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print("Dia frio e chuvoso. Fique em casa.")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26"/>
          <p:cNvSpPr/>
          <p:nvPr/>
        </p:nvSpPr>
        <p:spPr>
          <a:xfrm>
            <a:off x="4605840" y="2609280"/>
            <a:ext cx="2541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else: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27"/>
          <p:cNvSpPr/>
          <p:nvPr/>
        </p:nvSpPr>
        <p:spPr>
          <a:xfrm>
            <a:off x="4641480" y="2769120"/>
            <a:ext cx="16912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print("Dia agradável, aproveite!")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28"/>
          <p:cNvSpPr/>
          <p:nvPr/>
        </p:nvSpPr>
        <p:spPr>
          <a:xfrm>
            <a:off x="4525560" y="3071160"/>
            <a:ext cx="4294440" cy="456840"/>
          </a:xfrm>
          <a:prstGeom prst="rect">
            <a:avLst/>
          </a:prstGeom>
          <a:solidFill>
            <a:srgbClr val="ebf8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29"/>
          <p:cNvSpPr/>
          <p:nvPr/>
        </p:nvSpPr>
        <p:spPr>
          <a:xfrm>
            <a:off x="4525560" y="3071160"/>
            <a:ext cx="28080" cy="456840"/>
          </a:xfrm>
          <a:prstGeom prst="rect">
            <a:avLst/>
          </a:prstGeom>
          <a:solidFill>
            <a:srgbClr val="4299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30"/>
          <p:cNvSpPr/>
          <p:nvPr/>
        </p:nvSpPr>
        <p:spPr>
          <a:xfrm>
            <a:off x="4667760" y="3148920"/>
            <a:ext cx="20127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# Para temperatura 28 e não chovendo: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31"/>
          <p:cNvSpPr/>
          <p:nvPr/>
        </p:nvSpPr>
        <p:spPr>
          <a:xfrm>
            <a:off x="4620600" y="3320280"/>
            <a:ext cx="111672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000000"/>
                </a:solidFill>
                <a:latin typeface="Noto Sans"/>
                <a:ea typeface="Noto Sans"/>
              </a:rPr>
              <a:t>Ótimo dia para praia!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6" name="" descr=""/>
          <p:cNvPicPr/>
          <p:nvPr/>
        </p:nvPicPr>
        <p:blipFill>
          <a:blip r:embed="rId1"/>
          <a:stretch/>
        </p:blipFill>
        <p:spPr>
          <a:xfrm>
            <a:off x="3240" y="4440960"/>
            <a:ext cx="9179640" cy="70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 0"/>
          <p:cNvSpPr/>
          <p:nvPr/>
        </p:nvSpPr>
        <p:spPr>
          <a:xfrm>
            <a:off x="3387960" y="0"/>
            <a:ext cx="2367720" cy="30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20" spc="-1" strike="noStrike">
                <a:solidFill>
                  <a:srgbClr val="1a365d"/>
                </a:solidFill>
                <a:latin typeface="Noto Sans"/>
                <a:ea typeface="Noto Sans"/>
              </a:rPr>
              <a:t>Exercícios Práticos</a:t>
            </a:r>
            <a:endParaRPr b="0" lang="pt-BR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Shape 1"/>
          <p:cNvSpPr/>
          <p:nvPr/>
        </p:nvSpPr>
        <p:spPr>
          <a:xfrm>
            <a:off x="285840" y="561960"/>
            <a:ext cx="4034160" cy="143856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2"/>
          <p:cNvSpPr/>
          <p:nvPr/>
        </p:nvSpPr>
        <p:spPr>
          <a:xfrm>
            <a:off x="285840" y="561960"/>
            <a:ext cx="28080" cy="1438560"/>
          </a:xfrm>
          <a:prstGeom prst="rect">
            <a:avLst/>
          </a:prstGeom>
          <a:solidFill>
            <a:srgbClr val="4299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3"/>
          <p:cNvSpPr/>
          <p:nvPr/>
        </p:nvSpPr>
        <p:spPr>
          <a:xfrm>
            <a:off x="1423080" y="691920"/>
            <a:ext cx="175968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40" spc="-1" strike="noStrike">
                <a:solidFill>
                  <a:srgbClr val="1a365d"/>
                </a:solidFill>
                <a:latin typeface="Noto Sans"/>
                <a:ea typeface="Noto Sans"/>
              </a:rPr>
              <a:t>1. Verificador de Idade</a:t>
            </a:r>
            <a:endParaRPr b="0" lang="pt-BR" sz="12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4"/>
          <p:cNvSpPr/>
          <p:nvPr/>
        </p:nvSpPr>
        <p:spPr>
          <a:xfrm>
            <a:off x="392760" y="941400"/>
            <a:ext cx="392724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Crie um programa que solicite a idade do usuário e informe se ele é criança (0-12 anos), adolescente (13-17 anos), adulto (18-59 anos) ou idoso (60+ anos).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5"/>
          <p:cNvSpPr/>
          <p:nvPr/>
        </p:nvSpPr>
        <p:spPr>
          <a:xfrm>
            <a:off x="392760" y="1407600"/>
            <a:ext cx="3747240" cy="48528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6"/>
          <p:cNvSpPr/>
          <p:nvPr/>
        </p:nvSpPr>
        <p:spPr>
          <a:xfrm>
            <a:off x="516960" y="1499400"/>
            <a:ext cx="18982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idade = int(input("Digite sua idade: "))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 7"/>
          <p:cNvSpPr/>
          <p:nvPr/>
        </p:nvSpPr>
        <p:spPr>
          <a:xfrm>
            <a:off x="524160" y="1671120"/>
            <a:ext cx="251100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# Use estrutura if-elif-else para classificar a idade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Shape 8"/>
          <p:cNvSpPr/>
          <p:nvPr/>
        </p:nvSpPr>
        <p:spPr>
          <a:xfrm>
            <a:off x="285840" y="2088000"/>
            <a:ext cx="4034160" cy="196128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9"/>
          <p:cNvSpPr/>
          <p:nvPr/>
        </p:nvSpPr>
        <p:spPr>
          <a:xfrm>
            <a:off x="285840" y="2088000"/>
            <a:ext cx="28080" cy="1961280"/>
          </a:xfrm>
          <a:prstGeom prst="rect">
            <a:avLst/>
          </a:prstGeom>
          <a:solidFill>
            <a:srgbClr val="4299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10"/>
          <p:cNvSpPr/>
          <p:nvPr/>
        </p:nvSpPr>
        <p:spPr>
          <a:xfrm>
            <a:off x="1459800" y="2218320"/>
            <a:ext cx="168660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40" spc="-1" strike="noStrike">
                <a:solidFill>
                  <a:srgbClr val="1a365d"/>
                </a:solidFill>
                <a:latin typeface="Noto Sans"/>
                <a:ea typeface="Noto Sans"/>
              </a:rPr>
              <a:t>2. Calculadora de IMC</a:t>
            </a:r>
            <a:endParaRPr b="0" lang="pt-BR" sz="12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11"/>
          <p:cNvSpPr/>
          <p:nvPr/>
        </p:nvSpPr>
        <p:spPr>
          <a:xfrm>
            <a:off x="392760" y="2557440"/>
            <a:ext cx="374724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Desenvolva um programa que calcule o Índice de Massa Corporal (IMC) e classifique o resultado em: abaixo do peso, peso normal, sobrepeso ou obesidade.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Shape 12"/>
          <p:cNvSpPr/>
          <p:nvPr/>
        </p:nvSpPr>
        <p:spPr>
          <a:xfrm>
            <a:off x="392760" y="3114000"/>
            <a:ext cx="3747240" cy="82836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13"/>
          <p:cNvSpPr/>
          <p:nvPr/>
        </p:nvSpPr>
        <p:spPr>
          <a:xfrm>
            <a:off x="529920" y="3205800"/>
            <a:ext cx="22564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peso = float(input("Digite seu peso em kg: "))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14"/>
          <p:cNvSpPr/>
          <p:nvPr/>
        </p:nvSpPr>
        <p:spPr>
          <a:xfrm>
            <a:off x="541800" y="3377160"/>
            <a:ext cx="259488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altura = float(input("Digite sua altura em metros: "))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15"/>
          <p:cNvSpPr/>
          <p:nvPr/>
        </p:nvSpPr>
        <p:spPr>
          <a:xfrm>
            <a:off x="493920" y="3548520"/>
            <a:ext cx="12506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imc = peso / (altura ** 2)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16"/>
          <p:cNvSpPr/>
          <p:nvPr/>
        </p:nvSpPr>
        <p:spPr>
          <a:xfrm>
            <a:off x="508320" y="3720240"/>
            <a:ext cx="208296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# Use condicionais para classificar o IMC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17"/>
          <p:cNvSpPr/>
          <p:nvPr/>
        </p:nvSpPr>
        <p:spPr>
          <a:xfrm>
            <a:off x="4500000" y="540000"/>
            <a:ext cx="4320000" cy="160992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Shape 18"/>
          <p:cNvSpPr/>
          <p:nvPr/>
        </p:nvSpPr>
        <p:spPr>
          <a:xfrm>
            <a:off x="4500000" y="540000"/>
            <a:ext cx="28080" cy="1609920"/>
          </a:xfrm>
          <a:prstGeom prst="rect">
            <a:avLst/>
          </a:prstGeom>
          <a:solidFill>
            <a:srgbClr val="4299e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19"/>
          <p:cNvSpPr/>
          <p:nvPr/>
        </p:nvSpPr>
        <p:spPr>
          <a:xfrm>
            <a:off x="5643720" y="670320"/>
            <a:ext cx="203256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40" spc="-1" strike="noStrike">
                <a:solidFill>
                  <a:srgbClr val="1a365d"/>
                </a:solidFill>
                <a:latin typeface="Noto Sans"/>
                <a:ea typeface="Noto Sans"/>
              </a:rPr>
              <a:t>3. Verificador de Números</a:t>
            </a:r>
            <a:endParaRPr b="0" lang="pt-BR" sz="12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20"/>
          <p:cNvSpPr/>
          <p:nvPr/>
        </p:nvSpPr>
        <p:spPr>
          <a:xfrm>
            <a:off x="4606920" y="990360"/>
            <a:ext cx="4033080" cy="2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000000"/>
                </a:solidFill>
                <a:latin typeface="Noto Sans"/>
                <a:ea typeface="Noto Sans"/>
              </a:rPr>
              <a:t>Crie um programa que receba um número e verifique se ele é positivo, negativo ou zero, e também se é par ou ímpar.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Shape 21"/>
          <p:cNvSpPr/>
          <p:nvPr/>
        </p:nvSpPr>
        <p:spPr>
          <a:xfrm>
            <a:off x="4606920" y="1385640"/>
            <a:ext cx="4033080" cy="65700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22"/>
          <p:cNvSpPr/>
          <p:nvPr/>
        </p:nvSpPr>
        <p:spPr>
          <a:xfrm>
            <a:off x="4739760" y="1477800"/>
            <a:ext cx="212544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numero = int(input("Digite um número: "))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23"/>
          <p:cNvSpPr/>
          <p:nvPr/>
        </p:nvSpPr>
        <p:spPr>
          <a:xfrm>
            <a:off x="4733280" y="1649160"/>
            <a:ext cx="195480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# Verifique se é positivo/negativo/zero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24"/>
          <p:cNvSpPr/>
          <p:nvPr/>
        </p:nvSpPr>
        <p:spPr>
          <a:xfrm>
            <a:off x="4741920" y="1820520"/>
            <a:ext cx="2611800" cy="1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 </a:t>
            </a:r>
            <a:r>
              <a:rPr b="0" lang="en-US" sz="839" spc="-1" strike="noStrike">
                <a:solidFill>
                  <a:srgbClr val="e2e8f0"/>
                </a:solidFill>
                <a:latin typeface="Noto Sans"/>
                <a:ea typeface="Noto Sans"/>
              </a:rPr>
              <a:t># Verifique se é par ou ímpar usando o operador % </a:t>
            </a:r>
            <a:endParaRPr b="0" lang="pt-BR" sz="839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2" name="Image 1" descr="preencoded.png"/>
          <p:cNvPicPr/>
          <p:nvPr/>
        </p:nvPicPr>
        <p:blipFill>
          <a:blip r:embed="rId1"/>
          <a:stretch/>
        </p:blipFill>
        <p:spPr>
          <a:xfrm>
            <a:off x="5385600" y="2318040"/>
            <a:ext cx="2714400" cy="1641960"/>
          </a:xfrm>
          <a:prstGeom prst="rect">
            <a:avLst/>
          </a:prstGeom>
          <a:ln w="0">
            <a:noFill/>
          </a:ln>
        </p:spPr>
      </p:pic>
      <p:sp>
        <p:nvSpPr>
          <p:cNvPr id="273" name="Text 25"/>
          <p:cNvSpPr/>
          <p:nvPr/>
        </p:nvSpPr>
        <p:spPr>
          <a:xfrm>
            <a:off x="5179320" y="4176000"/>
            <a:ext cx="68076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1a365d"/>
                </a:solidFill>
                <a:latin typeface="Noto Sans"/>
                <a:ea typeface="Noto Sans"/>
              </a:rPr>
              <a:t>Pratique no 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26"/>
          <p:cNvSpPr/>
          <p:nvPr/>
        </p:nvSpPr>
        <p:spPr>
          <a:xfrm>
            <a:off x="5919480" y="4176000"/>
            <a:ext cx="77832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39" spc="-1" strike="noStrike">
                <a:solidFill>
                  <a:srgbClr val="4299e1"/>
                </a:solidFill>
                <a:latin typeface="Noto Sans"/>
                <a:ea typeface="Noto Sans"/>
              </a:rPr>
              <a:t>Google Colab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27"/>
          <p:cNvSpPr/>
          <p:nvPr/>
        </p:nvSpPr>
        <p:spPr>
          <a:xfrm>
            <a:off x="6783480" y="4176000"/>
            <a:ext cx="1316520" cy="14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39" spc="-1" strike="noStrike">
                <a:solidFill>
                  <a:srgbClr val="1a365d"/>
                </a:solidFill>
                <a:latin typeface="Noto Sans"/>
                <a:ea typeface="Noto Sans"/>
              </a:rPr>
              <a:t> </a:t>
            </a:r>
            <a:r>
              <a:rPr b="0" lang="en-US" sz="939" spc="-1" strike="noStrike">
                <a:solidFill>
                  <a:srgbClr val="1a365d"/>
                </a:solidFill>
                <a:latin typeface="Noto Sans"/>
                <a:ea typeface="Noto Sans"/>
              </a:rPr>
              <a:t>para fixar os conceitos!</a:t>
            </a:r>
            <a:endParaRPr b="0" lang="pt-BR" sz="939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6" name="" descr=""/>
          <p:cNvPicPr/>
          <p:nvPr/>
        </p:nvPicPr>
        <p:blipFill>
          <a:blip r:embed="rId2"/>
          <a:stretch/>
        </p:blipFill>
        <p:spPr>
          <a:xfrm>
            <a:off x="3600" y="4440960"/>
            <a:ext cx="9179640" cy="70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2025-09-12T18:02:22Z</dcterms:created>
  <dc:creator>PptxGenJS</dc:creator>
  <dc:description/>
  <dc:language>pt-BR</dc:language>
  <cp:lastModifiedBy/>
  <dcterms:modified xsi:type="dcterms:W3CDTF">2025-09-12T16:51:51Z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